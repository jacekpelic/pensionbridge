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</c:v>
                </c:pt>
              </c:strCache>
            </c:strRef>
          </c:tx>
          <c:spPr>
            <a:solidFill>
              <a:srgbClr val="D4B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150</c:v>
                </c:pt>
                <c:pt idx="2">
                  <c:v>360</c:v>
                </c:pt>
                <c:pt idx="3">
                  <c:v>670</c:v>
                </c:pt>
                <c:pt idx="4">
                  <c:v>1080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Lead-gen</c:v>
                </c:pt>
              </c:strCache>
            </c:strRef>
          </c:tx>
          <c:spPr>
            <a:solidFill>
              <a:srgbClr val="5FBC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30</c:v>
                </c:pt>
                <c:pt idx="2">
                  <c:v>90</c:v>
                </c:pt>
                <c:pt idx="3">
                  <c:v>150</c:v>
                </c:pt>
                <c:pt idx="4">
                  <c:v>312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3A1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F3A5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93A1B5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93A1B5"/>
                    </a:solidFill>
                    <a:latin typeface="Arial"/>
                  </a:rPr>
                  <a:t>ARR (€K)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3A1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2241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4EFE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E2241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case</c:v>
                </c:pt>
              </c:strCache>
            </c:strRef>
          </c:tx>
          <c:spPr>
            <a:solidFill>
              <a:srgbClr val="D4B280"/>
            </a:solidFill>
            <a:ln w="31750" cap="flat">
              <a:solidFill>
                <a:srgbClr val="D4B28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B280"/>
              </a:solidFill>
              <a:ln w="9525" cap="flat">
                <a:solidFill>
                  <a:srgbClr val="D4B28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M0</c:v>
                  </c:pt>
                  <c:pt idx="1">
                    <c:v>M3</c:v>
                  </c:pt>
                  <c:pt idx="2">
                    <c:v>M6</c:v>
                  </c:pt>
                  <c:pt idx="3">
                    <c:v>M9</c:v>
                  </c:pt>
                  <c:pt idx="4">
                    <c:v>M11</c:v>
                  </c:pt>
                  <c:pt idx="5">
                    <c:v>M14</c:v>
                  </c:pt>
                  <c:pt idx="6">
                    <c:v>M18</c:v>
                  </c:pt>
                  <c:pt idx="7">
                    <c:v>M24</c:v>
                  </c:pt>
                  <c:pt idx="8">
                    <c:v>M36</c:v>
                  </c:pt>
                  <c:pt idx="9">
                    <c:v>M48</c:v>
                  </c:pt>
                  <c:pt idx="10">
                    <c:v>M60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-3</c:v>
                </c:pt>
                <c:pt idx="2">
                  <c:v>-6</c:v>
                </c:pt>
                <c:pt idx="3">
                  <c:v>-9</c:v>
                </c:pt>
                <c:pt idx="4">
                  <c:v>-10</c:v>
                </c:pt>
                <c:pt idx="5">
                  <c:v>-7</c:v>
                </c:pt>
                <c:pt idx="6">
                  <c:v>0</c:v>
                </c:pt>
                <c:pt idx="7">
                  <c:v>80</c:v>
                </c:pt>
                <c:pt idx="8">
                  <c:v>480</c:v>
                </c:pt>
                <c:pt idx="9">
                  <c:v>1100</c:v>
                </c:pt>
                <c:pt idx="10">
                  <c:v>2100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Upside case</c:v>
                </c:pt>
              </c:strCache>
            </c:strRef>
          </c:tx>
          <c:spPr>
            <a:solidFill>
              <a:srgbClr val="5FBCA0"/>
            </a:solidFill>
            <a:ln w="31750" cap="flat">
              <a:solidFill>
                <a:srgbClr val="5FBCA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FBCA0"/>
              </a:solidFill>
              <a:ln w="9525" cap="flat">
                <a:solidFill>
                  <a:srgbClr val="5FBC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M0</c:v>
                  </c:pt>
                  <c:pt idx="1">
                    <c:v>M3</c:v>
                  </c:pt>
                  <c:pt idx="2">
                    <c:v>M6</c:v>
                  </c:pt>
                  <c:pt idx="3">
                    <c:v>M9</c:v>
                  </c:pt>
                  <c:pt idx="4">
                    <c:v>M11</c:v>
                  </c:pt>
                  <c:pt idx="5">
                    <c:v>M14</c:v>
                  </c:pt>
                  <c:pt idx="6">
                    <c:v>M18</c:v>
                  </c:pt>
                  <c:pt idx="7">
                    <c:v>M24</c:v>
                  </c:pt>
                  <c:pt idx="8">
                    <c:v>M36</c:v>
                  </c:pt>
                  <c:pt idx="9">
                    <c:v>M48</c:v>
                  </c:pt>
                  <c:pt idx="10">
                    <c:v>M60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-2</c:v>
                </c:pt>
                <c:pt idx="2">
                  <c:v>-3</c:v>
                </c:pt>
                <c:pt idx="3">
                  <c:v>-2</c:v>
                </c:pt>
                <c:pt idx="4">
                  <c:v>0</c:v>
                </c:pt>
                <c:pt idx="5">
                  <c:v>8</c:v>
                </c:pt>
                <c:pt idx="6">
                  <c:v>40</c:v>
                </c:pt>
                <c:pt idx="7">
                  <c:v>200</c:v>
                </c:pt>
                <c:pt idx="8">
                  <c:v>850</c:v>
                </c:pt>
                <c:pt idx="9">
                  <c:v>1850</c:v>
                </c:pt>
                <c:pt idx="10">
                  <c:v>4200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3A1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F3A5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93A1B5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93A1B5"/>
                    </a:solidFill>
                    <a:latin typeface="Arial"/>
                  </a:rPr>
                  <a:t>Cumulative cash (€K)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3A1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2241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4EFE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E224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+ thesis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56655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 · 1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94360"/>
            <a:ext cx="11094415" cy="10973"/>
          </a:xfrm>
          <a:prstGeom prst="rect">
            <a:avLst/>
          </a:prstGeom>
          <a:solidFill>
            <a:srgbClr val="1F3A5C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01168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Prevista.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future, foreseen.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0" y="4114800"/>
            <a:ext cx="7619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pension tracker for the millions whose careers crossed borders — pensions scattered across them, no honest number for what they'll retire 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competition  ·  May 2026  ·  Team 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56655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min · 2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94360"/>
            <a:ext cx="11094415" cy="10973"/>
          </a:xfrm>
          <a:prstGeom prst="rect">
            <a:avLst/>
          </a:prstGeom>
          <a:solidFill>
            <a:srgbClr val="1F3A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people. </a:t>
            </a:r>
            <a:pPr indent="0" marL="0">
              <a:buNone/>
            </a:pPr>
            <a:r>
              <a:rPr lang="en-US" sz="3800" i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passports.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Polish, Portuguese, Ukrainian, Spanish — four nationalities, four cross-border careers in progress, all converging at Luxembourg School of Business. We're building Prevista for users like ourselves.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5188" y="2926080"/>
            <a:ext cx="2468880" cy="3383280"/>
          </a:xfrm>
          <a:prstGeom prst="rect">
            <a:avLst/>
          </a:prstGeom>
          <a:solidFill>
            <a:srgbClr val="0E2241"/>
          </a:solidFill>
          <a:ln w="9525">
            <a:solidFill>
              <a:srgbClr val="1F3A5C"/>
            </a:solidFill>
            <a:prstDash val="solid"/>
          </a:ln>
        </p:spPr>
      </p:sp>
      <p:pic>
        <p:nvPicPr>
          <p:cNvPr id="8" name="Image 0" descr="/mnt/user-data/uploads/jace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18108" y="3246120"/>
            <a:ext cx="1463040" cy="1463040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952348" y="4800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52348" y="5047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Jacek Pelic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52348" y="54681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Poland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52348" y="57790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MBA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512668" y="2926080"/>
            <a:ext cx="2468880" cy="3383280"/>
          </a:xfrm>
          <a:prstGeom prst="rect">
            <a:avLst/>
          </a:prstGeom>
          <a:solidFill>
            <a:srgbClr val="0E2241"/>
          </a:solidFill>
          <a:ln w="9525">
            <a:solidFill>
              <a:srgbClr val="1F3A5C"/>
            </a:solidFill>
            <a:prstDash val="solid"/>
          </a:ln>
        </p:spPr>
      </p:sp>
      <p:pic>
        <p:nvPicPr>
          <p:cNvPr id="14" name="Image 1" descr="/mnt/user-data/uploads/ricardo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15588" y="3246120"/>
            <a:ext cx="1463040" cy="1463040"/>
          </a:xfrm>
          <a:prstGeom prst="ellipse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49828" y="4800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649828" y="5047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Ricardo Dias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649828" y="54681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649828" y="57790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in International Finance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210148" y="2926080"/>
            <a:ext cx="2468880" cy="3383280"/>
          </a:xfrm>
          <a:prstGeom prst="rect">
            <a:avLst/>
          </a:prstGeom>
          <a:solidFill>
            <a:srgbClr val="0E2241"/>
          </a:solidFill>
          <a:ln w="9525">
            <a:solidFill>
              <a:srgbClr val="1F3A5C"/>
            </a:solidFill>
            <a:prstDash val="solid"/>
          </a:ln>
        </p:spPr>
      </p:sp>
      <p:pic>
        <p:nvPicPr>
          <p:cNvPr id="20" name="Image 2" descr="/mnt/user-data/uploads/nataliia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13068" y="3246120"/>
            <a:ext cx="1463040" cy="1463040"/>
          </a:xfrm>
          <a:prstGeom prst="ellipse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47308" y="4800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347308" y="5047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Nataliia Kozakevych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347308" y="54681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Ukraine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347308" y="57790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in Management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8907628" y="2926080"/>
            <a:ext cx="2468880" cy="3383280"/>
          </a:xfrm>
          <a:prstGeom prst="rect">
            <a:avLst/>
          </a:prstGeom>
          <a:solidFill>
            <a:srgbClr val="0E2241"/>
          </a:solidFill>
          <a:ln w="9525">
            <a:solidFill>
              <a:srgbClr val="1F3A5C"/>
            </a:solidFill>
            <a:prstDash val="solid"/>
          </a:ln>
        </p:spPr>
      </p:sp>
      <p:pic>
        <p:nvPicPr>
          <p:cNvPr id="26" name="Image 3" descr="/mnt/user-data/uploads/javier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410548" y="3246120"/>
            <a:ext cx="1463040" cy="1463040"/>
          </a:xfrm>
          <a:prstGeom prst="ellipse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044788" y="4800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9044788" y="5047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Javier Suescun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9044788" y="54681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9044788" y="57790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in International Finance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56655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 · 3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94360"/>
            <a:ext cx="11094415" cy="10973"/>
          </a:xfrm>
          <a:prstGeom prst="rect">
            <a:avLst/>
          </a:prstGeom>
          <a:solidFill>
            <a:srgbClr val="1F3A5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777240"/>
            <a:ext cx="11094415" cy="411480"/>
          </a:xfrm>
          <a:prstGeom prst="rect">
            <a:avLst/>
          </a:prstGeom>
          <a:solidFill>
            <a:srgbClr val="0E2241"/>
          </a:solidFill>
          <a:ln w="6350">
            <a:solidFill>
              <a:srgbClr val="D4B2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777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 · OUR TARGET CUSTOMER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37760" y="77724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Mid-career mobile professional · 30–50 · €70–180K · 2+ pension entitlements · 10–20 years from retirement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</a:t>
            </a:r>
            <a:pPr indent="0" marL="0">
              <a:buNone/>
            </a:pPr>
            <a:r>
              <a:rPr lang="en-US" sz="3800" i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Mats Karlsson.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Forty-five years old. He's worked across three countries. And he cannot tell you — nor can anyone else — what he'll actually retire 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5760720" cy="329184"/>
          </a:xfrm>
          <a:prstGeom prst="rect">
            <a:avLst/>
          </a:prstGeom>
          <a:solidFill>
            <a:srgbClr val="0E2241"/>
          </a:solidFill>
          <a:ln w="6350">
            <a:solidFill>
              <a:srgbClr val="1F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10896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national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5760720" cy="329184"/>
          </a:xfrm>
          <a:prstGeom prst="rect">
            <a:avLst/>
          </a:prstGeom>
          <a:solidFill>
            <a:srgbClr val="0E2241"/>
          </a:solidFill>
          <a:ln w="6350">
            <a:solidFill>
              <a:srgbClr val="1F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52044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countries · three pension systems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760720" cy="329184"/>
          </a:xfrm>
          <a:prstGeom prst="rect">
            <a:avLst/>
          </a:prstGeom>
          <a:solidFill>
            <a:srgbClr val="0E2241"/>
          </a:solidFill>
          <a:ln w="6350">
            <a:solidFill>
              <a:srgbClr val="1F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93192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Married · two kids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5760720" cy="329184"/>
          </a:xfrm>
          <a:prstGeom prst="rect">
            <a:avLst/>
          </a:prstGeom>
          <a:solidFill>
            <a:srgbClr val="0E2241"/>
          </a:solidFill>
          <a:ln w="6350">
            <a:solidFill>
              <a:srgbClr val="1F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34340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retire at 64 · €5,500/mo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54864" cy="914400"/>
          </a:xfrm>
          <a:prstGeom prst="rect">
            <a:avLst/>
          </a:prstGeom>
          <a:solidFill>
            <a:srgbClr val="D4B28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0292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"If I choose the wrong retirement date in France, I permanently lose money."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559612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Mats — composite from 12+ interviews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83680" y="2743200"/>
            <a:ext cx="5029200" cy="914400"/>
          </a:xfrm>
          <a:prstGeom prst="rect">
            <a:avLst/>
          </a:prstGeom>
          <a:solidFill>
            <a:srgbClr val="0E2241"/>
          </a:solidFill>
          <a:ln w="6350">
            <a:solidFill>
              <a:srgbClr val="1F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2743200"/>
            <a:ext cx="54864" cy="914400"/>
          </a:xfrm>
          <a:prstGeom prst="rect">
            <a:avLst/>
          </a:prstGeom>
          <a:solidFill>
            <a:srgbClr val="5FBCA0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2788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🇫🇷  France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23–32 · 10 years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766560" y="312724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sector → CNAV (Pillar 1) + Agirc-Arrco points (Pillar 2)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961120" y="36576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2"/>
                </a:solidFill>
              </a:rPr>
              <a:t>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3822192"/>
            <a:ext cx="5029200" cy="914400"/>
          </a:xfrm>
          <a:prstGeom prst="rect">
            <a:avLst/>
          </a:prstGeom>
          <a:solidFill>
            <a:srgbClr val="0E2241"/>
          </a:solidFill>
          <a:ln w="6350">
            <a:solidFill>
              <a:srgbClr val="1F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0" y="3822192"/>
            <a:ext cx="54864" cy="914400"/>
          </a:xfrm>
          <a:prstGeom prst="rect">
            <a:avLst/>
          </a:prstGeom>
          <a:solidFill>
            <a:srgbClr val="5FBCA0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3867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🇨🇭  Switzerland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01200" y="3867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32–39 · 7 years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66560" y="42062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(AVS) + Pillar 2 (BVG) + 3a self-reported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961120" y="473659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2"/>
                </a:solidFill>
              </a:rPr>
              <a:t>↓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83680" y="4901184"/>
            <a:ext cx="5029200" cy="914400"/>
          </a:xfrm>
          <a:prstGeom prst="rect">
            <a:avLst/>
          </a:prstGeom>
          <a:solidFill>
            <a:srgbClr val="0E2241"/>
          </a:solidFill>
          <a:ln w="6350">
            <a:solidFill>
              <a:srgbClr val="1F3A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0" y="4901184"/>
            <a:ext cx="54864" cy="914400"/>
          </a:xfrm>
          <a:prstGeom prst="rect">
            <a:avLst/>
          </a:prstGeom>
          <a:solidFill>
            <a:srgbClr val="5FBCA0"/>
          </a:solidFill>
          <a:ln/>
        </p:spPr>
      </p:sp>
      <p:sp>
        <p:nvSpPr>
          <p:cNvPr id="35" name="Text 33"/>
          <p:cNvSpPr/>
          <p:nvPr/>
        </p:nvSpPr>
        <p:spPr>
          <a:xfrm>
            <a:off x="6766560" y="49469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🇱🇺  Luxembourg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601200" y="49469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40 → present · 5 years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766560" y="528523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CNAP (Pillar 1) + Pillar 2 (multiple employers) + Pillar 3 · 1–3 month gaps + freelance year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· mechanics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56655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 · 4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94360"/>
            <a:ext cx="11094415" cy="10973"/>
          </a:xfrm>
          <a:prstGeom prst="rect">
            <a:avLst/>
          </a:prstGeom>
          <a:solidFill>
            <a:srgbClr val="1F3A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entitlements. </a:t>
            </a:r>
            <a:pPr indent="0" marL="0">
              <a:buNone/>
            </a:pPr>
            <a:r>
              <a:rPr lang="en-US" sz="3800" i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human.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is a pension Mats has earned. Every line has different rules, different access, different verification. The system was never designed for a career that crossed borders.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solidFill>
            <a:srgbClr val="1A305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43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" y="2743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68880" y="2743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/ scheme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98080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784080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1089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France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68880" y="310896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CNAV — Pillar 1 (régime général)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Accruing → drawn at 64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784080" y="31089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438144"/>
            <a:ext cx="10972800" cy="329184"/>
          </a:xfrm>
          <a:prstGeom prst="rect">
            <a:avLst/>
          </a:prstGeom>
          <a:solidFill>
            <a:srgbClr val="0B1E3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43814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7280" y="343814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France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68880" y="343814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Agirc-Arrco — Pillar 2 (points)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0" y="343814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Accumulated, dormant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784080" y="343814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76732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97280" y="37673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🇨🇭 Swiss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468880" y="376732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AVS — Pillar 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0" y="37673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Vested, dormant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784080" y="37673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A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Estimated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096512"/>
            <a:ext cx="10972800" cy="329184"/>
          </a:xfrm>
          <a:prstGeom prst="rect">
            <a:avLst/>
          </a:prstGeom>
          <a:solidFill>
            <a:srgbClr val="0B1E38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09651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97280" y="40965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🇨🇭 Swiss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68880" y="409651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BVG — Pillar 2 (occupational)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98080" y="40965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Vested, with 2 employers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84080" y="40965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A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Estimated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442569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97280" y="442569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🇨🇭 Swiss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468880" y="442569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3a (private)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98080" y="442569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only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784080" y="442569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Unverified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4754880"/>
            <a:ext cx="10972800" cy="329184"/>
          </a:xfrm>
          <a:prstGeom prst="rect">
            <a:avLst/>
          </a:prstGeom>
          <a:solidFill>
            <a:srgbClr val="0B1E38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75488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97280" y="47548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🇱🇺 Lux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468880" y="475488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CNAP — Pillar 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98080" y="47548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accruing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784080" y="47548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Verified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0080" y="508406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97280" y="50840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🇱🇺 Lux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468880" y="508406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— employer A (3 yrs)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498080" y="508406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784080" y="508406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A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Estimated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48640" y="5413248"/>
            <a:ext cx="10972800" cy="329184"/>
          </a:xfrm>
          <a:prstGeom prst="rect">
            <a:avLst/>
          </a:prstGeom>
          <a:solidFill>
            <a:srgbClr val="0B1E38"/>
          </a:solidFill>
          <a:ln/>
        </p:spPr>
      </p:sp>
      <p:sp>
        <p:nvSpPr>
          <p:cNvPr id="52" name="Text 50"/>
          <p:cNvSpPr/>
          <p:nvPr/>
        </p:nvSpPr>
        <p:spPr>
          <a:xfrm>
            <a:off x="640080" y="541324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97280" y="54132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🇱🇺 Lux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468880" y="541324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— employer B (current)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498080" y="54132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Accruing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784080" y="54132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Verified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40080" y="574243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097280" y="574243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🇱🇺 Lux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2468880" y="574243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(private)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498080" y="574243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Self-managed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9784080" y="57424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Unverified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48640" y="620877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without verification: €4,340/mo  ·  Verified picture: €3,840/mo  ·  Gap: €500/mo for life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56655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min · 5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94360"/>
            <a:ext cx="11094415" cy="10973"/>
          </a:xfrm>
          <a:prstGeom prst="rect">
            <a:avLst/>
          </a:prstGeom>
          <a:solidFill>
            <a:srgbClr val="1F3A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hundred euros a month, </a:t>
            </a:r>
            <a:pPr indent="0" marL="0">
              <a:buNone/>
            </a:pPr>
            <a:r>
              <a:rPr lang="en-US" sz="3800" i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month, for life.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gap actually costs Mats — and millions like him — over a typical retirement arc.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€498K</a:t>
            </a:r>
            <a:endParaRPr lang="en-US" sz="13000" dirty="0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compounded shortfall over a typical retirement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€500/mo  ·  age 64 → 84  ·  3% inflation  ·  not adjusted for tax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49440" y="2377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149840" y="2377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FBC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€5,500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49440" y="2670048"/>
            <a:ext cx="4572000" cy="164592"/>
          </a:xfrm>
          <a:prstGeom prst="rect">
            <a:avLst/>
          </a:prstGeom>
          <a:solidFill>
            <a:srgbClr val="0E2241"/>
          </a:solidFill>
          <a:ln/>
        </p:spPr>
      </p:sp>
      <p:sp>
        <p:nvSpPr>
          <p:cNvPr id="13" name="Shape 11"/>
          <p:cNvSpPr/>
          <p:nvPr/>
        </p:nvSpPr>
        <p:spPr>
          <a:xfrm>
            <a:off x="6949440" y="2670048"/>
            <a:ext cx="4572000" cy="164592"/>
          </a:xfrm>
          <a:prstGeom prst="rect">
            <a:avLst/>
          </a:prstGeom>
          <a:solidFill>
            <a:srgbClr val="5FBCA0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2880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Mats's mental model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949440" y="33375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149840" y="33375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0A5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€4,340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49440" y="3630168"/>
            <a:ext cx="4572000" cy="164592"/>
          </a:xfrm>
          <a:prstGeom prst="rect">
            <a:avLst/>
          </a:prstGeom>
          <a:solidFill>
            <a:srgbClr val="0E2241"/>
          </a:solidFill>
          <a:ln/>
        </p:spPr>
      </p:sp>
      <p:sp>
        <p:nvSpPr>
          <p:cNvPr id="18" name="Shape 16"/>
          <p:cNvSpPr/>
          <p:nvPr/>
        </p:nvSpPr>
        <p:spPr>
          <a:xfrm>
            <a:off x="6949440" y="3630168"/>
            <a:ext cx="3611880" cy="164592"/>
          </a:xfrm>
          <a:prstGeom prst="rect">
            <a:avLst/>
          </a:prstGeom>
          <a:solidFill>
            <a:srgbClr val="E0A55F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without verification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949440" y="4297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149840" y="4297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5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€3,840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49440" y="4590288"/>
            <a:ext cx="4572000" cy="164592"/>
          </a:xfrm>
          <a:prstGeom prst="rect">
            <a:avLst/>
          </a:prstGeom>
          <a:solidFill>
            <a:srgbClr val="0E2241"/>
          </a:solidFill>
          <a:ln/>
        </p:spPr>
      </p:sp>
      <p:sp>
        <p:nvSpPr>
          <p:cNvPr id="23" name="Shape 21"/>
          <p:cNvSpPr/>
          <p:nvPr/>
        </p:nvSpPr>
        <p:spPr>
          <a:xfrm>
            <a:off x="6949440" y="4590288"/>
            <a:ext cx="3200400" cy="164592"/>
          </a:xfrm>
          <a:prstGeom prst="rect">
            <a:avLst/>
          </a:prstGeom>
          <a:solidFill>
            <a:srgbClr val="C56B6B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we open the documents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discovery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56655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 · 6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94360"/>
            <a:ext cx="11094415" cy="10973"/>
          </a:xfrm>
          <a:prstGeom prst="rect">
            <a:avLst/>
          </a:prstGeom>
          <a:solidFill>
            <a:srgbClr val="1F3A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didn't guess. </a:t>
            </a:r>
            <a:pPr indent="0" marL="0">
              <a:buNone/>
            </a:pPr>
            <a:r>
              <a:rPr lang="en-US" sz="3800" i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asked.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sat down with people who'd worked in different countries — and now hold pensions in each of them. They told us things we didn't expect.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3657600" cy="3657600"/>
          </a:xfrm>
          <a:prstGeom prst="rect">
            <a:avLst/>
          </a:prstGeom>
          <a:solidFill>
            <a:srgbClr val="0E2241"/>
          </a:solidFill>
          <a:ln w="6350">
            <a:solidFill>
              <a:srgbClr val="D4B2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88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12+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822960" y="4251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in-depth interviews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754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194560" y="4754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· LU · CH · BE · 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50840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duration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94560" y="50840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5413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94560" y="54132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Multi-country pensions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57424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94560" y="57424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Test structured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80560" y="2560320"/>
            <a:ext cx="7315200" cy="1097280"/>
          </a:xfrm>
          <a:prstGeom prst="rect">
            <a:avLst/>
          </a:prstGeom>
          <a:solidFill>
            <a:srgbClr val="0E2241"/>
          </a:solidFill>
          <a:ln w="6350">
            <a:solidFill>
              <a:srgbClr val="1F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0" y="2560320"/>
            <a:ext cx="54864" cy="1097280"/>
          </a:xfrm>
          <a:prstGeom prst="rect">
            <a:avLst/>
          </a:prstGeom>
          <a:solidFill>
            <a:srgbClr val="5FBCA0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26974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have no idea what I'll receive from Italy. I worked there four years and I just stopped thinking about it."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33375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Multi-country pensioner · IT → DE → LU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480560" y="3794760"/>
            <a:ext cx="7315200" cy="1097280"/>
          </a:xfrm>
          <a:prstGeom prst="rect">
            <a:avLst/>
          </a:prstGeom>
          <a:solidFill>
            <a:srgbClr val="0E2241"/>
          </a:solidFill>
          <a:ln w="6350">
            <a:solidFill>
              <a:srgbClr val="1F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3794760"/>
            <a:ext cx="54864" cy="1097280"/>
          </a:xfrm>
          <a:prstGeom prst="rect">
            <a:avLst/>
          </a:prstGeom>
          <a:solidFill>
            <a:srgbClr val="5FBCA0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39319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"My HR can't help me with my Swiss Pillar 2. They tell me to call Switzerland. I don't even know who to call."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45720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worker · CH → LU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80560" y="5029200"/>
            <a:ext cx="7315200" cy="1097280"/>
          </a:xfrm>
          <a:prstGeom prst="rect">
            <a:avLst/>
          </a:prstGeom>
          <a:solidFill>
            <a:srgbClr val="0E2241"/>
          </a:solidFill>
          <a:ln w="6350">
            <a:solidFill>
              <a:srgbClr val="1F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80560" y="5029200"/>
            <a:ext cx="54864" cy="1097280"/>
          </a:xfrm>
          <a:prstGeom prst="rect">
            <a:avLst/>
          </a:prstGeom>
          <a:solidFill>
            <a:srgbClr val="5FBCA0"/>
          </a:solidFill>
          <a:ln/>
        </p:spPr>
      </p:sp>
      <p:sp>
        <p:nvSpPr>
          <p:cNvPr id="29" name="Text 27"/>
          <p:cNvSpPr/>
          <p:nvPr/>
        </p:nvSpPr>
        <p:spPr>
          <a:xfrm>
            <a:off x="4709160" y="51663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"I'd pay for someone who can just give me one number I trust. €1,000 to know."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09160" y="58064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Mid-career professional · FR → LU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sizing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56655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 · 7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94360"/>
            <a:ext cx="11094415" cy="10973"/>
          </a:xfrm>
          <a:prstGeom prst="rect">
            <a:avLst/>
          </a:prstGeom>
          <a:solidFill>
            <a:srgbClr val="1F3A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</a:t>
            </a:r>
            <a:pPr indent="0" marL="0">
              <a:buNone/>
            </a:pPr>
            <a:r>
              <a:rPr lang="en-US" sz="3800" i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seventeen million to one.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Seventeen million Europeans who've worked across borders. Twelve million we can serve by year five. The densest concentration is twenty minutes from this room.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6858000" cy="868680"/>
          </a:xfrm>
          <a:prstGeom prst="rect">
            <a:avLst/>
          </a:prstGeom>
          <a:solidFill>
            <a:srgbClr val="0E2241"/>
          </a:solidFill>
          <a:ln w="12700">
            <a:solidFill>
              <a:srgbClr val="5FBC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889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Intra-EU mobile citizens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who've worked in different countries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035040" y="281635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5FBC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~17M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234440" y="3794760"/>
            <a:ext cx="5486400" cy="868680"/>
          </a:xfrm>
          <a:prstGeom prst="rect">
            <a:avLst/>
          </a:prstGeom>
          <a:solidFill>
            <a:srgbClr val="0E2241"/>
          </a:solidFill>
          <a:ln w="12700">
            <a:solidFill>
              <a:srgbClr val="D4B2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3931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Multi-country pension corridors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08760" y="4251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at Y5 with 29 country engines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49240" y="395935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~12M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434590" y="4937760"/>
            <a:ext cx="3086100" cy="868680"/>
          </a:xfrm>
          <a:prstGeom prst="rect">
            <a:avLst/>
          </a:prstGeom>
          <a:solidFill>
            <a:srgbClr val="0E2241"/>
          </a:solidFill>
          <a:ln w="12700">
            <a:solidFill>
              <a:srgbClr val="6BA8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08910" y="5074920"/>
            <a:ext cx="1623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Luxembourg beachhead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08910" y="5394960"/>
            <a:ext cx="1623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launch — densest multi-country concentration in Europe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49090" y="510235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6BA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~140K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772400" y="2651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 — PHASING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31089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03920" y="31455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Luxembourg launch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3920" y="34198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130–150K addressable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72400" y="3886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503920" y="39227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activates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03920" y="41970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country engines live · 1.4M → 7.3M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772400" y="4663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503920" y="47000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country engines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03920" y="49743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EU27 + UK + CH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62636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Eurostat · STATEC · Prevista financial model. Sizing only — the compounding mechanic is on slide 11.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56655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~3:35 video · 8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94360"/>
            <a:ext cx="11094415" cy="10973"/>
          </a:xfrm>
          <a:prstGeom prst="rect">
            <a:avLst/>
          </a:prstGeom>
          <a:solidFill>
            <a:srgbClr val="1F3A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work.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Mats's complete picture — built in three minutes thirty-five.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recorded under our previous working name, RetirAI — same product, same team.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752448" y="2286000"/>
            <a:ext cx="8686800" cy="4114800"/>
          </a:xfrm>
          <a:prstGeom prst="rect">
            <a:avLst/>
          </a:prstGeom>
          <a:solidFill>
            <a:srgbClr val="0E2241"/>
          </a:solidFill>
          <a:ln w="9525">
            <a:solidFill>
              <a:srgbClr val="D4B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01488" y="3383280"/>
            <a:ext cx="1188720" cy="1188720"/>
          </a:xfrm>
          <a:prstGeom prst="ellipse">
            <a:avLst/>
          </a:prstGeom>
          <a:solidFill>
            <a:srgbClr val="D4B280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5894680" y="3794760"/>
            <a:ext cx="457200" cy="457200"/>
          </a:xfrm>
          <a:prstGeom prst="triangle">
            <a:avLst/>
          </a:prstGeom>
          <a:solidFill>
            <a:srgbClr val="08182F"/>
          </a:solidFill>
          <a:ln/>
        </p:spPr>
      </p:sp>
      <p:sp>
        <p:nvSpPr>
          <p:cNvPr id="10" name="Text 8"/>
          <p:cNvSpPr/>
          <p:nvPr/>
        </p:nvSpPr>
        <p:spPr>
          <a:xfrm>
            <a:off x="1752448" y="4846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· 3:35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52448" y="52578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· Dashboard · Verified picture · Country comparison · Family access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52448" y="59436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video: insert YouTube/share link here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· the gap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56655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 · 9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94360"/>
            <a:ext cx="11094415" cy="10973"/>
          </a:xfrm>
          <a:prstGeom prst="rect">
            <a:avLst/>
          </a:prstGeom>
          <a:solidFill>
            <a:srgbClr val="1F3A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mapped the competition. </a:t>
            </a:r>
            <a:pPr indent="0" marL="0">
              <a:buNone/>
            </a:pPr>
            <a:r>
              <a:rPr lang="en-US" sz="3800" i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forty-nine.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portals, fintech consolidators, robo-advisors, digital savings tools, family offices, traditional consultants. Six categories. None close the loop.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220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mapped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5394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 categories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0" y="24688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portals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26680" y="24688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2715768"/>
            <a:ext cx="3657600" cy="118872"/>
          </a:xfrm>
          <a:prstGeom prst="rect">
            <a:avLst/>
          </a:prstGeom>
          <a:solidFill>
            <a:srgbClr val="0E2241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2715768"/>
            <a:ext cx="2438400" cy="118872"/>
          </a:xfrm>
          <a:prstGeom prst="rect">
            <a:avLst/>
          </a:prstGeom>
          <a:solidFill>
            <a:srgbClr val="D4B28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297180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consolidators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26680" y="2971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3218688"/>
            <a:ext cx="3657600" cy="118872"/>
          </a:xfrm>
          <a:prstGeom prst="rect">
            <a:avLst/>
          </a:prstGeom>
          <a:solidFill>
            <a:srgbClr val="0E2241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3218688"/>
            <a:ext cx="3657600" cy="118872"/>
          </a:xfrm>
          <a:prstGeom prst="rect">
            <a:avLst/>
          </a:prstGeom>
          <a:solidFill>
            <a:srgbClr val="D4B28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34747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Robo-advisors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26680" y="34747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3721608"/>
            <a:ext cx="3657600" cy="118872"/>
          </a:xfrm>
          <a:prstGeom prst="rect">
            <a:avLst/>
          </a:prstGeom>
          <a:solidFill>
            <a:srgbClr val="0E2241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3721608"/>
            <a:ext cx="2743200" cy="118872"/>
          </a:xfrm>
          <a:prstGeom prst="rect">
            <a:avLst/>
          </a:prstGeom>
          <a:solidFill>
            <a:srgbClr val="D4B28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397764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savings tools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26680" y="39776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4224528"/>
            <a:ext cx="3657600" cy="118872"/>
          </a:xfrm>
          <a:prstGeom prst="rect">
            <a:avLst/>
          </a:prstGeom>
          <a:solidFill>
            <a:srgbClr val="0E2241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4224528"/>
            <a:ext cx="2133600" cy="118872"/>
          </a:xfrm>
          <a:prstGeom prst="rect">
            <a:avLst/>
          </a:prstGeom>
          <a:solidFill>
            <a:srgbClr val="D4B28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448056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offices / private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26680" y="44805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4727448"/>
            <a:ext cx="3657600" cy="118872"/>
          </a:xfrm>
          <a:prstGeom prst="rect">
            <a:avLst/>
          </a:prstGeom>
          <a:solidFill>
            <a:srgbClr val="0E2241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0" y="4727448"/>
            <a:ext cx="1828800" cy="118872"/>
          </a:xfrm>
          <a:prstGeom prst="rect">
            <a:avLst/>
          </a:prstGeom>
          <a:solidFill>
            <a:srgbClr val="D4B280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49834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consultants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26680" y="49834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5230368"/>
            <a:ext cx="3657600" cy="118872"/>
          </a:xfrm>
          <a:prstGeom prst="rect">
            <a:avLst/>
          </a:prstGeom>
          <a:solidFill>
            <a:srgbClr val="0E2241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0" y="5230368"/>
            <a:ext cx="2133600" cy="118872"/>
          </a:xfrm>
          <a:prstGeom prst="rect">
            <a:avLst/>
          </a:prstGeom>
          <a:solidFill>
            <a:srgbClr val="D4B280"/>
          </a:solidFill>
          <a:ln/>
        </p:spPr>
      </p:sp>
      <p:sp>
        <p:nvSpPr>
          <p:cNvPr id="34" name="Text 32"/>
          <p:cNvSpPr/>
          <p:nvPr/>
        </p:nvSpPr>
        <p:spPr>
          <a:xfrm>
            <a:off x="8778240" y="2468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FINDINGS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77824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49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8778240" y="32186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cross-border tracking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778240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778240" y="39959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continuous tracking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778240" y="4389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/ 28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8778240" y="47731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automatable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778240" y="5166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€750–5,500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8778240" y="55504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bilan range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62636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own research · 49 competitors mapped (Q1 2026) · 28 services categorized for automation viability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· positioning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56655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 · 10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94360"/>
            <a:ext cx="11094415" cy="10973"/>
          </a:xfrm>
          <a:prstGeom prst="rect">
            <a:avLst/>
          </a:prstGeom>
          <a:solidFill>
            <a:srgbClr val="1F3A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sit. </a:t>
            </a:r>
            <a:pPr indent="0" marL="0">
              <a:buNone/>
            </a:pPr>
            <a:r>
              <a:rPr lang="en-US" sz="3800" i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top-left is empty.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Plotted by multi-country coverage and price. The Unclaimed Zone — high coverage at human-accessible price — is where Prevista lives.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6858000" cy="3657600"/>
          </a:xfrm>
          <a:prstGeom prst="rect">
            <a:avLst/>
          </a:prstGeom>
          <a:solidFill>
            <a:srgbClr val="0E2241"/>
          </a:solidFill>
          <a:ln w="6350">
            <a:solidFill>
              <a:srgbClr val="1F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697480"/>
            <a:ext cx="3771900" cy="1645920"/>
          </a:xfrm>
          <a:prstGeom prst="rect">
            <a:avLst/>
          </a:prstGeom>
          <a:solidFill>
            <a:srgbClr val="D4B280">
              <a:alpha val="12000"/>
            </a:srgbClr>
          </a:solidFill>
          <a:ln w="6350">
            <a:solidFill>
              <a:srgbClr val="D4B28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00584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UNCLAIMED 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multi-country, accessible price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62819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multi-country coverage →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 rot="16200000">
            <a:off x="91440" y="40690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price (log scale) ↑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97449" y="5879592"/>
            <a:ext cx="219456" cy="219456"/>
          </a:xfrm>
          <a:prstGeom prst="ellipse">
            <a:avLst/>
          </a:prstGeom>
          <a:solidFill>
            <a:srgbClr val="93A1B5"/>
          </a:solidFill>
          <a:ln w="6350">
            <a:solidFill>
              <a:srgbClr val="5A6B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4217" y="6126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 portals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698786" y="5879592"/>
            <a:ext cx="219456" cy="219456"/>
          </a:xfrm>
          <a:prstGeom prst="ellipse">
            <a:avLst/>
          </a:prstGeom>
          <a:solidFill>
            <a:srgbClr val="93A1B5"/>
          </a:solidFill>
          <a:ln w="6350">
            <a:solidFill>
              <a:srgbClr val="5A6B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85554" y="6126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FYP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7449" y="5313593"/>
            <a:ext cx="219456" cy="219456"/>
          </a:xfrm>
          <a:prstGeom prst="ellipse">
            <a:avLst/>
          </a:prstGeom>
          <a:solidFill>
            <a:srgbClr val="93A1B5"/>
          </a:solidFill>
          <a:ln w="6350">
            <a:solidFill>
              <a:srgbClr val="5A6B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4217" y="5560481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Mint-likes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698786" y="4491429"/>
            <a:ext cx="219456" cy="219456"/>
          </a:xfrm>
          <a:prstGeom prst="ellipse">
            <a:avLst/>
          </a:prstGeom>
          <a:solidFill>
            <a:srgbClr val="93A1B5"/>
          </a:solidFill>
          <a:ln w="6350">
            <a:solidFill>
              <a:srgbClr val="5A6B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85554" y="4738317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Robo-advisors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797449" y="4581008"/>
            <a:ext cx="219456" cy="219456"/>
          </a:xfrm>
          <a:prstGeom prst="ellipse">
            <a:avLst/>
          </a:prstGeom>
          <a:solidFill>
            <a:srgbClr val="93A1B5"/>
          </a:solidFill>
          <a:ln w="6350">
            <a:solidFill>
              <a:srgbClr val="5A6B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84217" y="48278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apps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01461" y="3350355"/>
            <a:ext cx="219456" cy="219456"/>
          </a:xfrm>
          <a:prstGeom prst="ellipse">
            <a:avLst/>
          </a:prstGeom>
          <a:solidFill>
            <a:srgbClr val="93A1B5"/>
          </a:solidFill>
          <a:ln w="6350">
            <a:solidFill>
              <a:srgbClr val="5A6B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88229" y="3597243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02798" y="3040587"/>
            <a:ext cx="219456" cy="219456"/>
          </a:xfrm>
          <a:prstGeom prst="ellipse">
            <a:avLst/>
          </a:prstGeom>
          <a:solidFill>
            <a:srgbClr val="93A1B5"/>
          </a:solidFill>
          <a:ln w="6350">
            <a:solidFill>
              <a:srgbClr val="5A6B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9566" y="3287475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mgrs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205472" y="2680678"/>
            <a:ext cx="219456" cy="219456"/>
          </a:xfrm>
          <a:prstGeom prst="ellipse">
            <a:avLst/>
          </a:prstGeom>
          <a:solidFill>
            <a:srgbClr val="93A1B5"/>
          </a:solidFill>
          <a:ln w="6350">
            <a:solidFill>
              <a:srgbClr val="5A6B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292756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offices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205472" y="4581008"/>
            <a:ext cx="219456" cy="219456"/>
          </a:xfrm>
          <a:prstGeom prst="ellipse">
            <a:avLst/>
          </a:prstGeom>
          <a:solidFill>
            <a:srgbClr val="D4B280"/>
          </a:solidFill>
          <a:ln w="25400">
            <a:solidFill>
              <a:srgbClr val="D4B2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41878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Prevista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863840" y="2606040"/>
            <a:ext cx="3931920" cy="777240"/>
          </a:xfrm>
          <a:prstGeom prst="rect">
            <a:avLst/>
          </a:prstGeom>
          <a:solidFill>
            <a:srgbClr val="0E2241"/>
          </a:solidFill>
          <a:ln w="6350">
            <a:solidFill>
              <a:srgbClr val="1F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3840" y="2606040"/>
            <a:ext cx="54864" cy="777240"/>
          </a:xfrm>
          <a:prstGeom prst="rect">
            <a:avLst/>
          </a:prstGeom>
          <a:solidFill>
            <a:srgbClr val="D4B280"/>
          </a:solidFill>
          <a:ln/>
        </p:spPr>
      </p:sp>
      <p:sp>
        <p:nvSpPr>
          <p:cNvPr id="33" name="Text 31"/>
          <p:cNvSpPr/>
          <p:nvPr/>
        </p:nvSpPr>
        <p:spPr>
          <a:xfrm>
            <a:off x="804672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Gov portals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46720" y="2971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aggregate where they isolate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863840" y="3474720"/>
            <a:ext cx="3931920" cy="777240"/>
          </a:xfrm>
          <a:prstGeom prst="rect">
            <a:avLst/>
          </a:prstGeom>
          <a:solidFill>
            <a:srgbClr val="0E2241"/>
          </a:solidFill>
          <a:ln w="6350">
            <a:solidFill>
              <a:srgbClr val="1F3A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63840" y="3474720"/>
            <a:ext cx="54864" cy="777240"/>
          </a:xfrm>
          <a:prstGeom prst="rect">
            <a:avLst/>
          </a:prstGeom>
          <a:solidFill>
            <a:srgbClr val="D4B280"/>
          </a:solidFill>
          <a:ln/>
        </p:spPr>
      </p:sp>
      <p:sp>
        <p:nvSpPr>
          <p:cNvPr id="37" name="Text 35"/>
          <p:cNvSpPr/>
          <p:nvPr/>
        </p:nvSpPr>
        <p:spPr>
          <a:xfrm>
            <a:off x="804672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Digital tools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46720" y="3840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cross borders where they don't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863840" y="4343400"/>
            <a:ext cx="3931920" cy="777240"/>
          </a:xfrm>
          <a:prstGeom prst="rect">
            <a:avLst/>
          </a:prstGeom>
          <a:solidFill>
            <a:srgbClr val="0E2241"/>
          </a:solidFill>
          <a:ln w="6350">
            <a:solidFill>
              <a:srgbClr val="1F3A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63840" y="4343400"/>
            <a:ext cx="54864" cy="777240"/>
          </a:xfrm>
          <a:prstGeom prst="rect">
            <a:avLst/>
          </a:prstGeom>
          <a:solidFill>
            <a:srgbClr val="D4B280"/>
          </a:solidFill>
          <a:ln/>
        </p:spPr>
      </p:sp>
      <p:sp>
        <p:nvSpPr>
          <p:cNvPr id="41" name="Text 39"/>
          <p:cNvSpPr/>
          <p:nvPr/>
        </p:nvSpPr>
        <p:spPr>
          <a:xfrm>
            <a:off x="804672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Consultants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046720" y="4709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not one-shot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863840" y="5212080"/>
            <a:ext cx="3931920" cy="777240"/>
          </a:xfrm>
          <a:prstGeom prst="rect">
            <a:avLst/>
          </a:prstGeom>
          <a:solidFill>
            <a:srgbClr val="0E2241"/>
          </a:solidFill>
          <a:ln w="6350">
            <a:solidFill>
              <a:srgbClr val="1F3A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63840" y="5212080"/>
            <a:ext cx="54864" cy="777240"/>
          </a:xfrm>
          <a:prstGeom prst="rect">
            <a:avLst/>
          </a:prstGeom>
          <a:solidFill>
            <a:srgbClr val="D4B280"/>
          </a:solidFill>
          <a:ln/>
        </p:spPr>
      </p:sp>
      <p:sp>
        <p:nvSpPr>
          <p:cNvPr id="45" name="Text 43"/>
          <p:cNvSpPr/>
          <p:nvPr/>
        </p:nvSpPr>
        <p:spPr>
          <a:xfrm>
            <a:off x="8046720" y="5303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All players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046720" y="5577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priced for trust, not for AUM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quadrant is empty. We are the first to fill it.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· three rings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56655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min · 11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94360"/>
            <a:ext cx="11094415" cy="10973"/>
          </a:xfrm>
          <a:prstGeom prst="rect">
            <a:avLst/>
          </a:prstGeom>
          <a:solidFill>
            <a:srgbClr val="1F3A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rings of partnership. </a:t>
            </a:r>
            <a:pPr indent="0" marL="0">
              <a:buNone/>
            </a:pPr>
            <a:r>
              <a:rPr lang="en-US" sz="3800" i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launchpad.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Luxembourg institutions, country communities, home-country organizations — concentric circles of trust radiating outward from one beachhead.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5120640" cy="3657600"/>
          </a:xfrm>
          <a:prstGeom prst="ellipse">
            <a:avLst/>
          </a:prstGeom>
          <a:solidFill>
            <a:srgbClr val="6BA8E0">
              <a:alpha val="8000"/>
            </a:srgbClr>
          </a:solidFill>
          <a:ln w="15240">
            <a:solidFill>
              <a:srgbClr val="6BA8E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554480" y="2926080"/>
            <a:ext cx="3657600" cy="2743200"/>
          </a:xfrm>
          <a:prstGeom prst="ellipse">
            <a:avLst/>
          </a:prstGeom>
          <a:solidFill>
            <a:srgbClr val="5FBCA0">
              <a:alpha val="10000"/>
            </a:srgbClr>
          </a:solidFill>
          <a:ln w="15240">
            <a:solidFill>
              <a:srgbClr val="5FBC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0280" y="3429000"/>
            <a:ext cx="2286000" cy="1737360"/>
          </a:xfrm>
          <a:prstGeom prst="ellipse">
            <a:avLst/>
          </a:prstGeom>
          <a:solidFill>
            <a:srgbClr val="D4B280">
              <a:alpha val="12000"/>
            </a:srgbClr>
          </a:solidFill>
          <a:ln w="15240">
            <a:solidFill>
              <a:srgbClr val="D4B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3886200"/>
            <a:ext cx="1097280" cy="822960"/>
          </a:xfrm>
          <a:prstGeom prst="ellipse">
            <a:avLst/>
          </a:prstGeom>
          <a:solidFill>
            <a:srgbClr val="08182F"/>
          </a:solidFill>
          <a:ln w="31750">
            <a:solidFill>
              <a:srgbClr val="D4B2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3931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834640" y="4343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launchpad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675120" y="2651760"/>
            <a:ext cx="274320" cy="274320"/>
          </a:xfrm>
          <a:prstGeom prst="ellipse">
            <a:avLst/>
          </a:prstGeom>
          <a:solidFill>
            <a:srgbClr val="D4B280">
              <a:alpha val="30000"/>
            </a:srgbClr>
          </a:solidFill>
          <a:ln w="19050">
            <a:solidFill>
              <a:srgbClr val="D4B2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26060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1 · LU institutions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86600" y="28986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mapped · CC · FEDIL · ABBL · LHoFT · UEL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75120" y="3291840"/>
            <a:ext cx="274320" cy="274320"/>
          </a:xfrm>
          <a:prstGeom prst="ellipse">
            <a:avLst/>
          </a:prstGeom>
          <a:solidFill>
            <a:srgbClr val="5FBCA0">
              <a:alpha val="30000"/>
            </a:srgbClr>
          </a:solidFill>
          <a:ln w="19050">
            <a:solidFill>
              <a:srgbClr val="5FBC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32461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2 · Communities in LU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86600" y="35387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mapped · PT · FR · IT · BE · DE · ES · +6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75120" y="3931920"/>
            <a:ext cx="274320" cy="274320"/>
          </a:xfrm>
          <a:prstGeom prst="ellipse">
            <a:avLst/>
          </a:prstGeom>
          <a:solidFill>
            <a:srgbClr val="6BA8E0">
              <a:alpha val="30000"/>
            </a:srgbClr>
          </a:solidFill>
          <a:ln w="19050">
            <a:solidFill>
              <a:srgbClr val="6BA8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3886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3 · Home-country orgs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86600" y="4178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markets staged · activated per corridor launch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75120" y="4709160"/>
            <a:ext cx="5120640" cy="1280160"/>
          </a:xfrm>
          <a:prstGeom prst="rect">
            <a:avLst/>
          </a:prstGeom>
          <a:solidFill>
            <a:srgbClr val="1A1F1A">
              <a:alpha val="40000"/>
            </a:srgbClr>
          </a:solidFill>
          <a:ln w="6350">
            <a:solidFill>
              <a:srgbClr val="D4B2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4800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CONTACTS ALREADY IN RESEARCH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58000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AMCHAM · D. McKenzie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326880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BCC · R. Kellagher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858000" y="5349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CCI France · A. Benel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326880" y="5349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Luxinnovation · I. Perepelytsya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58000" y="5623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LPEA · S. Pesch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326880" y="5623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Delano · A. Grunwald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5852160"/>
            <a:ext cx="11094415" cy="640080"/>
          </a:xfrm>
          <a:prstGeom prst="rect">
            <a:avLst/>
          </a:prstGeom>
          <a:solidFill>
            <a:srgbClr val="0E2241"/>
          </a:solidFill>
          <a:ln w="6350">
            <a:solidFill>
              <a:srgbClr val="D4B2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897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engine, ~10× the TAM — order matters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6181344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alone (LU only): +56K  →  PT after launch trio (PT–LU + FR–PT + CH–PT): +565K  =  10×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· first thousand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56655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 · 12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94360"/>
            <a:ext cx="11094415" cy="10973"/>
          </a:xfrm>
          <a:prstGeom prst="rect">
            <a:avLst/>
          </a:prstGeom>
          <a:solidFill>
            <a:srgbClr val="1F3A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thousand customers. </a:t>
            </a:r>
            <a:pPr indent="0" marL="0">
              <a:buNone/>
            </a:pPr>
            <a:r>
              <a:rPr lang="en-US" sz="3800" i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Luxembourg. Ninety days.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communities, one beachhead. Each one is also a bridge to a Y2 or Y3 country corridor.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4754880" cy="1325880"/>
          </a:xfrm>
          <a:prstGeom prst="rect">
            <a:avLst/>
          </a:prstGeom>
          <a:solidFill>
            <a:srgbClr val="0E2241"/>
          </a:solidFill>
          <a:ln w="6350">
            <a:solidFill>
              <a:srgbClr val="1F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606040"/>
            <a:ext cx="54864" cy="1325880"/>
          </a:xfrm>
          <a:prstGeom prst="rect">
            <a:avLst/>
          </a:prstGeom>
          <a:solidFill>
            <a:srgbClr val="D4B28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97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🇵🇹  Priority 1: Portuguese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0" y="2697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~92K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99008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in Luxembourg — 13.1% of total population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322783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Largest foreign community in Luxembourg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Mature community infrastructure (CLAE, CCIPL, ACEP)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emotional salience around return-migration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7216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Bridge to Y2 Portugal expansion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4754880" cy="1325880"/>
          </a:xfrm>
          <a:prstGeom prst="rect">
            <a:avLst/>
          </a:prstGeom>
          <a:solidFill>
            <a:srgbClr val="0E2241"/>
          </a:solidFill>
          <a:ln w="6350">
            <a:solidFill>
              <a:srgbClr val="1F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023360"/>
            <a:ext cx="54864" cy="1325880"/>
          </a:xfrm>
          <a:prstGeom prst="rect">
            <a:avLst/>
          </a:prstGeom>
          <a:solidFill>
            <a:srgbClr val="5FBCA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 Priority 2: French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0" y="4114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~49K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440740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residents in Luxembourg — second-largest community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464515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2023 pension reform raised retirement anxiety to historic peak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Frontaliers Grand Est is a ready-made partnership channel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Pensions accumulating in both FR and LU systems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513892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Bridge to Y2 France expansion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5440680"/>
            <a:ext cx="4754880" cy="1325880"/>
          </a:xfrm>
          <a:prstGeom prst="rect">
            <a:avLst/>
          </a:prstGeom>
          <a:solidFill>
            <a:srgbClr val="0E2241"/>
          </a:solidFill>
          <a:ln w="6350">
            <a:solidFill>
              <a:srgbClr val="1F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440680"/>
            <a:ext cx="54864" cy="1325880"/>
          </a:xfrm>
          <a:prstGeom prst="rect">
            <a:avLst/>
          </a:prstGeom>
          <a:solidFill>
            <a:srgbClr val="6BA8E0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532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🇪🇸  Priority 3: Spanish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0" y="5532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~9.6K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1520" y="582472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— fastest-growing EU community in Luxembourg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606247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Smaller but high-engagement community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Strong PT/ES cultural overlap for marketing leverage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Y3 Spain bridge already plausible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655624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Bridge to Y3 Spain expansion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0" y="260604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TIMELINE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0" y="2971800"/>
            <a:ext cx="6126480" cy="777240"/>
          </a:xfrm>
          <a:prstGeom prst="rect">
            <a:avLst/>
          </a:prstGeom>
          <a:solidFill>
            <a:srgbClr val="0E2241"/>
          </a:solidFill>
          <a:ln w="6350">
            <a:solidFill>
              <a:srgbClr val="E0A5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0" y="30175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0A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-1 · M-3 → M0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52160" y="32918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beta in limited PT + FR audience · ~150 wishlist signups validate demand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60720" y="3931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46520" y="3931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activates · LSB + content live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332720" y="3931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→ 80 paying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0" y="4315968"/>
            <a:ext cx="6126480" cy="365760"/>
          </a:xfrm>
          <a:prstGeom prst="rect">
            <a:avLst/>
          </a:prstGeom>
          <a:solidFill>
            <a:srgbClr val="0B1E38"/>
          </a:solidFill>
          <a:ln/>
        </p:spPr>
      </p:sp>
      <p:sp>
        <p:nvSpPr>
          <p:cNvPr id="36" name="Text 34"/>
          <p:cNvSpPr/>
          <p:nvPr/>
        </p:nvSpPr>
        <p:spPr>
          <a:xfrm>
            <a:off x="5760720" y="43159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46520" y="43159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ends · PT+FR cohort live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33272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paying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760720" y="47000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46520" y="47000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+ spouse plans live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332720" y="47000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 paying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669280" y="5084064"/>
            <a:ext cx="6126480" cy="365760"/>
          </a:xfrm>
          <a:prstGeom prst="rect">
            <a:avLst/>
          </a:prstGeom>
          <a:solidFill>
            <a:srgbClr val="0B1E38"/>
          </a:solidFill>
          <a:ln/>
        </p:spPr>
      </p:sp>
      <p:sp>
        <p:nvSpPr>
          <p:cNvPr id="43" name="Text 41"/>
          <p:cNvSpPr/>
          <p:nvPr/>
        </p:nvSpPr>
        <p:spPr>
          <a:xfrm>
            <a:off x="5760720" y="50840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M9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46520" y="50840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+ IT communities · partner workshops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332720" y="50840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paying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760720" y="54681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M12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446520" y="54681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 close · ready for FR engine launch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332720" y="54681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paying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· two streams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56655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 · 13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94360"/>
            <a:ext cx="11094415" cy="10973"/>
          </a:xfrm>
          <a:prstGeom prst="rect">
            <a:avLst/>
          </a:prstGeom>
          <a:solidFill>
            <a:srgbClr val="1F3A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streams. </a:t>
            </a:r>
            <a:pPr indent="0" marL="0">
              <a:buNone/>
            </a:pPr>
            <a:r>
              <a:rPr lang="en-US" sz="3800" i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pays the operation. The other compounds.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609344" cy="365760"/>
          </a:xfrm>
          <a:prstGeom prst="rect">
            <a:avLst/>
          </a:prstGeom>
          <a:solidFill>
            <a:srgbClr val="0E2241"/>
          </a:solidFill>
          <a:ln w="6350">
            <a:solidFill>
              <a:srgbClr val="D4B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5740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gross margin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95144" y="2057400"/>
            <a:ext cx="2308860" cy="365760"/>
          </a:xfrm>
          <a:prstGeom prst="rect">
            <a:avLst/>
          </a:prstGeom>
          <a:solidFill>
            <a:srgbClr val="0E2241"/>
          </a:solidFill>
          <a:ln w="6350">
            <a:solidFill>
              <a:srgbClr val="D4B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86584" y="2057400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M18 cumulative break-even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41164" y="2057400"/>
            <a:ext cx="3474720" cy="365760"/>
          </a:xfrm>
          <a:prstGeom prst="rect">
            <a:avLst/>
          </a:prstGeom>
          <a:solidFill>
            <a:srgbClr val="0E2241"/>
          </a:solidFill>
          <a:ln w="6350">
            <a:solidFill>
              <a:srgbClr val="5FBC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32604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Y1 — paid acq. as Series A lever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353044" y="2057400"/>
            <a:ext cx="2542032" cy="365760"/>
          </a:xfrm>
          <a:prstGeom prst="rect">
            <a:avLst/>
          </a:prstGeom>
          <a:solidFill>
            <a:srgbClr val="0E2241"/>
          </a:solidFill>
          <a:ln w="6350">
            <a:solidFill>
              <a:srgbClr val="5FBC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44484" y="205740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Founder-funded to break-even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5486400" cy="3200400"/>
          </a:xfrm>
          <a:prstGeom prst="rect">
            <a:avLst/>
          </a:prstGeom>
          <a:solidFill>
            <a:srgbClr val="0E2241"/>
          </a:solidFill>
          <a:ln w="9525">
            <a:solidFill>
              <a:srgbClr val="D4B2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834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operation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2834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3154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flat monthly price.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35661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€4.99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822960" y="4343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  ·  or €49 / yr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46634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103120" y="4663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46634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churn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63440" y="4663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4983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 LTV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103120" y="4983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~€189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4983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paid subs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663440" y="4983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19,437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" y="5349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ARR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06240" y="5303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€1.08M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22960" y="5532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for trust, not for revenue. Real LTV comes from stream 02.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09360" y="2651760"/>
            <a:ext cx="5486400" cy="3200400"/>
          </a:xfrm>
          <a:prstGeom prst="rect">
            <a:avLst/>
          </a:prstGeom>
          <a:solidFill>
            <a:srgbClr val="0E2241"/>
          </a:solidFill>
          <a:ln w="9525">
            <a:solidFill>
              <a:srgbClr val="5FBC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2834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asset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14984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generation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83680" y="3154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compounding capital base.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83680" y="35661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5FBC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€125K</a:t>
            </a:r>
            <a:endParaRPr lang="en-US" sz="5600" dirty="0"/>
          </a:p>
        </p:txBody>
      </p:sp>
      <p:sp>
        <p:nvSpPr>
          <p:cNvPr id="36" name="Text 34"/>
          <p:cNvSpPr/>
          <p:nvPr/>
        </p:nvSpPr>
        <p:spPr>
          <a:xfrm>
            <a:off x="6583680" y="4343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capital / referred investor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83680" y="4663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→ investor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955280" y="4663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144000" y="4663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take rate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0515600" y="4663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583680" y="4983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cumulative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955280" y="4983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7,147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144000" y="4983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share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0515600" y="4983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→ 22%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583680" y="5349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F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ARR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966960" y="5303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FBC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€312K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6583680" y="5532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asset, not a flow. Compounds at 9% / year.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8640" y="6035040"/>
            <a:ext cx="11094415" cy="640080"/>
          </a:xfrm>
          <a:prstGeom prst="rect">
            <a:avLst/>
          </a:prstGeom>
          <a:solidFill>
            <a:srgbClr val="0E2241"/>
          </a:solidFill>
          <a:ln w="6350">
            <a:solidFill>
              <a:srgbClr val="D4B2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" y="6080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Y5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1520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€1.08M + €312K =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657600" y="6080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€1.39M</a:t>
            </a:r>
            <a:endParaRPr lang="en-US" sz="2800" dirty="0"/>
          </a:p>
        </p:txBody>
      </p:sp>
      <p:sp>
        <p:nvSpPr>
          <p:cNvPr id="52" name="Text 50"/>
          <p:cNvSpPr/>
          <p:nvPr/>
        </p:nvSpPr>
        <p:spPr>
          <a:xfrm>
            <a:off x="6400800" y="6217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break-even M18 · cumulative net €853K · upside scenario M13 / €2.91M ARR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 · revenue arc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56655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 · 14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94360"/>
            <a:ext cx="11094415" cy="10973"/>
          </a:xfrm>
          <a:prstGeom prst="rect">
            <a:avLst/>
          </a:prstGeom>
          <a:solidFill>
            <a:srgbClr val="1F3A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forty thousand </a:t>
            </a:r>
            <a:pPr indent="0" marL="0">
              <a:buNone/>
            </a:pPr>
            <a:r>
              <a:rPr lang="en-US" sz="3800" i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one point three nine.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 to Y5 ARR — subscription + lead-gen, compounding. Country corridors funded by founder capital + organic, not Series A.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2468880"/>
          <a:ext cx="7772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595360" y="2651760"/>
            <a:ext cx="3200400" cy="914400"/>
          </a:xfrm>
          <a:prstGeom prst="rect">
            <a:avLst/>
          </a:prstGeom>
          <a:solidFill>
            <a:srgbClr val="0E2241"/>
          </a:solidFill>
          <a:ln w="6350">
            <a:solidFill>
              <a:srgbClr val="D4B2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3252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€1.39M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732520" y="32186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total ARR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595360" y="3749040"/>
            <a:ext cx="3200400" cy="914400"/>
          </a:xfrm>
          <a:prstGeom prst="rect">
            <a:avLst/>
          </a:prstGeom>
          <a:solidFill>
            <a:srgbClr val="0E2241"/>
          </a:solidFill>
          <a:ln w="6350">
            <a:solidFill>
              <a:srgbClr val="5FBC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32520" y="3840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FBC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M18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732520" y="43159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break-even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595360" y="4846320"/>
            <a:ext cx="3200400" cy="914400"/>
          </a:xfrm>
          <a:prstGeom prst="rect">
            <a:avLst/>
          </a:prstGeom>
          <a:solidFill>
            <a:srgbClr val="0E2241"/>
          </a:solidFill>
          <a:ln w="6350">
            <a:solidFill>
              <a:srgbClr val="6BA8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32520" y="4937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A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€0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8732520" y="5413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capital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62636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expansion: €40–80K per market, funded by organic + founder capital. No external raise required to break-even.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· path to break-even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56655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min · 15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94360"/>
            <a:ext cx="11094415" cy="10973"/>
          </a:xfrm>
          <a:prstGeom prst="rect">
            <a:avLst/>
          </a:prstGeom>
          <a:solidFill>
            <a:srgbClr val="1F3A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trough is </a:t>
            </a:r>
            <a:pPr indent="0" marL="0">
              <a:buNone/>
            </a:pPr>
            <a:r>
              <a:rPr lang="en-US" sz="3800" i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thousand euros.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cash flow M0 → Y5. The base case bottoms at -€10K around M11; the upside case never crosses zero. Either path founder-funded.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2468880"/>
          <a:ext cx="7772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595360" y="2651760"/>
            <a:ext cx="3200400" cy="960120"/>
          </a:xfrm>
          <a:prstGeom prst="rect">
            <a:avLst/>
          </a:prstGeom>
          <a:solidFill>
            <a:srgbClr val="0E2241"/>
          </a:solidFill>
          <a:ln w="6350">
            <a:solidFill>
              <a:srgbClr val="E0A5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32520" y="2743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A5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-€10K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73252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trough at M11 (founder absorbs)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595360" y="3794760"/>
            <a:ext cx="3200400" cy="960120"/>
          </a:xfrm>
          <a:prstGeom prst="rect">
            <a:avLst/>
          </a:prstGeom>
          <a:solidFill>
            <a:srgbClr val="0E2241"/>
          </a:solidFill>
          <a:ln w="6350">
            <a:solidFill>
              <a:srgbClr val="5FBC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32520" y="3886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FBC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M14–M18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732520" y="4389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window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595360" y="4937760"/>
            <a:ext cx="3200400" cy="960120"/>
          </a:xfrm>
          <a:prstGeom prst="rect">
            <a:avLst/>
          </a:prstGeom>
          <a:solidFill>
            <a:srgbClr val="0E2241"/>
          </a:solidFill>
          <a:ln w="6350">
            <a:solidFill>
              <a:srgbClr val="D4B2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32520" y="5029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€2.1–4.2M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732520" y="5532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cumulative cash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48640" y="62636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 drivers: Pro tier ARPU lift · conversion 12% → 15% · lead-gen yield 0.03% → 0.05% · faster country-corridor activation.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· what we're betting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56655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 · 16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94360"/>
            <a:ext cx="11094415" cy="10973"/>
          </a:xfrm>
          <a:prstGeom prst="rect">
            <a:avLst/>
          </a:prstGeom>
          <a:solidFill>
            <a:srgbClr val="1F3A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hard decisions. </a:t>
            </a:r>
            <a:pPr indent="0" marL="0">
              <a:buNone/>
            </a:pPr>
            <a:r>
              <a:rPr lang="en-US" sz="3800" i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open questions.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believe — and what we'll know once we ship.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F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DECISIONS WE'VE MADE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577840" cy="1005840"/>
          </a:xfrm>
          <a:prstGeom prst="rect">
            <a:avLst/>
          </a:prstGeom>
          <a:solidFill>
            <a:srgbClr val="0E2241"/>
          </a:solidFill>
          <a:ln w="6350">
            <a:solidFill>
              <a:srgbClr val="5FBC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017520"/>
            <a:ext cx="54864" cy="1005840"/>
          </a:xfrm>
          <a:prstGeom prst="rect">
            <a:avLst/>
          </a:prstGeom>
          <a:solidFill>
            <a:srgbClr val="5FBCA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1089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€4.99, not €14.90.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42900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optimized for trust and lead-gen flywheel, not subscription ARPU. The Pricing-Analysis case for €14.90 is real; we believe the trust pricing wins long-term.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577840" cy="1005840"/>
          </a:xfrm>
          <a:prstGeom prst="rect">
            <a:avLst/>
          </a:prstGeom>
          <a:solidFill>
            <a:srgbClr val="0E2241"/>
          </a:solidFill>
          <a:ln w="6350">
            <a:solidFill>
              <a:srgbClr val="5FBC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160520"/>
            <a:ext cx="54864" cy="1005840"/>
          </a:xfrm>
          <a:prstGeom prst="rect">
            <a:avLst/>
          </a:prstGeom>
          <a:solidFill>
            <a:srgbClr val="5FBCA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519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outside capital, yet.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acquisition is reserved as a Series A lever. Y1 must prove organic demand. €10K founder absorption &lt; €230K seed dilution at this stage.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5577840" cy="1005840"/>
          </a:xfrm>
          <a:prstGeom prst="rect">
            <a:avLst/>
          </a:prstGeom>
          <a:solidFill>
            <a:srgbClr val="0E2241"/>
          </a:solidFill>
          <a:ln w="6350">
            <a:solidFill>
              <a:srgbClr val="5FBC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303520"/>
            <a:ext cx="54864" cy="1005840"/>
          </a:xfrm>
          <a:prstGeom prst="rect">
            <a:avLst/>
          </a:prstGeom>
          <a:solidFill>
            <a:srgbClr val="5FBCA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3949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Luxembourg, not Brussels or Berlin.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571500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density of multi-country pension fragmentation in Europe per capita. Smallest test bed. Best partnership network for our team.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55080" y="2606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A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WE'LL ANSWER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55080" y="3017520"/>
            <a:ext cx="5486400" cy="1005840"/>
          </a:xfrm>
          <a:prstGeom prst="rect">
            <a:avLst/>
          </a:prstGeom>
          <a:solidFill>
            <a:srgbClr val="0E2241"/>
          </a:solidFill>
          <a:ln w="6350">
            <a:solidFill>
              <a:srgbClr val="E0A5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3017520"/>
            <a:ext cx="54864" cy="1005840"/>
          </a:xfrm>
          <a:prstGeom prst="rect">
            <a:avLst/>
          </a:prstGeom>
          <a:solidFill>
            <a:srgbClr val="E0A55F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3108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Profile A actually pay €4.99/mo?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342900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as 'pay €1,000+ for clarity' in interviews. Subscription willingness untested. M3 cohort resolves this.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55080" y="4160520"/>
            <a:ext cx="5486400" cy="1005840"/>
          </a:xfrm>
          <a:prstGeom prst="rect">
            <a:avLst/>
          </a:prstGeom>
          <a:solidFill>
            <a:srgbClr val="0E2241"/>
          </a:solidFill>
          <a:ln w="6350">
            <a:solidFill>
              <a:srgbClr val="E0A5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5080" y="4160520"/>
            <a:ext cx="54864" cy="1005840"/>
          </a:xfrm>
          <a:prstGeom prst="rect">
            <a:avLst/>
          </a:prstGeom>
          <a:solidFill>
            <a:srgbClr val="E0A55F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4251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automate 22 of 28 services?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37960" y="457200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from competitive analysis. Engineering effort per market is real. Deliberate single-market start to derisk.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55080" y="5303520"/>
            <a:ext cx="5486400" cy="1005840"/>
          </a:xfrm>
          <a:prstGeom prst="rect">
            <a:avLst/>
          </a:prstGeom>
          <a:solidFill>
            <a:srgbClr val="0E2241"/>
          </a:solidFill>
          <a:ln w="6350">
            <a:solidFill>
              <a:srgbClr val="E0A5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5303520"/>
            <a:ext cx="54864" cy="1005840"/>
          </a:xfrm>
          <a:prstGeom prst="rect">
            <a:avLst/>
          </a:prstGeom>
          <a:solidFill>
            <a:srgbClr val="E0A55F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5394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partnerships convert below CAC?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37960" y="571500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LU institutions mapped, 6 named contacts in research. Conversion rate of warm intros at &lt; €15 CPA = path to break-even Y1.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B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&amp; close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56655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 · 17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94360"/>
            <a:ext cx="11094415" cy="10973"/>
          </a:xfrm>
          <a:prstGeom prst="rect">
            <a:avLst/>
          </a:prstGeom>
          <a:solidFill>
            <a:srgbClr val="1F3A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asks. </a:t>
            </a:r>
            <a:pPr indent="0" marL="0">
              <a:buNone/>
            </a:pPr>
            <a:r>
              <a:rPr lang="en-US" sz="3800" i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for money.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749040" cy="3108960"/>
          </a:xfrm>
          <a:prstGeom prst="rect">
            <a:avLst/>
          </a:prstGeom>
          <a:solidFill>
            <a:srgbClr val="0E2241"/>
          </a:solidFill>
          <a:ln w="6350">
            <a:solidFill>
              <a:srgbClr val="D4B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68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warm intro.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5661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identified the partners. We've drafted the partnerships. We need an email subject line that gets us into the room.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44805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Relocation, LU — LuxRelo · ERS · MMC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Tax calendar, CH — VIAC founders (Q4 deadline)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· EU institutions — EIB Staff Reps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34840" y="2286000"/>
            <a:ext cx="3749040" cy="3108960"/>
          </a:xfrm>
          <a:prstGeom prst="rect">
            <a:avLst/>
          </a:prstGeom>
          <a:solidFill>
            <a:srgbClr val="0E2241"/>
          </a:solidFill>
          <a:ln w="6350">
            <a:solidFill>
              <a:srgbClr val="D4B2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468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663440" y="3063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user. Or three referrals.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35661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Profile A — multi-country pension history, 10 to 20 years from retirement — be in the first cohort. If not, name three who are.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44805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thirty users become design partners.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data shapes the engines we build next.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(This is the M6–M9 cohort that resolves Question 1.)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321040" y="2286000"/>
            <a:ext cx="3749040" cy="3108960"/>
          </a:xfrm>
          <a:prstGeom prst="rect">
            <a:avLst/>
          </a:prstGeom>
          <a:solidFill>
            <a:srgbClr val="0E2241"/>
          </a:solidFill>
          <a:ln w="6350">
            <a:solidFill>
              <a:srgbClr val="D4B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2468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549640" y="3063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first call when we raise.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49640" y="35661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raising now. The €10K cash trough at M11 absorbs on founder capital. Cumulative break-even at M18.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49640" y="44805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raise — for paid-acquisition scaling, post-validation — first call to this room.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Pre-positioned cap table. No commitment. No timeline.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5577840"/>
            <a:ext cx="11094415" cy="914400"/>
          </a:xfrm>
          <a:prstGeom prst="rect">
            <a:avLst/>
          </a:prstGeom>
          <a:solidFill>
            <a:srgbClr val="0E2241"/>
          </a:solidFill>
          <a:ln w="6350">
            <a:solidFill>
              <a:srgbClr val="D4B2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6692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Mats finally sees his retirement. </a:t>
            </a:r>
            <a:pPr indent="0" marL="0">
              <a:buNone/>
            </a:pPr>
            <a:r>
              <a:rPr lang="en-US" sz="1400" i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Thirty more like him in our first month. </a:t>
            </a:r>
            <a:pPr indent="0" marL="0">
              <a:buNone/>
            </a:pPr>
            <a:r>
              <a:rPr lang="en-US" sz="1400" i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million across Europe by year five. </a:t>
            </a:r>
            <a:pPr indent="0" marL="0">
              <a:buNone/>
            </a:pPr>
            <a:r>
              <a:rPr lang="en-US" sz="1400" b="1" i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We'd love your help getting there.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61120" y="5715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Prevista.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961120" y="6126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B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future, foreseen.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Prevista — Pitch Deck</dc:title>
  <dc:subject>Cross-border pension tracker pitch</dc:subject>
  <dc:creator>Prevista</dc:creator>
  <cp:lastModifiedBy>Prevista</cp:lastModifiedBy>
  <cp:revision>1</cp:revision>
  <dcterms:created xsi:type="dcterms:W3CDTF">2026-05-08T20:23:51Z</dcterms:created>
  <dcterms:modified xsi:type="dcterms:W3CDTF">2026-05-08T20:23:51Z</dcterms:modified>
</cp:coreProperties>
</file>
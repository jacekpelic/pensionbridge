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2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323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Partnership Action Plan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Luxembourg-first sequencing: credibility anchors, community reach, and country expansion bridges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09470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2747"/>
                </a:solidFill>
              </a:rPr>
              <a:t>How we sequence partnership outreach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1643346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9A2B"/>
                </a:solidFill>
              </a:rPr>
              <a:t>1. </a:t>
            </a:r>
            <a:r>
              <a:rPr lang="en-US" sz="1250" dirty="0">
                <a:solidFill>
                  <a:srgbClr val="1F2937"/>
                </a:solidFill>
              </a:rPr>
              <a:t>Launch support first — Luxembourg institutions + France/Switzerland-linked partners for trust, visibility, and warm intros.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242058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9A2B"/>
                </a:solidFill>
              </a:rPr>
              <a:t>2. </a:t>
            </a:r>
            <a:r>
              <a:rPr lang="en-US" sz="1250" dirty="0">
                <a:solidFill>
                  <a:srgbClr val="1F2937"/>
                </a:solidFill>
              </a:rPr>
              <a:t>Customer reach second — use bilateral chambers, communities, and HR/startup channels to access target users in Luxembourg.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3243546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9A2B"/>
                </a:solidFill>
              </a:rPr>
              <a:t>3. </a:t>
            </a:r>
            <a:r>
              <a:rPr lang="en-US" sz="1250" dirty="0">
                <a:solidFill>
                  <a:srgbClr val="1F2937"/>
                </a:solidFill>
              </a:rPr>
              <a:t>Expansion bridges last — country associations are activated only when aligned with the product rollout timeline.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26280" y="1051560"/>
            <a:ext cx="2331720" cy="4480560"/>
          </a:xfrm>
          <a:prstGeom prst="roundRect">
            <a:avLst>
              <a:gd name="adj" fmla="val 3922"/>
            </a:avLst>
          </a:prstGeom>
          <a:solidFill>
            <a:srgbClr val="EAF1FB"/>
          </a:solidFill>
          <a:ln w="12700">
            <a:solidFill>
              <a:srgbClr val="D9DEE7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663440" y="1216152"/>
            <a:ext cx="2057400" cy="256032"/>
          </a:xfrm>
          <a:prstGeom prst="roundRect">
            <a:avLst>
              <a:gd name="adj" fmla="val 28571"/>
            </a:avLst>
          </a:prstGeom>
          <a:solidFill>
            <a:srgbClr val="DCE8FA"/>
          </a:solidFill>
          <a:ln w="12700">
            <a:solidFill>
              <a:srgbClr val="DCE8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36592" y="1271016"/>
            <a:ext cx="1911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747"/>
                </a:solidFill>
              </a:rPr>
              <a:t>Logo power / trust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90872" y="1600200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747"/>
                </a:solidFill>
              </a:rPr>
              <a:t>Credibility first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690872" y="2167128"/>
            <a:ext cx="73152" cy="73152"/>
          </a:xfrm>
          <a:prstGeom prst="ellipse">
            <a:avLst/>
          </a:prstGeom>
          <a:solidFill>
            <a:srgbClr val="C89A2B"/>
          </a:solidFill>
          <a:ln w="12700">
            <a:solidFill>
              <a:srgbClr val="C89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18888" y="210312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Luxembourg institutions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90872" y="2578608"/>
            <a:ext cx="73152" cy="73152"/>
          </a:xfrm>
          <a:prstGeom prst="ellipse">
            <a:avLst/>
          </a:prstGeom>
          <a:solidFill>
            <a:srgbClr val="C89A2B"/>
          </a:solidFill>
          <a:ln w="12700">
            <a:solidFill>
              <a:srgbClr val="C89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18888" y="251460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Major chambers &amp; hubs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90872" y="2990088"/>
            <a:ext cx="73152" cy="73152"/>
          </a:xfrm>
          <a:prstGeom prst="ellipse">
            <a:avLst/>
          </a:prstGeom>
          <a:solidFill>
            <a:srgbClr val="C89A2B"/>
          </a:solidFill>
          <a:ln w="12700">
            <a:solidFill>
              <a:srgbClr val="C89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18888" y="29260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Media and ecosystem anchors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90872" y="3794760"/>
            <a:ext cx="2002536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90872" y="3904488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</a:rPr>
              <a:t>Examples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90872" y="4114800"/>
            <a:ext cx="2002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Chambers, </a:t>
            </a:r>
            <a:r>
              <a:rPr lang="en-US" sz="1080" dirty="0" err="1">
                <a:solidFill>
                  <a:srgbClr val="1F2937"/>
                </a:solidFill>
              </a:rPr>
              <a:t>HoE</a:t>
            </a:r>
            <a:r>
              <a:rPr lang="en-US" sz="1080" dirty="0">
                <a:solidFill>
                  <a:srgbClr val="1F2937"/>
                </a:solidFill>
              </a:rPr>
              <a:t>, UEL, </a:t>
            </a:r>
            <a:r>
              <a:rPr lang="en-US" sz="1080" dirty="0" err="1">
                <a:solidFill>
                  <a:srgbClr val="1F2937"/>
                </a:solidFill>
              </a:rPr>
              <a:t>LHoFT</a:t>
            </a:r>
            <a:r>
              <a:rPr lang="en-US" sz="1080" dirty="0">
                <a:solidFill>
                  <a:srgbClr val="1F2937"/>
                </a:solidFill>
              </a:rPr>
              <a:t>, ABBL etc. 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7040880" y="1051560"/>
            <a:ext cx="2331720" cy="4480560"/>
          </a:xfrm>
          <a:prstGeom prst="roundRect">
            <a:avLst>
              <a:gd name="adj" fmla="val 3922"/>
            </a:avLst>
          </a:prstGeom>
          <a:solidFill>
            <a:srgbClr val="FBF6EA"/>
          </a:solidFill>
          <a:ln w="12700">
            <a:solidFill>
              <a:srgbClr val="D9DEE7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178040" y="1216152"/>
            <a:ext cx="2057400" cy="256032"/>
          </a:xfrm>
          <a:prstGeom prst="roundRect">
            <a:avLst>
              <a:gd name="adj" fmla="val 28571"/>
            </a:avLst>
          </a:prstGeom>
          <a:solidFill>
            <a:srgbClr val="F5E7BF"/>
          </a:solidFill>
          <a:ln w="12700">
            <a:solidFill>
              <a:srgbClr val="F5E7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251192" y="1271016"/>
            <a:ext cx="1911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747"/>
                </a:solidFill>
              </a:rPr>
              <a:t>Audience access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05472" y="1600200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747"/>
                </a:solidFill>
              </a:rPr>
              <a:t>Customer reach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205472" y="2167128"/>
            <a:ext cx="73152" cy="73152"/>
          </a:xfrm>
          <a:prstGeom prst="ellipse">
            <a:avLst/>
          </a:prstGeom>
          <a:solidFill>
            <a:srgbClr val="C89A2B"/>
          </a:solidFill>
          <a:ln w="12700">
            <a:solidFill>
              <a:srgbClr val="C89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33488" y="210312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Country communities in LU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205472" y="2578608"/>
            <a:ext cx="73152" cy="73152"/>
          </a:xfrm>
          <a:prstGeom prst="ellipse">
            <a:avLst/>
          </a:prstGeom>
          <a:solidFill>
            <a:srgbClr val="C89A2B"/>
          </a:solidFill>
          <a:ln w="12700">
            <a:solidFill>
              <a:srgbClr val="C89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33488" y="251460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Bilateral chambers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205472" y="2990088"/>
            <a:ext cx="73152" cy="73152"/>
          </a:xfrm>
          <a:prstGeom prst="ellipse">
            <a:avLst/>
          </a:prstGeom>
          <a:solidFill>
            <a:srgbClr val="C89A2B"/>
          </a:solidFill>
          <a:ln w="12700">
            <a:solidFill>
              <a:srgbClr val="C89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333488" y="292608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HR / startup / expat networks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205472" y="3794760"/>
            <a:ext cx="2002536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205472" y="3904488"/>
            <a:ext cx="2002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</a:rPr>
              <a:t>Examples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05472" y="4114800"/>
            <a:ext cx="2002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FR, CH Chamber, </a:t>
            </a:r>
            <a:r>
              <a:rPr lang="en-US" sz="1080" dirty="0" err="1">
                <a:solidFill>
                  <a:srgbClr val="1F2937"/>
                </a:solidFill>
              </a:rPr>
              <a:t>HRCommunity</a:t>
            </a:r>
            <a:r>
              <a:rPr lang="en-US" sz="1080" dirty="0">
                <a:solidFill>
                  <a:srgbClr val="1F2937"/>
                </a:solidFill>
              </a:rPr>
              <a:t>, FEDIL, </a:t>
            </a:r>
            <a:r>
              <a:rPr lang="en-US" sz="1080" dirty="0" err="1">
                <a:solidFill>
                  <a:srgbClr val="1F2937"/>
                </a:solidFill>
              </a:rPr>
              <a:t>HoST</a:t>
            </a:r>
            <a:r>
              <a:rPr lang="en-US" sz="1080" dirty="0">
                <a:solidFill>
                  <a:srgbClr val="1F2937"/>
                </a:solidFill>
              </a:rPr>
              <a:t>, ACA, CFA etc.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9555480" y="1051560"/>
            <a:ext cx="2148840" cy="4480560"/>
          </a:xfrm>
          <a:prstGeom prst="roundRect">
            <a:avLst>
              <a:gd name="adj" fmla="val 4255"/>
            </a:avLst>
          </a:prstGeom>
          <a:solidFill>
            <a:srgbClr val="EDF7F0"/>
          </a:solidFill>
          <a:ln w="12700">
            <a:solidFill>
              <a:srgbClr val="D9DEE7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9692640" y="1216152"/>
            <a:ext cx="1874520" cy="256032"/>
          </a:xfrm>
          <a:prstGeom prst="roundRect">
            <a:avLst>
              <a:gd name="adj" fmla="val 28571"/>
            </a:avLst>
          </a:prstGeom>
          <a:solidFill>
            <a:srgbClr val="D9F0DE"/>
          </a:solidFill>
          <a:ln w="12700">
            <a:solidFill>
              <a:srgbClr val="D9F0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765792" y="1271016"/>
            <a:ext cx="1728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747"/>
                </a:solidFill>
              </a:rPr>
              <a:t>Country timing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720072" y="1600200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2747"/>
                </a:solidFill>
              </a:rPr>
              <a:t>Expansion bridges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720072" y="2167128"/>
            <a:ext cx="73152" cy="73152"/>
          </a:xfrm>
          <a:prstGeom prst="ellipse">
            <a:avLst/>
          </a:prstGeom>
          <a:solidFill>
            <a:srgbClr val="C89A2B"/>
          </a:solidFill>
          <a:ln w="12700">
            <a:solidFill>
              <a:srgbClr val="C89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848088" y="21031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Only when corridor is live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720072" y="2578608"/>
            <a:ext cx="73152" cy="73152"/>
          </a:xfrm>
          <a:prstGeom prst="ellipse">
            <a:avLst/>
          </a:prstGeom>
          <a:solidFill>
            <a:srgbClr val="C89A2B"/>
          </a:solidFill>
          <a:ln w="12700">
            <a:solidFill>
              <a:srgbClr val="C89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848088" y="251460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Priority countries before backlog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9720072" y="2990088"/>
            <a:ext cx="73152" cy="73152"/>
          </a:xfrm>
          <a:prstGeom prst="ellipse">
            <a:avLst/>
          </a:prstGeom>
          <a:solidFill>
            <a:srgbClr val="C89A2B"/>
          </a:solidFill>
          <a:ln w="12700">
            <a:solidFill>
              <a:srgbClr val="C89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848088" y="292608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Defer lower-value logos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9720072" y="3794760"/>
            <a:ext cx="1819656" cy="0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720072" y="3904488"/>
            <a:ext cx="1819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</a:rPr>
              <a:t>Examples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720072" y="4114800"/>
            <a:ext cx="1819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1F2937"/>
                </a:solidFill>
              </a:rPr>
              <a:t>PT,ES, UK, IT chambers of commerce </a:t>
            </a:r>
          </a:p>
        </p:txBody>
      </p:sp>
      <p:sp>
        <p:nvSpPr>
          <p:cNvPr id="48" name="Text 46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747"/>
                </a:solidFill>
              </a:rPr>
              <a:t>Decision rule: we contact partners in the order that maximizes launch credibility first, customer acquisition second, and corridor expansion only when timed to the roadmap.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11480" y="644652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A7A"/>
                </a:solidFill>
              </a:rPr>
              <a:t>RetirAI · Partnership action plan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747"/>
          </a:solidFill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16459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Partnership Rollout Timeline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10972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Use the tracker as the working database; this slide shows only the execution sequence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3474720"/>
            <a:ext cx="10469880" cy="0"/>
          </a:xfrm>
          <a:prstGeom prst="line">
            <a:avLst/>
          </a:prstGeom>
          <a:noFill/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71600" y="3474720"/>
            <a:ext cx="0" cy="0"/>
          </a:xfrm>
          <a:prstGeom prst="line">
            <a:avLst/>
          </a:prstGeom>
          <a:noFill/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80160" y="3355848"/>
            <a:ext cx="182880" cy="182880"/>
          </a:xfrm>
          <a:prstGeom prst="ellipse">
            <a:avLst/>
          </a:prstGeom>
          <a:solidFill>
            <a:srgbClr val="C89A2B"/>
          </a:solidFill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141732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EAF1FB"/>
          </a:solidFill>
          <a:ln w="12700">
            <a:solidFill>
              <a:srgbClr val="D9DEE7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42416" y="1554480"/>
            <a:ext cx="1664208" cy="256032"/>
          </a:xfrm>
          <a:prstGeom prst="roundRect">
            <a:avLst>
              <a:gd name="adj" fmla="val 28571"/>
            </a:avLst>
          </a:prstGeom>
          <a:solidFill>
            <a:srgbClr val="EAF1FB"/>
          </a:solidFill>
          <a:ln w="12700">
            <a:solidFill>
              <a:srgbClr val="EAF1F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15568" y="1609344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747"/>
                </a:solidFill>
              </a:rPr>
              <a:t>Weeks 1–4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51560" y="1874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747"/>
                </a:solidFill>
              </a:rPr>
              <a:t>Launch support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1579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89A2B"/>
                </a:solidFill>
              </a:rPr>
              <a:t>LU + FR + CH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60704" y="2404872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F2937"/>
                </a:solidFill>
              </a:rPr>
              <a:t>Luxembourg institutions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1F2937"/>
                </a:solidFill>
              </a:rPr>
              <a:t>France &amp; Switzerland-linked partners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1F2937"/>
                </a:solidFill>
              </a:rPr>
              <a:t>Goal: trust, visibility, warm intros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3520440" y="3474720"/>
            <a:ext cx="0" cy="0"/>
          </a:xfrm>
          <a:prstGeom prst="line">
            <a:avLst/>
          </a:prstGeom>
          <a:noFill/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29000" y="3355848"/>
            <a:ext cx="182880" cy="182880"/>
          </a:xfrm>
          <a:prstGeom prst="ellipse">
            <a:avLst/>
          </a:prstGeom>
          <a:solidFill>
            <a:srgbClr val="C89A2B"/>
          </a:solidFill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063240" y="141732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BF6EA"/>
          </a:solidFill>
          <a:ln w="12700">
            <a:solidFill>
              <a:srgbClr val="D9DEE7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191256" y="1554480"/>
            <a:ext cx="1664208" cy="256032"/>
          </a:xfrm>
          <a:prstGeom prst="roundRect">
            <a:avLst>
              <a:gd name="adj" fmla="val 28571"/>
            </a:avLst>
          </a:prstGeom>
          <a:solidFill>
            <a:srgbClr val="FBF6EA"/>
          </a:solidFill>
          <a:ln w="12700">
            <a:solidFill>
              <a:srgbClr val="FBF6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64408" y="1609344"/>
            <a:ext cx="1517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dirty="0">
                <a:solidFill>
                  <a:srgbClr val="0F2747"/>
                </a:solidFill>
              </a:rPr>
              <a:t>Months 11–12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0" y="1874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F2747"/>
                </a:solidFill>
              </a:rPr>
              <a:t>Portugal wave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200400" y="215798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C89A2B"/>
                </a:solidFill>
              </a:rPr>
              <a:t>PT · Y1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09544" y="2404872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960" dirty="0">
                <a:solidFill>
                  <a:srgbClr val="1F2937"/>
                </a:solidFill>
              </a:rPr>
              <a:t>Portugal-linked partners</a:t>
            </a:r>
            <a:endParaRPr lang="en-US" sz="960" dirty="0"/>
          </a:p>
          <a:p>
            <a:pPr algn="ctr"/>
            <a:r>
              <a:rPr lang="en-US" sz="960" dirty="0">
                <a:solidFill>
                  <a:srgbClr val="1F2937"/>
                </a:solidFill>
              </a:rPr>
              <a:t>Prepare first external corridor</a:t>
            </a:r>
            <a:endParaRPr lang="en-US" sz="960" dirty="0"/>
          </a:p>
          <a:p>
            <a:pPr algn="ctr"/>
            <a:r>
              <a:rPr lang="en-US" sz="960" dirty="0">
                <a:solidFill>
                  <a:srgbClr val="1F2937"/>
                </a:solidFill>
              </a:rPr>
              <a:t>Goal: PT community activation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5669280" y="3474720"/>
            <a:ext cx="0" cy="0"/>
          </a:xfrm>
          <a:prstGeom prst="line">
            <a:avLst/>
          </a:prstGeom>
          <a:noFill/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577840" y="3355848"/>
            <a:ext cx="182880" cy="182880"/>
          </a:xfrm>
          <a:prstGeom prst="ellipse">
            <a:avLst/>
          </a:prstGeom>
          <a:solidFill>
            <a:srgbClr val="C89A2B"/>
          </a:solidFill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212080" y="1417320"/>
            <a:ext cx="2011680" cy="1600200"/>
          </a:xfrm>
          <a:prstGeom prst="roundRect">
            <a:avLst>
              <a:gd name="adj" fmla="val 4571"/>
            </a:avLst>
          </a:prstGeom>
          <a:solidFill>
            <a:srgbClr val="FCE8E6"/>
          </a:solidFill>
          <a:ln w="12700">
            <a:solidFill>
              <a:srgbClr val="D9DEE7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340096" y="1554480"/>
            <a:ext cx="1755648" cy="256032"/>
          </a:xfrm>
          <a:prstGeom prst="roundRect">
            <a:avLst>
              <a:gd name="adj" fmla="val 28571"/>
            </a:avLst>
          </a:prstGeom>
          <a:solidFill>
            <a:srgbClr val="FCE8E6"/>
          </a:solidFill>
          <a:ln w="12700">
            <a:solidFill>
              <a:srgbClr val="FCE8E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413248" y="1609344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747"/>
                </a:solidFill>
              </a:rPr>
              <a:t>Months 19–20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349240" y="18745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0F2747"/>
                </a:solidFill>
              </a:rPr>
              <a:t>Spain wave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49240" y="215798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C89A2B"/>
                </a:solidFill>
              </a:rPr>
              <a:t> ES  · Y1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58384" y="2404872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F2937"/>
                </a:solidFill>
              </a:rPr>
              <a:t>Spain-linked partners</a:t>
            </a:r>
            <a:endParaRPr lang="en-US" sz="960" dirty="0"/>
          </a:p>
          <a:p>
            <a:pPr algn="ctr"/>
            <a:r>
              <a:rPr lang="en-US" sz="960" dirty="0">
                <a:solidFill>
                  <a:srgbClr val="1F2937"/>
                </a:solidFill>
              </a:rPr>
              <a:t>Prepare next corridor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1F2937"/>
                </a:solidFill>
              </a:rPr>
              <a:t>Goal: ES community activation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7863840" y="3474720"/>
            <a:ext cx="0" cy="0"/>
          </a:xfrm>
          <a:prstGeom prst="line">
            <a:avLst/>
          </a:prstGeom>
          <a:noFill/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772400" y="3355848"/>
            <a:ext cx="182880" cy="182880"/>
          </a:xfrm>
          <a:prstGeom prst="ellipse">
            <a:avLst/>
          </a:prstGeom>
          <a:solidFill>
            <a:srgbClr val="C89A2B"/>
          </a:solidFill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406640" y="141732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EFE8FB"/>
          </a:solidFill>
          <a:ln w="12700">
            <a:solidFill>
              <a:srgbClr val="D9DEE7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534656" y="1554480"/>
            <a:ext cx="1572768" cy="256032"/>
          </a:xfrm>
          <a:prstGeom prst="roundRect">
            <a:avLst>
              <a:gd name="adj" fmla="val 28571"/>
            </a:avLst>
          </a:prstGeom>
          <a:solidFill>
            <a:srgbClr val="EFE8FB"/>
          </a:solidFill>
          <a:ln w="12700">
            <a:solidFill>
              <a:srgbClr val="EFE8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607808" y="1609344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747"/>
                </a:solidFill>
              </a:rPr>
              <a:t>Weeks 27–28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543800" y="18745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747"/>
                </a:solidFill>
              </a:rPr>
              <a:t>UK wave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43800" y="21579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89A2B"/>
                </a:solidFill>
              </a:rPr>
              <a:t>UK · Y1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552944" y="240487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F2937"/>
                </a:solidFill>
              </a:rPr>
              <a:t>British Chamber</a:t>
            </a:r>
            <a:endParaRPr lang="en-US" sz="960" dirty="0"/>
          </a:p>
          <a:p>
            <a:pPr algn="ctr"/>
            <a:r>
              <a:rPr lang="en-US" sz="960" dirty="0">
                <a:solidFill>
                  <a:srgbClr val="1F2937"/>
                </a:solidFill>
              </a:rPr>
              <a:t>Prepare next corridor</a:t>
            </a:r>
            <a:endParaRPr lang="en-US" sz="960" dirty="0"/>
          </a:p>
          <a:p>
            <a:pPr algn="ctr"/>
            <a:r>
              <a:rPr lang="en-US" sz="960" dirty="0">
                <a:solidFill>
                  <a:srgbClr val="1F2937"/>
                </a:solidFill>
              </a:rPr>
              <a:t>Goal: market-entry bridge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9875520" y="3474720"/>
            <a:ext cx="0" cy="0"/>
          </a:xfrm>
          <a:prstGeom prst="line">
            <a:avLst/>
          </a:prstGeom>
          <a:noFill/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784080" y="3355848"/>
            <a:ext cx="182880" cy="182880"/>
          </a:xfrm>
          <a:prstGeom prst="ellipse">
            <a:avLst/>
          </a:prstGeom>
          <a:solidFill>
            <a:srgbClr val="C89A2B"/>
          </a:solidFill>
          <a:ln w="12700">
            <a:solidFill>
              <a:srgbClr val="0F27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418320" y="1417320"/>
            <a:ext cx="1828800" cy="1600200"/>
          </a:xfrm>
          <a:prstGeom prst="roundRect">
            <a:avLst>
              <a:gd name="adj" fmla="val 4571"/>
            </a:avLst>
          </a:prstGeom>
          <a:solidFill>
            <a:srgbClr val="EDF7F0"/>
          </a:solidFill>
          <a:ln w="12700">
            <a:solidFill>
              <a:srgbClr val="D9DEE7"/>
            </a:solidFill>
            <a:prstDash val="solid"/>
          </a:ln>
          <a:effectLst>
            <a:outerShdw blurRad="127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546336" y="1554480"/>
            <a:ext cx="1572768" cy="256032"/>
          </a:xfrm>
          <a:prstGeom prst="roundRect">
            <a:avLst>
              <a:gd name="adj" fmla="val 28571"/>
            </a:avLst>
          </a:prstGeom>
          <a:solidFill>
            <a:srgbClr val="EDF7F0"/>
          </a:solidFill>
          <a:ln w="12700">
            <a:solidFill>
              <a:srgbClr val="EDF7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619488" y="1609344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747"/>
                </a:solidFill>
              </a:rPr>
              <a:t>Weeks 35–36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555480" y="18745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747"/>
                </a:solidFill>
              </a:rPr>
              <a:t>Italy wave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555480" y="215798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89A2B"/>
                </a:solidFill>
              </a:rPr>
              <a:t>IT · Y1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564624" y="2404872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F2937"/>
                </a:solidFill>
              </a:rPr>
              <a:t>Italy-linked partners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1F2937"/>
                </a:solidFill>
              </a:rPr>
              <a:t>Prepare next corridor</a:t>
            </a:r>
            <a:endParaRPr lang="en-US" sz="960" dirty="0"/>
          </a:p>
          <a:p>
            <a:pPr marL="0" indent="0" algn="ctr">
              <a:buNone/>
            </a:pPr>
            <a:r>
              <a:rPr lang="en-US" sz="960" dirty="0">
                <a:solidFill>
                  <a:srgbClr val="1F2937"/>
                </a:solidFill>
              </a:rPr>
              <a:t>Goal: market-entry bridge</a:t>
            </a:r>
            <a:endParaRPr lang="en-US" sz="960" dirty="0"/>
          </a:p>
        </p:txBody>
      </p:sp>
      <p:sp>
        <p:nvSpPr>
          <p:cNvPr id="46" name="Shape 44"/>
          <p:cNvSpPr/>
          <p:nvPr/>
        </p:nvSpPr>
        <p:spPr>
          <a:xfrm>
            <a:off x="868680" y="4572000"/>
            <a:ext cx="512064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051560" y="4773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7"/>
                </a:solidFill>
              </a:rPr>
              <a:t>Key sequencing rule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051560" y="50292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We do not activate all country associations at once. Outreach is aligned to product readiness and the corridor roadmap, so effort stays concentrated and credible.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263640" y="4572000"/>
            <a:ext cx="4983480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446520" y="47731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747"/>
                </a:solidFill>
              </a:rPr>
              <a:t>Deferred / backlog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446520" y="5029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</a:rPr>
              <a:t>Lower-priority country associations stay warm in the tracker, but they move only after launch-country and Y1 expansion priorities are covered.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11480" y="6446520"/>
            <a:ext cx="11155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A7A7A"/>
                </a:solidFill>
              </a:rPr>
              <a:t>RetirAI · Partnership rollout aligned to launch and expansion timing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385</Words>
  <Application>Microsoft Macintosh PowerPoint</Application>
  <PresentationFormat>Widescreen</PresentationFormat>
  <Paragraphs>68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Aptos Display</vt:lpstr>
      <vt:lpstr>Arial</vt:lpstr>
      <vt:lpstr>Office Theme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RetirAI Partnership Action Plan</dc:title>
  <dc:subject>RetirAI partnership action plan</dc:subject>
  <dc:creator>OpenAI</dc:creator>
  <cp:lastModifiedBy>Nataliia Kozakevych</cp:lastModifiedBy>
  <cp:revision>3</cp:revision>
  <dcterms:created xsi:type="dcterms:W3CDTF">2026-04-11T13:08:01Z</dcterms:created>
  <dcterms:modified xsi:type="dcterms:W3CDTF">2026-04-11T13:30:50Z</dcterms:modified>
</cp:coreProperties>
</file>
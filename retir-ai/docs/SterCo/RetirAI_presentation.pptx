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90" r:id="rId10"/>
    <p:sldId id="303" r:id="rId11"/>
    <p:sldId id="310" r:id="rId12"/>
    <p:sldId id="311" r:id="rId13"/>
    <p:sldId id="312"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1" d="100"/>
          <a:sy n="151" d="100"/>
        </p:scale>
        <p:origin x="65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4115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Hand the deck to the room. Wait a beat. Then move to the problem statement on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17 million EU citizens currently living in a member state other than their own. Most of them have worked in two or more countries. Almost none of them have a complete picture of their retirement.
Why? Four reasons.
First: pensions are fragmented. 27 member states, 27 systems. EU coordination rules portability but doesn't aggregate.
Second: government tools don't aggregate. Each country has its own extract. None combine across borders.
Third: private tools don't cover Europe. US tools like Boldin handle the US stack. No private tool currently does EU multi-country with corridor-level accuracy.
Fourth: advisors are 92 to 97 percent more expensive. €500-2,000 per consultation. Most cross-border workers can't justify it.
Result: they don't plan. They discover their gap at 65 when it's too late.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products, one funnel.
Calculator: standalone, free, public. Multi-country pension estimate from a few career details. No signup. Drives organic SEO via long-tail pension queries. CTAs evolve from "join the wishlist" in Phase minus one to "email report" plus direct redirect in Phase 1.
Platform: the full product. Free tier plus Pro at €14.90 a month. Eight modules: Dashboard, Career timeline, Payout estimation, Vault, Simulation, Radar, Family, Chat. Each module has a free tier and most have a Pro tier — slide 4 covers the split in detail.
The vault is one module among eight. It's strategically important because it's where document data accumulates and creates switching cost. But it's not a separate product — it's a feature inside the platform.
Powered by 29 country pension engines that the technical co-founder builds over 5 years. LU, FR, and CH live at M1 — that's the launch trio.
Funnel: calculator brings users in (acquisition). Platform converts them to paid (monetisation) and locks them in (retention through accumulated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Freemium principle: "See your situation" is free, "Act on your situation" is paid.
Free: dashboard, career timeline, payout estimation across all pillars, unlimited vault uploads, AI extraction, simulation controls, module previews, general Q&amp;A.
Pro: cross-referencing, correction workflow, monitoring, dossier export, family sharing, tax breakdown + PPP + capital modeller, personalized AI chat.
The split is strategic: data accumulation is the moat. Every document upload increases switching cost. We do not paywall anything that drives uploads.
Pro converts engaged users who have built up their vault and now want ongoing intelligence on top of that data.
Every free user who never converts still has €4.50 lead-gen LTV, which subsidises the effective CAC across the entire user 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Luxembourg first.
48% of Luxembourg's residents are foreign-born — highest in the EU. The cross-border pension problem isn't a niche here, it's the default.
Addressable market sized at 130-150K individuals from STATEC data, discounted for second-generation residents and excluding frontaliers.
Frontaliers matter to mention because people get this confused. A German commuting from Germany to a job in Luxembourg has all their pension contributions in Luxembourg — no multi-country problem. Our target is people who relocated.
The 17M Eurostat number is the ceiling. EU citizens currently living in a member state other than their own. That's what we get to address by year 5 with all 29 country engines live.
Phase −1 is specifically designed to measure whether our addressable estimate is right before we spend a euro of seed capital. If the wishlist doesn't grow at the rate we expect, we adjust before raising, not after.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consumer SaaS plans assume the funnel exists from day one. We're sequencing this deliberately — build it in three steps, validate each step before the next.
Phase -1 is the calculator. We can ship it today using LU/FR/CH engines we already have. CTA is "join the wishlist" — no platform yet, no commitment beyond an email.
Three months of Phase -1 gets us about 450 wishlist signups in the LU beachhead. First proof: do people care enough to give us their email?
Phase 1: platform launches, wishlist activates (warm signups convert at 40-60% vs cold organic), calculator CTAs evolve to (1) detailed email report = marketing consent → drip campaign, and (2) direct redirect to signup.
Phase 1 runs on organic only. No paid spend. The point is to validate conversion rates, not to scale.
Phase 2: seed deploys at M7. Paid acquisition + BD partnerships layer on top of a funnel we've already proven. Not raising to figure out the model — raising to scale a model that's already producing measured numbers.
By the time the seed deploys, we have 6 months of platform metrics and 9 months of calculator metrics. Investors get to underwrite measured reality.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insight nobody else has.
The cross-border pension problem exists along migration corridors. Each engine we ship unlocks bilateral corridors with every already-supported country.
Take Portugal: if we add it when only LU is supported, we unlock the PT-LU corridor — about 56,000 multi-country pension holders.
If we add Portugal when LU + FR + CH are all supported, we also unlock FR-PT (358,000 Portuguese in France) and CH-PT (151,000 Portuguese in Switzerland). Total: 565,000.
Same engine. Same engineering work. Ten times the marginal TAM. Just because of what was supported when it shipped.
This is why our launch trio matters. We ship LU, FR, and CH together at M1, not sequentially. By M3 when we add PT, we already have three countries to corridor against.
The full schedule is greedy TAM-maximizing — at every step we ship the engine that unlocks the largest combined corridor population.
And one more thing: the corridor logic is what makes this defensible. A US tool like Boldin can't just "add Europe" — they'd need to build 29 country engines AND know which corridors to ship in which order. Sequence is the moat.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geographic expansion plan, end to end.
Phase -1 on the far left: calculator live but no engines built specifically for it. Wishlist accumulates.
Month one: launch. Three engines simultaneously — LU, FR, CH. LU is our beachhead. FR is the largest expat group living in Luxembourg. CH is the highest-value pension market in Europe — non-EU, third-pillar, premium positioning.
Year one is quarterly: PT M3, ES M6, UK M9, IT M12. By M12 we have 7 engines and 1.36M addressable.
Year two: the German hub at M13. Single most consequential month in the entire plan. DE-PL (1.18M Polish workers in Germany), DE-IT (413K Italians), DE-RO (454K Romanians). Addressable jumps from 1.36M to over 7M in three months.
From there, ~2-month cadence through Y3, Y4, Y5. Central Europe, Mediterranean, Nordic, Baltic — small markets last.
By M58, every EU member state plus UK and Switzerland. ~12M addressable across the entire European cross-border pension landscape.
Order matters. Adding PT when only LU is supported unlocks 56K. Adding PT when LU + FR + CH are supported unlocks 565K. Same engine, 10× the TAM. The whole sequence is greedy TAM-maximizing.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decks show one LTV:CAC ratio and skip the math. We're showing the math because the math defends the business.
Subscription LTV: 33 months at €14.90. €492.
Lead gen LTV: small per signup but real. 3% of all platform users invest through a referral. Each investor produces about €150 over a 10-year holding period. €4.50 per signup.
Blended expected value of a signup: €63.54. Modeled paid CAC: €40. Per-signup LTV:CAC = 1.6×.
Honest framing: 1.6× is below the conventional 3× target. We're not going to pretend otherwise.
But: paid acquisition is roughly 10% of total signups in this model. Organic and partnerships do most of the work. Blended channel economics are much healthier.
Per-paying-sub: €40 / 12% = €333 effective CAC vs €492 sub LTV = 1.48×. Subscription revenue alone covers acquisition with margin.
These are conservative parameters. €40 CAC is the high end for niche keywords with no competitive bidding. 3% churn is below median for the financial tools category. CPC optimization, landing page iteration, retargeting are all realistic paths to 2.5-3× within 12 months of launch.
The honest framing is the strong framing here. If we showed a fake 3.7× and someone runs the math, we look bad. We show the real 1.6× and explain why it's defensible.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5 base scenario: €3.67M total ARR. 21,221 paying subscribers across 29 country engines.
Three things to notice.
First: Year 1 isn't cold-start. Phase -1 builds a wishlist of ~450 warm signups, 40% of whom activate in M1. Measured demand, not zero.
Second: YoY growth ratios. Year 2 is 7.7× — that's the German hub at M13, single largest TAM unlock. Then 2.6×, 1.6×, 1.3×. Natural shape of a SaaS business maturing into existing markets.
Third: capital under referral at the bottom. €425M by Year 5. Lead gen revenue is small as a percentage of total but compounding pure margin — €127K/yr by Y5, growing on its own without acquisition spend.
€3.67M is our committed base. Upside scenario hits €7.22M with defensible parameter shifts — slide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explains why our seed pitch is structurally different from most seed pitches you'll see.
Most decks at this stage show a P&amp;L chart that doesn't cross zero for years. We don't have that slide because we don't have that problem.
Cumulative cash balance, base scenario, M1 to M60.
M1 to M6: bootstrap. Tiny revenue, small operating costs. Founder self-funded. Cash balance ticks slightly negative.
M7: seed arrives. €230K. Cash jumps.
M7 to ~M14: cash falls as paid acquisition ramps faster than revenue. Peak deficit around M14 — about €24K spent from the seed at the lowest point. We still have ~€206K in the bank.
M16: monthly break-even. Operating revenue exceeds monthly costs. Slope changes from negative to positive.
M20: cumulative break-even. The line crosses back through €230K — fully recovered. Every euro of seed plus all bootstrap losses, recovered.
Then because there's no second raise required, the cash compounds. By Year 5: +€4.08M cumulative.
The point: cumulative break-even at M20, four months before the seed runway would have ended. The seed isn't financing a runway. The seed is financing a bridge to a self-sustaining business. Series A becomes optional, not survival.
That's an unusual story at seed stage and it's the single biggest reason we believe this round is the right round to lead.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streams. Different mechanics. Different timescales.
Stream 1: subscriptions. €14.90/mo. Standard SaaS metric. €492 LTV at 33-month lifetime. 96% of total ARR. This is the headline business.
Stream 2: lead gen. 0.03% trailing commission on capital that users invest through our product referrals. Each investor produces ~€150 over a 10-year holding period.
The interesting thing about stream 2 is it compounds. Every cohort of investors keeps paying for as long as their capital stays invested. New cohorts add to the base. Existing capital grows with contributions and market returns.
Capital under referral by year: Y1 €6.6M, Y2 €54.9M, Y3 €157.4M, Y4 €283.6M, Y5 €425M.
By Y5 lead gen produces €127K/yr. Small as a percentage of total ARR (about 4%) but pure margin, no ongoing acquisition cost.
And here's the long game: even if user acquisition stopped at Y5, the capital under referral would keep growing at ~5% per year through contributions and market returns. By Y10, ~€545M. By Y15 with new acquisition, €950M+. The lead gen revenue stream becomes a structural asset.
The framing for investors: subscriptions monetise the present. Lead gen monetises the past.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scenarios. Base is what we're committing to. Upside is what we expect with realistic post-launch tuning.
Base: €3.67M Y5 ARR, 21,221 subs.
Upside: €7.22M Y5 ARR, 42,128 subs.
The four parameter shifts that produce the upside:
1. Per-signup CAC drops from €40 to €30. This happens when we optimize CPC, improve landing page conversion, and add retargeting. Niche keywords with no competitive bidding push the floor lower.
2. Paid signup-to-paid conversion goes from 12% to 15%. Better in-product upgrade prompts, better gap-surfacing UX.
3. Monthly churn drops from 3% to 2.5%. Multi-year pension context already gives us high retention. Vault data lock-in compounds it.
4. Active distribution partnerships at Y5 grow from 20 to 30. Faster BD ramp once core launch markets are proven.
None of these require heroics. Each is individually defensible from a measured Phase 1 baseline.
The framing matters: upside isn't a stretch goal. Upside is the model with parameters we expect to actually hit post-launch.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€230K, two line items only.
€180K for paid acquisition. Budget ramps from €3K/mo at M7 to €25K/mo by M60. ~4,500 additional platform signups at €40 CAC. ~540 paid subs at 12% conversion. ~€96K additional subscription ARR over 5 years plus compounding lead gen.
€50K for content and SEO acceleration. Multi-language landing pages per migration corridor.
Excluded from the seed: co-founder salaries, engine development, BD partnerships, legal entity, infrastructure, ongoing ops. All funded by equity and founder labor.
Framing: by the time the seed deploys at M7, the calculator has been live 9 months (3 of Phase -1 + 6 of Phase 1), platform live 6 months. We have measured conversion rates, an active user base, an activated wishlist, and corridors with real traffic.
The seed isn't bridging us across a chasm of unknown unit economics. The seed pours fuel on a measured fire. Those €40 of paid spend become one platform signup with confidence — we proved the funnel rates in Phase 1 without spending a euro of investor capital.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D1257"/>
          </a:solidFill>
          <a:ln w="12700">
            <a:solidFill>
              <a:srgbClr val="3D1257"/>
            </a:solidFill>
            <a:prstDash val="solid"/>
          </a:ln>
        </p:spPr>
        <p:txBody>
          <a:bodyPr/>
          <a:lstStyle/>
          <a:p>
            <a:endParaRPr lang="pl-PL"/>
          </a:p>
        </p:txBody>
      </p:sp>
      <p:sp>
        <p:nvSpPr>
          <p:cNvPr id="3" name="Shape 1"/>
          <p:cNvSpPr/>
          <p:nvPr/>
        </p:nvSpPr>
        <p:spPr>
          <a:xfrm>
            <a:off x="0" y="1554480"/>
            <a:ext cx="12191695" cy="45720"/>
          </a:xfrm>
          <a:prstGeom prst="rect">
            <a:avLst/>
          </a:prstGeom>
          <a:solidFill>
            <a:srgbClr val="7030A0"/>
          </a:solidFill>
          <a:ln w="12700">
            <a:solidFill>
              <a:srgbClr val="7030A0"/>
            </a:solidFill>
            <a:prstDash val="solid"/>
          </a:ln>
        </p:spPr>
        <p:txBody>
          <a:bodyPr/>
          <a:lstStyle/>
          <a:p>
            <a:endParaRPr lang="pl-PL"/>
          </a:p>
        </p:txBody>
      </p:sp>
      <p:sp>
        <p:nvSpPr>
          <p:cNvPr id="4" name="Text 2"/>
          <p:cNvSpPr/>
          <p:nvPr/>
        </p:nvSpPr>
        <p:spPr>
          <a:xfrm>
            <a:off x="0" y="1737360"/>
            <a:ext cx="12191695" cy="1463040"/>
          </a:xfrm>
          <a:prstGeom prst="rect">
            <a:avLst/>
          </a:prstGeom>
          <a:noFill/>
          <a:ln/>
        </p:spPr>
        <p:txBody>
          <a:bodyPr wrap="square" rtlCol="0" anchor="ctr"/>
          <a:lstStyle/>
          <a:p>
            <a:pPr marL="0" indent="0" algn="ctr">
              <a:buNone/>
            </a:pPr>
            <a:r>
              <a:rPr lang="en-US" sz="8800" b="1" dirty="0">
                <a:solidFill>
                  <a:srgbClr val="FFFFFF"/>
                </a:solidFill>
                <a:latin typeface="Calibri" pitchFamily="34" charset="0"/>
                <a:ea typeface="Calibri" pitchFamily="34" charset="-122"/>
                <a:cs typeface="Calibri" pitchFamily="34" charset="-120"/>
              </a:rPr>
              <a:t>RetirAI</a:t>
            </a:r>
            <a:endParaRPr lang="en-US" sz="8800" dirty="0"/>
          </a:p>
        </p:txBody>
      </p:sp>
      <p:sp>
        <p:nvSpPr>
          <p:cNvPr id="5" name="Text 3"/>
          <p:cNvSpPr/>
          <p:nvPr/>
        </p:nvSpPr>
        <p:spPr>
          <a:xfrm>
            <a:off x="0" y="3291840"/>
            <a:ext cx="12191695" cy="548640"/>
          </a:xfrm>
          <a:prstGeom prst="rect">
            <a:avLst/>
          </a:prstGeom>
          <a:noFill/>
          <a:ln/>
        </p:spPr>
        <p:txBody>
          <a:bodyPr wrap="square" rtlCol="0" anchor="ctr"/>
          <a:lstStyle/>
          <a:p>
            <a:pPr marL="0" indent="0" algn="ctr">
              <a:buNone/>
            </a:pPr>
            <a:r>
              <a:rPr lang="en-US" sz="2400" i="1" dirty="0">
                <a:solidFill>
                  <a:srgbClr val="E8D5F5"/>
                </a:solidFill>
                <a:latin typeface="Calibri" pitchFamily="34" charset="0"/>
                <a:ea typeface="Calibri" pitchFamily="34" charset="-122"/>
                <a:cs typeface="Calibri" pitchFamily="34" charset="-120"/>
              </a:rPr>
              <a:t>Cross-border pensions, finally solved.</a:t>
            </a:r>
            <a:endParaRPr lang="en-US" sz="2400" dirty="0"/>
          </a:p>
        </p:txBody>
      </p:sp>
      <p:sp>
        <p:nvSpPr>
          <p:cNvPr id="6" name="Text 4"/>
          <p:cNvSpPr/>
          <p:nvPr/>
        </p:nvSpPr>
        <p:spPr>
          <a:xfrm>
            <a:off x="0" y="4023360"/>
            <a:ext cx="12191695"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The platform for the 17M EU mobile workers nobody is serving.</a:t>
            </a:r>
            <a:endParaRPr lang="en-US" sz="1600" dirty="0"/>
          </a:p>
        </p:txBody>
      </p:sp>
      <p:sp>
        <p:nvSpPr>
          <p:cNvPr id="7" name="Shape 5"/>
          <p:cNvSpPr/>
          <p:nvPr/>
        </p:nvSpPr>
        <p:spPr>
          <a:xfrm>
            <a:off x="0" y="5943600"/>
            <a:ext cx="12191695" cy="914400"/>
          </a:xfrm>
          <a:prstGeom prst="rect">
            <a:avLst/>
          </a:prstGeom>
          <a:solidFill>
            <a:srgbClr val="7030A0"/>
          </a:solidFill>
          <a:ln w="12700">
            <a:solidFill>
              <a:srgbClr val="7030A0"/>
            </a:solidFill>
            <a:prstDash val="solid"/>
          </a:ln>
        </p:spPr>
        <p:txBody>
          <a:bodyPr/>
          <a:lstStyle/>
          <a:p>
            <a:endParaRPr lang="pl-PL"/>
          </a:p>
        </p:txBody>
      </p:sp>
      <p:sp>
        <p:nvSpPr>
          <p:cNvPr id="8" name="Text 6"/>
          <p:cNvSpPr/>
          <p:nvPr/>
        </p:nvSpPr>
        <p:spPr>
          <a:xfrm>
            <a:off x="0" y="5943600"/>
            <a:ext cx="12191695" cy="9144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Seed round  ·  €230K  ·  April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Pensions are organised country by country. People aren't.</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17 million EU citizens have moved between member states. None of them have a complete picture of their retirement.</a:t>
            </a:r>
            <a:endParaRPr lang="en-US" sz="1300" dirty="0"/>
          </a:p>
        </p:txBody>
      </p:sp>
      <p:sp>
        <p:nvSpPr>
          <p:cNvPr id="4" name="Shape 2"/>
          <p:cNvSpPr/>
          <p:nvPr/>
        </p:nvSpPr>
        <p:spPr>
          <a:xfrm>
            <a:off x="609448" y="1554480"/>
            <a:ext cx="5394960" cy="1783080"/>
          </a:xfrm>
          <a:prstGeom prst="rect">
            <a:avLst/>
          </a:prstGeom>
          <a:solidFill>
            <a:srgbClr val="F5EAFA"/>
          </a:solidFill>
          <a:ln w="12700">
            <a:solidFill>
              <a:srgbClr val="9558B0"/>
            </a:solidFill>
            <a:prstDash val="solid"/>
          </a:ln>
        </p:spPr>
        <p:txBody>
          <a:bodyPr/>
          <a:lstStyle/>
          <a:p>
            <a:endParaRPr lang="pl-PL"/>
          </a:p>
        </p:txBody>
      </p:sp>
      <p:sp>
        <p:nvSpPr>
          <p:cNvPr id="5" name="Text 3"/>
          <p:cNvSpPr/>
          <p:nvPr/>
        </p:nvSpPr>
        <p:spPr>
          <a:xfrm>
            <a:off x="792328" y="1691640"/>
            <a:ext cx="5029200" cy="457200"/>
          </a:xfrm>
          <a:prstGeom prst="rect">
            <a:avLst/>
          </a:prstGeom>
          <a:noFill/>
          <a:ln/>
        </p:spPr>
        <p:txBody>
          <a:bodyPr wrap="square" rtlCol="0" anchor="ctr"/>
          <a:lstStyle/>
          <a:p>
            <a:pPr marL="0" indent="0" algn="l">
              <a:buNone/>
            </a:pPr>
            <a:r>
              <a:rPr lang="en-US" sz="1400" b="1" dirty="0">
                <a:solidFill>
                  <a:srgbClr val="3D1257"/>
                </a:solidFill>
                <a:latin typeface="Calibri" pitchFamily="34" charset="0"/>
                <a:ea typeface="Calibri" pitchFamily="34" charset="-122"/>
                <a:cs typeface="Calibri" pitchFamily="34" charset="-120"/>
              </a:rPr>
              <a:t>Pensions are fragmented</a:t>
            </a:r>
            <a:endParaRPr lang="en-US" sz="1400" dirty="0"/>
          </a:p>
        </p:txBody>
      </p:sp>
      <p:sp>
        <p:nvSpPr>
          <p:cNvPr id="6" name="Text 4"/>
          <p:cNvSpPr/>
          <p:nvPr/>
        </p:nvSpPr>
        <p:spPr>
          <a:xfrm>
            <a:off x="792328" y="2148840"/>
            <a:ext cx="5029200" cy="1051560"/>
          </a:xfrm>
          <a:prstGeom prst="rect">
            <a:avLst/>
          </a:prstGeom>
          <a:noFill/>
          <a:ln/>
        </p:spPr>
        <p:txBody>
          <a:bodyPr wrap="square"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27 member states with 27 different pension systems. EU coordination (Reg 883/2004) handles entitlement portability — but not a single unified picture for the worker.</a:t>
            </a:r>
            <a:endParaRPr lang="en-US" sz="1100" dirty="0"/>
          </a:p>
        </p:txBody>
      </p:sp>
      <p:sp>
        <p:nvSpPr>
          <p:cNvPr id="7" name="Shape 5"/>
          <p:cNvSpPr/>
          <p:nvPr/>
        </p:nvSpPr>
        <p:spPr>
          <a:xfrm>
            <a:off x="6187288" y="1554480"/>
            <a:ext cx="5394960" cy="1783080"/>
          </a:xfrm>
          <a:prstGeom prst="rect">
            <a:avLst/>
          </a:prstGeom>
          <a:solidFill>
            <a:srgbClr val="F5EAFA"/>
          </a:solidFill>
          <a:ln w="12700">
            <a:solidFill>
              <a:srgbClr val="9558B0"/>
            </a:solidFill>
            <a:prstDash val="solid"/>
          </a:ln>
        </p:spPr>
        <p:txBody>
          <a:bodyPr/>
          <a:lstStyle/>
          <a:p>
            <a:endParaRPr lang="pl-PL"/>
          </a:p>
        </p:txBody>
      </p:sp>
      <p:sp>
        <p:nvSpPr>
          <p:cNvPr id="8" name="Text 6"/>
          <p:cNvSpPr/>
          <p:nvPr/>
        </p:nvSpPr>
        <p:spPr>
          <a:xfrm>
            <a:off x="6370168" y="1691640"/>
            <a:ext cx="5029200" cy="457200"/>
          </a:xfrm>
          <a:prstGeom prst="rect">
            <a:avLst/>
          </a:prstGeom>
          <a:noFill/>
          <a:ln/>
        </p:spPr>
        <p:txBody>
          <a:bodyPr wrap="square" rtlCol="0" anchor="ctr"/>
          <a:lstStyle/>
          <a:p>
            <a:pPr marL="0" indent="0" algn="l">
              <a:buNone/>
            </a:pPr>
            <a:r>
              <a:rPr lang="en-US" sz="1400" b="1" dirty="0">
                <a:solidFill>
                  <a:srgbClr val="3D1257"/>
                </a:solidFill>
                <a:latin typeface="Calibri" pitchFamily="34" charset="0"/>
                <a:ea typeface="Calibri" pitchFamily="34" charset="-122"/>
                <a:cs typeface="Calibri" pitchFamily="34" charset="-120"/>
              </a:rPr>
              <a:t>Government tools don't aggregate</a:t>
            </a:r>
            <a:endParaRPr lang="en-US" sz="1400" dirty="0"/>
          </a:p>
        </p:txBody>
      </p:sp>
      <p:sp>
        <p:nvSpPr>
          <p:cNvPr id="9" name="Text 7"/>
          <p:cNvSpPr/>
          <p:nvPr/>
        </p:nvSpPr>
        <p:spPr>
          <a:xfrm>
            <a:off x="6370168" y="2148840"/>
            <a:ext cx="5029200" cy="1051560"/>
          </a:xfrm>
          <a:prstGeom prst="rect">
            <a:avLst/>
          </a:prstGeom>
          <a:noFill/>
          <a:ln/>
        </p:spPr>
        <p:txBody>
          <a:bodyPr wrap="square"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Each country offers its own pension extract. None combine across borders. There is no European "check your pension" service.</a:t>
            </a:r>
            <a:endParaRPr lang="en-US" sz="1100" dirty="0"/>
          </a:p>
        </p:txBody>
      </p:sp>
      <p:sp>
        <p:nvSpPr>
          <p:cNvPr id="10" name="Shape 8"/>
          <p:cNvSpPr/>
          <p:nvPr/>
        </p:nvSpPr>
        <p:spPr>
          <a:xfrm>
            <a:off x="609448" y="3520440"/>
            <a:ext cx="5394960" cy="1783080"/>
          </a:xfrm>
          <a:prstGeom prst="rect">
            <a:avLst/>
          </a:prstGeom>
          <a:solidFill>
            <a:srgbClr val="F5EAFA"/>
          </a:solidFill>
          <a:ln w="12700">
            <a:solidFill>
              <a:srgbClr val="9558B0"/>
            </a:solidFill>
            <a:prstDash val="solid"/>
          </a:ln>
        </p:spPr>
        <p:txBody>
          <a:bodyPr/>
          <a:lstStyle/>
          <a:p>
            <a:endParaRPr lang="pl-PL"/>
          </a:p>
        </p:txBody>
      </p:sp>
      <p:sp>
        <p:nvSpPr>
          <p:cNvPr id="11" name="Text 9"/>
          <p:cNvSpPr/>
          <p:nvPr/>
        </p:nvSpPr>
        <p:spPr>
          <a:xfrm>
            <a:off x="792328" y="3657600"/>
            <a:ext cx="5029200" cy="457200"/>
          </a:xfrm>
          <a:prstGeom prst="rect">
            <a:avLst/>
          </a:prstGeom>
          <a:noFill/>
          <a:ln/>
        </p:spPr>
        <p:txBody>
          <a:bodyPr wrap="square" rtlCol="0" anchor="ctr"/>
          <a:lstStyle/>
          <a:p>
            <a:pPr marL="0" indent="0" algn="l">
              <a:buNone/>
            </a:pPr>
            <a:r>
              <a:rPr lang="en-US" sz="1400" b="1" dirty="0">
                <a:solidFill>
                  <a:srgbClr val="3D1257"/>
                </a:solidFill>
                <a:latin typeface="Calibri" pitchFamily="34" charset="0"/>
                <a:ea typeface="Calibri" pitchFamily="34" charset="-122"/>
                <a:cs typeface="Calibri" pitchFamily="34" charset="-120"/>
              </a:rPr>
              <a:t>Private tools don't cover Europe</a:t>
            </a:r>
            <a:endParaRPr lang="en-US" sz="1400" dirty="0"/>
          </a:p>
        </p:txBody>
      </p:sp>
      <p:sp>
        <p:nvSpPr>
          <p:cNvPr id="12" name="Text 10"/>
          <p:cNvSpPr/>
          <p:nvPr/>
        </p:nvSpPr>
        <p:spPr>
          <a:xfrm>
            <a:off x="792328" y="4114800"/>
            <a:ext cx="5029200" cy="1051560"/>
          </a:xfrm>
          <a:prstGeom prst="rect">
            <a:avLst/>
          </a:prstGeom>
          <a:noFill/>
          <a:ln/>
        </p:spPr>
        <p:txBody>
          <a:bodyPr wrap="square"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US tools like Boldin focus on the IRS / Social Security stack. No private tool currently models multi-country EU pensions with corridor-level accuracy.</a:t>
            </a:r>
            <a:endParaRPr lang="en-US" sz="1100" dirty="0"/>
          </a:p>
        </p:txBody>
      </p:sp>
      <p:sp>
        <p:nvSpPr>
          <p:cNvPr id="13" name="Shape 11"/>
          <p:cNvSpPr/>
          <p:nvPr/>
        </p:nvSpPr>
        <p:spPr>
          <a:xfrm>
            <a:off x="6187288" y="3520440"/>
            <a:ext cx="5394960" cy="1783080"/>
          </a:xfrm>
          <a:prstGeom prst="rect">
            <a:avLst/>
          </a:prstGeom>
          <a:solidFill>
            <a:srgbClr val="F5EAFA"/>
          </a:solidFill>
          <a:ln w="12700">
            <a:solidFill>
              <a:srgbClr val="9558B0"/>
            </a:solidFill>
            <a:prstDash val="solid"/>
          </a:ln>
        </p:spPr>
        <p:txBody>
          <a:bodyPr/>
          <a:lstStyle/>
          <a:p>
            <a:endParaRPr lang="pl-PL"/>
          </a:p>
        </p:txBody>
      </p:sp>
      <p:sp>
        <p:nvSpPr>
          <p:cNvPr id="14" name="Text 12"/>
          <p:cNvSpPr/>
          <p:nvPr/>
        </p:nvSpPr>
        <p:spPr>
          <a:xfrm>
            <a:off x="6370168" y="3657600"/>
            <a:ext cx="5029200" cy="457200"/>
          </a:xfrm>
          <a:prstGeom prst="rect">
            <a:avLst/>
          </a:prstGeom>
          <a:noFill/>
          <a:ln/>
        </p:spPr>
        <p:txBody>
          <a:bodyPr wrap="square" rtlCol="0" anchor="ctr"/>
          <a:lstStyle/>
          <a:p>
            <a:pPr marL="0" indent="0" algn="l">
              <a:buNone/>
            </a:pPr>
            <a:r>
              <a:rPr lang="en-US" sz="1400" b="1" dirty="0">
                <a:solidFill>
                  <a:srgbClr val="3D1257"/>
                </a:solidFill>
                <a:latin typeface="Calibri" pitchFamily="34" charset="0"/>
                <a:ea typeface="Calibri" pitchFamily="34" charset="-122"/>
                <a:cs typeface="Calibri" pitchFamily="34" charset="-120"/>
              </a:rPr>
              <a:t>Advisors are 92–97% more expensive</a:t>
            </a:r>
            <a:endParaRPr lang="en-US" sz="1400" dirty="0"/>
          </a:p>
        </p:txBody>
      </p:sp>
      <p:sp>
        <p:nvSpPr>
          <p:cNvPr id="15" name="Text 13"/>
          <p:cNvSpPr/>
          <p:nvPr/>
        </p:nvSpPr>
        <p:spPr>
          <a:xfrm>
            <a:off x="6370168" y="4114800"/>
            <a:ext cx="5029200" cy="1051560"/>
          </a:xfrm>
          <a:prstGeom prst="rect">
            <a:avLst/>
          </a:prstGeom>
          <a:noFill/>
          <a:ln/>
        </p:spPr>
        <p:txBody>
          <a:bodyPr wrap="square"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A multi-country pension consultation costs €500-€2,000 in Luxembourg. Most cross-border workers can't justify the cost — so they don't plan, and they discover their gap at 65.</a:t>
            </a:r>
            <a:endParaRPr lang="en-US" sz="1100" dirty="0"/>
          </a:p>
        </p:txBody>
      </p:sp>
      <p:sp>
        <p:nvSpPr>
          <p:cNvPr id="16" name="Shape 14"/>
          <p:cNvSpPr/>
          <p:nvPr/>
        </p:nvSpPr>
        <p:spPr>
          <a:xfrm>
            <a:off x="457200" y="5532120"/>
            <a:ext cx="11277295" cy="640080"/>
          </a:xfrm>
          <a:prstGeom prst="rect">
            <a:avLst/>
          </a:prstGeom>
          <a:solidFill>
            <a:srgbClr val="3D1257"/>
          </a:solidFill>
          <a:ln w="12700">
            <a:solidFill>
              <a:srgbClr val="3D1257"/>
            </a:solidFill>
            <a:prstDash val="solid"/>
          </a:ln>
        </p:spPr>
        <p:txBody>
          <a:bodyPr/>
          <a:lstStyle/>
          <a:p>
            <a:endParaRPr lang="pl-PL"/>
          </a:p>
        </p:txBody>
      </p:sp>
      <p:sp>
        <p:nvSpPr>
          <p:cNvPr id="17" name="Text 15"/>
          <p:cNvSpPr/>
          <p:nvPr/>
        </p:nvSpPr>
        <p:spPr>
          <a:xfrm>
            <a:off x="640080" y="5532120"/>
            <a:ext cx="10911535" cy="64008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Result: most multi-country workers don't plan, can't see the full picture, and discover their pension gap at 65 — when it's too late to do anything about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What we built — calculator + platform.</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Calculator validates demand and drives acquisition. Platform delivers the full pension picture across eight modules.</a:t>
            </a:r>
            <a:endParaRPr lang="en-US" sz="1300" dirty="0"/>
          </a:p>
        </p:txBody>
      </p:sp>
      <p:sp>
        <p:nvSpPr>
          <p:cNvPr id="4" name="Shape 2"/>
          <p:cNvSpPr/>
          <p:nvPr/>
        </p:nvSpPr>
        <p:spPr>
          <a:xfrm>
            <a:off x="518008" y="1554480"/>
            <a:ext cx="5394960" cy="4434840"/>
          </a:xfrm>
          <a:prstGeom prst="rect">
            <a:avLst/>
          </a:prstGeom>
          <a:solidFill>
            <a:srgbClr val="F5EAFA"/>
          </a:solidFill>
          <a:ln w="19050">
            <a:solidFill>
              <a:srgbClr val="9558B0"/>
            </a:solidFill>
            <a:prstDash val="solid"/>
          </a:ln>
        </p:spPr>
        <p:txBody>
          <a:bodyPr/>
          <a:lstStyle/>
          <a:p>
            <a:endParaRPr lang="pl-PL"/>
          </a:p>
        </p:txBody>
      </p:sp>
      <p:sp>
        <p:nvSpPr>
          <p:cNvPr id="5" name="Shape 3"/>
          <p:cNvSpPr/>
          <p:nvPr/>
        </p:nvSpPr>
        <p:spPr>
          <a:xfrm>
            <a:off x="518008" y="1554480"/>
            <a:ext cx="5394960" cy="777240"/>
          </a:xfrm>
          <a:prstGeom prst="rect">
            <a:avLst/>
          </a:prstGeom>
          <a:solidFill>
            <a:srgbClr val="9558B0"/>
          </a:solidFill>
          <a:ln w="12700">
            <a:solidFill>
              <a:srgbClr val="9558B0"/>
            </a:solidFill>
            <a:prstDash val="solid"/>
          </a:ln>
        </p:spPr>
        <p:txBody>
          <a:bodyPr/>
          <a:lstStyle/>
          <a:p>
            <a:endParaRPr lang="pl-PL"/>
          </a:p>
        </p:txBody>
      </p:sp>
      <p:sp>
        <p:nvSpPr>
          <p:cNvPr id="6" name="Text 4"/>
          <p:cNvSpPr/>
          <p:nvPr/>
        </p:nvSpPr>
        <p:spPr>
          <a:xfrm>
            <a:off x="518008" y="1554480"/>
            <a:ext cx="539496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  CALCULATOR</a:t>
            </a:r>
            <a:endParaRPr lang="en-US" sz="1600" dirty="0"/>
          </a:p>
          <a:p>
            <a:pPr marL="0" indent="0" algn="ctr">
              <a:buNone/>
            </a:pPr>
            <a:r>
              <a:rPr lang="en-US" sz="1100" i="1" dirty="0">
                <a:solidFill>
                  <a:srgbClr val="FFFFFF"/>
                </a:solidFill>
                <a:latin typeface="Calibri" pitchFamily="34" charset="0"/>
                <a:ea typeface="Calibri" pitchFamily="34" charset="-122"/>
                <a:cs typeface="Calibri" pitchFamily="34" charset="-120"/>
              </a:rPr>
              <a:t>Free  ·  Public  ·  Standalone tool</a:t>
            </a:r>
            <a:endParaRPr lang="en-US" sz="1600" dirty="0"/>
          </a:p>
        </p:txBody>
      </p:sp>
      <p:sp>
        <p:nvSpPr>
          <p:cNvPr id="7" name="Text 5"/>
          <p:cNvSpPr/>
          <p:nvPr/>
        </p:nvSpPr>
        <p:spPr>
          <a:xfrm>
            <a:off x="792328" y="2468880"/>
            <a:ext cx="4846320" cy="2194560"/>
          </a:xfrm>
          <a:prstGeom prst="rect">
            <a:avLst/>
          </a:prstGeom>
          <a:noFill/>
          <a:ln/>
        </p:spPr>
        <p:txBody>
          <a:bodyPr wrap="square" rtlCol="0" anchor="t"/>
          <a:lstStyle/>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Multi-country pension estimate from a few career details. </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Lightweight, no signup, public-facing.</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a:t>
            </a:r>
            <a:endParaRPr lang="en-US" sz="1100" dirty="0"/>
          </a:p>
          <a:p>
            <a:pPr marL="0" indent="0">
              <a:spcAft>
                <a:spcPts val="400"/>
              </a:spcAft>
              <a:buNone/>
            </a:pPr>
            <a:r>
              <a:rPr lang="en-US" sz="1100" b="1" dirty="0">
                <a:solidFill>
                  <a:srgbClr val="333333"/>
                </a:solidFill>
                <a:latin typeface="Calibri" pitchFamily="34" charset="0"/>
                <a:ea typeface="Calibri" pitchFamily="34" charset="-122"/>
                <a:cs typeface="Calibri" pitchFamily="34" charset="-120"/>
              </a:rPr>
              <a:t>CTAs evolve across phases:</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  Phase −1:  "Join the wishlist"</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  Phase 1+:  "Email report" + direct redirect</a:t>
            </a:r>
            <a:endParaRPr lang="en-US" sz="1100" dirty="0"/>
          </a:p>
        </p:txBody>
      </p:sp>
      <p:sp>
        <p:nvSpPr>
          <p:cNvPr id="8" name="Shape 6"/>
          <p:cNvSpPr/>
          <p:nvPr/>
        </p:nvSpPr>
        <p:spPr>
          <a:xfrm>
            <a:off x="792328" y="4572000"/>
            <a:ext cx="4846320" cy="0"/>
          </a:xfrm>
          <a:prstGeom prst="line">
            <a:avLst/>
          </a:prstGeom>
          <a:noFill/>
          <a:ln w="12700">
            <a:solidFill>
              <a:srgbClr val="9558B0"/>
            </a:solidFill>
            <a:prstDash val="dash"/>
          </a:ln>
        </p:spPr>
        <p:txBody>
          <a:bodyPr/>
          <a:lstStyle/>
          <a:p>
            <a:endParaRPr lang="pl-PL"/>
          </a:p>
        </p:txBody>
      </p:sp>
      <p:sp>
        <p:nvSpPr>
          <p:cNvPr id="9" name="Text 7"/>
          <p:cNvSpPr/>
          <p:nvPr/>
        </p:nvSpPr>
        <p:spPr>
          <a:xfrm>
            <a:off x="792328" y="4663440"/>
            <a:ext cx="4846320" cy="1188720"/>
          </a:xfrm>
          <a:prstGeom prst="rect">
            <a:avLst/>
          </a:prstGeom>
          <a:noFill/>
          <a:ln/>
        </p:spPr>
        <p:txBody>
          <a:bodyPr wrap="square" rtlCol="0" anchor="t"/>
          <a:lstStyle/>
          <a:p>
            <a:pPr marL="0" indent="0">
              <a:spcAft>
                <a:spcPts val="300"/>
              </a:spcAft>
              <a:buNone/>
            </a:pPr>
            <a:r>
              <a:rPr lang="en-US" sz="900" b="1" dirty="0">
                <a:solidFill>
                  <a:srgbClr val="9558B0"/>
                </a:solidFill>
                <a:latin typeface="Calibri" pitchFamily="34" charset="0"/>
                <a:ea typeface="Calibri" pitchFamily="34" charset="-122"/>
                <a:cs typeface="Calibri" pitchFamily="34" charset="-120"/>
              </a:rPr>
              <a:t>STRATEGIC ROLE</a:t>
            </a:r>
            <a:endParaRPr lang="en-US" sz="900" dirty="0"/>
          </a:p>
          <a:p>
            <a:pPr marL="0" indent="0">
              <a:spcAft>
                <a:spcPts val="300"/>
              </a:spcAft>
              <a:buNone/>
            </a:pPr>
            <a:r>
              <a:rPr lang="en-US" sz="1000" i="1" dirty="0">
                <a:solidFill>
                  <a:srgbClr val="333333"/>
                </a:solidFill>
                <a:latin typeface="Calibri" pitchFamily="34" charset="0"/>
                <a:ea typeface="Calibri" pitchFamily="34" charset="-122"/>
                <a:cs typeface="Calibri" pitchFamily="34" charset="-120"/>
              </a:rPr>
              <a:t>Validates demand pre-launch · drives organic SEO · seeds the wishlist that activates at M1.</a:t>
            </a:r>
            <a:endParaRPr lang="en-US" sz="900" dirty="0"/>
          </a:p>
        </p:txBody>
      </p:sp>
      <p:sp>
        <p:nvSpPr>
          <p:cNvPr id="10" name="Shape 8"/>
          <p:cNvSpPr/>
          <p:nvPr/>
        </p:nvSpPr>
        <p:spPr>
          <a:xfrm>
            <a:off x="6278728" y="1554480"/>
            <a:ext cx="5394960" cy="4434840"/>
          </a:xfrm>
          <a:prstGeom prst="rect">
            <a:avLst/>
          </a:prstGeom>
          <a:solidFill>
            <a:srgbClr val="F5EAFA"/>
          </a:solidFill>
          <a:ln w="19050">
            <a:solidFill>
              <a:srgbClr val="7030A0"/>
            </a:solidFill>
            <a:prstDash val="solid"/>
          </a:ln>
        </p:spPr>
        <p:txBody>
          <a:bodyPr/>
          <a:lstStyle/>
          <a:p>
            <a:endParaRPr lang="pl-PL"/>
          </a:p>
        </p:txBody>
      </p:sp>
      <p:sp>
        <p:nvSpPr>
          <p:cNvPr id="11" name="Shape 9"/>
          <p:cNvSpPr/>
          <p:nvPr/>
        </p:nvSpPr>
        <p:spPr>
          <a:xfrm>
            <a:off x="6278728" y="1554480"/>
            <a:ext cx="5394960" cy="777240"/>
          </a:xfrm>
          <a:prstGeom prst="rect">
            <a:avLst/>
          </a:prstGeom>
          <a:solidFill>
            <a:srgbClr val="7030A0"/>
          </a:solidFill>
          <a:ln w="12700">
            <a:solidFill>
              <a:srgbClr val="7030A0"/>
            </a:solidFill>
            <a:prstDash val="solid"/>
          </a:ln>
        </p:spPr>
        <p:txBody>
          <a:bodyPr/>
          <a:lstStyle/>
          <a:p>
            <a:endParaRPr lang="pl-PL"/>
          </a:p>
        </p:txBody>
      </p:sp>
      <p:sp>
        <p:nvSpPr>
          <p:cNvPr id="12" name="Text 10"/>
          <p:cNvSpPr/>
          <p:nvPr/>
        </p:nvSpPr>
        <p:spPr>
          <a:xfrm>
            <a:off x="6278728" y="1554480"/>
            <a:ext cx="539496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  PLATFORM</a:t>
            </a:r>
            <a:endParaRPr lang="en-US" sz="1600" dirty="0"/>
          </a:p>
          <a:p>
            <a:pPr marL="0" indent="0" algn="ctr">
              <a:buNone/>
            </a:pPr>
            <a:r>
              <a:rPr lang="en-US" sz="1100" i="1" dirty="0">
                <a:solidFill>
                  <a:srgbClr val="FFFFFF"/>
                </a:solidFill>
                <a:latin typeface="Calibri" pitchFamily="34" charset="0"/>
                <a:ea typeface="Calibri" pitchFamily="34" charset="-122"/>
                <a:cs typeface="Calibri" pitchFamily="34" charset="-120"/>
              </a:rPr>
              <a:t>Free  +  Pro €14.90/mo</a:t>
            </a:r>
            <a:endParaRPr lang="en-US" sz="1600" dirty="0"/>
          </a:p>
        </p:txBody>
      </p:sp>
      <p:sp>
        <p:nvSpPr>
          <p:cNvPr id="13" name="Text 11"/>
          <p:cNvSpPr/>
          <p:nvPr/>
        </p:nvSpPr>
        <p:spPr>
          <a:xfrm>
            <a:off x="6553048" y="2468880"/>
            <a:ext cx="4846320" cy="502920"/>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The full product. Eight modules across visibility (free) and intelligence (Pro). See slide 4 for tier split.</a:t>
            </a:r>
            <a:endParaRPr lang="en-US" sz="1100" dirty="0"/>
          </a:p>
        </p:txBody>
      </p:sp>
      <p:sp>
        <p:nvSpPr>
          <p:cNvPr id="14" name="Text 12"/>
          <p:cNvSpPr/>
          <p:nvPr/>
        </p:nvSpPr>
        <p:spPr>
          <a:xfrm>
            <a:off x="6553048" y="3063240"/>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Dashboard</a:t>
            </a:r>
            <a:endParaRPr lang="en-US" sz="1100" dirty="0"/>
          </a:p>
        </p:txBody>
      </p:sp>
      <p:sp>
        <p:nvSpPr>
          <p:cNvPr id="15" name="Text 13"/>
          <p:cNvSpPr/>
          <p:nvPr/>
        </p:nvSpPr>
        <p:spPr>
          <a:xfrm>
            <a:off x="8976208" y="3063240"/>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Career timeline</a:t>
            </a:r>
            <a:endParaRPr lang="en-US" sz="1100" dirty="0"/>
          </a:p>
        </p:txBody>
      </p:sp>
      <p:sp>
        <p:nvSpPr>
          <p:cNvPr id="16" name="Text 14"/>
          <p:cNvSpPr/>
          <p:nvPr/>
        </p:nvSpPr>
        <p:spPr>
          <a:xfrm>
            <a:off x="6553048" y="3447288"/>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Payout estimation</a:t>
            </a:r>
            <a:endParaRPr lang="en-US" sz="1100" dirty="0"/>
          </a:p>
        </p:txBody>
      </p:sp>
      <p:sp>
        <p:nvSpPr>
          <p:cNvPr id="17" name="Text 15"/>
          <p:cNvSpPr/>
          <p:nvPr/>
        </p:nvSpPr>
        <p:spPr>
          <a:xfrm>
            <a:off x="8976208" y="3447288"/>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Vault (uploads + AI extraction)</a:t>
            </a:r>
            <a:endParaRPr lang="en-US" sz="1100" dirty="0"/>
          </a:p>
        </p:txBody>
      </p:sp>
      <p:sp>
        <p:nvSpPr>
          <p:cNvPr id="18" name="Text 16"/>
          <p:cNvSpPr/>
          <p:nvPr/>
        </p:nvSpPr>
        <p:spPr>
          <a:xfrm>
            <a:off x="6553048" y="3831336"/>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Simulation</a:t>
            </a:r>
            <a:endParaRPr lang="en-US" sz="1100" dirty="0"/>
          </a:p>
        </p:txBody>
      </p:sp>
      <p:sp>
        <p:nvSpPr>
          <p:cNvPr id="19" name="Text 17"/>
          <p:cNvSpPr/>
          <p:nvPr/>
        </p:nvSpPr>
        <p:spPr>
          <a:xfrm>
            <a:off x="8976208" y="3831336"/>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Radar (legislative changes)</a:t>
            </a:r>
            <a:endParaRPr lang="en-US" sz="1100" dirty="0"/>
          </a:p>
        </p:txBody>
      </p:sp>
      <p:sp>
        <p:nvSpPr>
          <p:cNvPr id="20" name="Text 18"/>
          <p:cNvSpPr/>
          <p:nvPr/>
        </p:nvSpPr>
        <p:spPr>
          <a:xfrm>
            <a:off x="6553048" y="4215384"/>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Family (multi-member)</a:t>
            </a:r>
            <a:endParaRPr lang="en-US" sz="1100" dirty="0"/>
          </a:p>
        </p:txBody>
      </p:sp>
      <p:sp>
        <p:nvSpPr>
          <p:cNvPr id="21" name="Text 19"/>
          <p:cNvSpPr/>
          <p:nvPr/>
        </p:nvSpPr>
        <p:spPr>
          <a:xfrm>
            <a:off x="8976208" y="4215384"/>
            <a:ext cx="2423160" cy="3657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Chat (general + Pro: AI)</a:t>
            </a:r>
            <a:endParaRPr lang="en-US" sz="1100" dirty="0"/>
          </a:p>
        </p:txBody>
      </p:sp>
      <p:sp>
        <p:nvSpPr>
          <p:cNvPr id="22" name="Shape 20"/>
          <p:cNvSpPr/>
          <p:nvPr/>
        </p:nvSpPr>
        <p:spPr>
          <a:xfrm>
            <a:off x="6553048" y="4572000"/>
            <a:ext cx="4846320" cy="0"/>
          </a:xfrm>
          <a:prstGeom prst="line">
            <a:avLst/>
          </a:prstGeom>
          <a:noFill/>
          <a:ln w="12700">
            <a:solidFill>
              <a:srgbClr val="7030A0"/>
            </a:solidFill>
            <a:prstDash val="dash"/>
          </a:ln>
        </p:spPr>
        <p:txBody>
          <a:bodyPr/>
          <a:lstStyle/>
          <a:p>
            <a:endParaRPr lang="pl-PL"/>
          </a:p>
        </p:txBody>
      </p:sp>
      <p:sp>
        <p:nvSpPr>
          <p:cNvPr id="23" name="Text 21"/>
          <p:cNvSpPr/>
          <p:nvPr/>
        </p:nvSpPr>
        <p:spPr>
          <a:xfrm>
            <a:off x="6553048" y="4663440"/>
            <a:ext cx="4846320" cy="1188720"/>
          </a:xfrm>
          <a:prstGeom prst="rect">
            <a:avLst/>
          </a:prstGeom>
          <a:noFill/>
          <a:ln/>
        </p:spPr>
        <p:txBody>
          <a:bodyPr wrap="square" rtlCol="0" anchor="t"/>
          <a:lstStyle/>
          <a:p>
            <a:pPr marL="0" indent="0">
              <a:spcAft>
                <a:spcPts val="300"/>
              </a:spcAft>
              <a:buNone/>
            </a:pPr>
            <a:r>
              <a:rPr lang="en-US" sz="900" b="1" dirty="0">
                <a:solidFill>
                  <a:srgbClr val="7030A0"/>
                </a:solidFill>
                <a:latin typeface="Calibri" pitchFamily="34" charset="0"/>
                <a:ea typeface="Calibri" pitchFamily="34" charset="-122"/>
                <a:cs typeface="Calibri" pitchFamily="34" charset="-120"/>
              </a:rPr>
              <a:t>STRATEGIC ROLE</a:t>
            </a:r>
            <a:endParaRPr lang="en-US" sz="900" dirty="0"/>
          </a:p>
          <a:p>
            <a:pPr marL="0" indent="0">
              <a:spcAft>
                <a:spcPts val="300"/>
              </a:spcAft>
              <a:buNone/>
            </a:pPr>
            <a:r>
              <a:rPr lang="en-US" sz="1000" i="1" dirty="0">
                <a:solidFill>
                  <a:srgbClr val="333333"/>
                </a:solidFill>
                <a:latin typeface="Calibri" pitchFamily="34" charset="0"/>
                <a:ea typeface="Calibri" pitchFamily="34" charset="-122"/>
                <a:cs typeface="Calibri" pitchFamily="34" charset="-120"/>
              </a:rPr>
              <a:t>Where users see their picture, convert to paid, and accumulate data (the moat). Powered by 29 country engines — LU/FR/CH live at M1.</a:t>
            </a:r>
            <a:endParaRPr lang="en-US" sz="900" dirty="0"/>
          </a:p>
        </p:txBody>
      </p:sp>
      <p:sp>
        <p:nvSpPr>
          <p:cNvPr id="24" name="Shape 22"/>
          <p:cNvSpPr/>
          <p:nvPr/>
        </p:nvSpPr>
        <p:spPr>
          <a:xfrm>
            <a:off x="457200" y="6126480"/>
            <a:ext cx="11277295" cy="457200"/>
          </a:xfrm>
          <a:prstGeom prst="rect">
            <a:avLst/>
          </a:prstGeom>
          <a:solidFill>
            <a:srgbClr val="3D1257"/>
          </a:solidFill>
          <a:ln w="12700">
            <a:solidFill>
              <a:srgbClr val="3D1257"/>
            </a:solidFill>
            <a:prstDash val="solid"/>
          </a:ln>
        </p:spPr>
        <p:txBody>
          <a:bodyPr/>
          <a:lstStyle/>
          <a:p>
            <a:endParaRPr lang="pl-PL"/>
          </a:p>
        </p:txBody>
      </p:sp>
      <p:sp>
        <p:nvSpPr>
          <p:cNvPr id="25" name="Text 23"/>
          <p:cNvSpPr/>
          <p:nvPr/>
        </p:nvSpPr>
        <p:spPr>
          <a:xfrm>
            <a:off x="640080" y="6126480"/>
            <a:ext cx="10911535" cy="4572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Two products, one funnel: calculator brings users in, platform converts them to paid and locks them in.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ctr">
              <a:buNone/>
            </a:pPr>
            <a:r>
              <a:rPr lang="en-US" sz="2400" b="1" dirty="0">
                <a:solidFill>
                  <a:srgbClr val="3D1257"/>
                </a:solidFill>
                <a:latin typeface="Calibri" pitchFamily="34" charset="0"/>
                <a:ea typeface="Calibri" pitchFamily="34" charset="-122"/>
                <a:cs typeface="Calibri" pitchFamily="34" charset="-120"/>
              </a:rPr>
              <a:t>"See your situation" is free.   "Act on your situation" is paid.</a:t>
            </a:r>
            <a:endParaRPr lang="en-US" sz="24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ctr">
              <a:buNone/>
            </a:pPr>
            <a:r>
              <a:rPr lang="en-US" sz="1300" i="1" dirty="0">
                <a:solidFill>
                  <a:srgbClr val="888888"/>
                </a:solidFill>
                <a:latin typeface="Calibri" pitchFamily="34" charset="0"/>
                <a:ea typeface="Calibri" pitchFamily="34" charset="-122"/>
                <a:cs typeface="Calibri" pitchFamily="34" charset="-120"/>
              </a:rPr>
              <a:t>A freemium model designed around the data moat — every feature that drives uploads stays free.</a:t>
            </a:r>
            <a:endParaRPr lang="en-US" sz="1300" dirty="0"/>
          </a:p>
        </p:txBody>
      </p:sp>
      <p:sp>
        <p:nvSpPr>
          <p:cNvPr id="4" name="Shape 2"/>
          <p:cNvSpPr/>
          <p:nvPr/>
        </p:nvSpPr>
        <p:spPr>
          <a:xfrm>
            <a:off x="640080" y="1554480"/>
            <a:ext cx="5458968" cy="4023360"/>
          </a:xfrm>
          <a:prstGeom prst="rect">
            <a:avLst/>
          </a:prstGeom>
          <a:solidFill>
            <a:srgbClr val="F5EAFA"/>
          </a:solidFill>
          <a:ln w="12700">
            <a:solidFill>
              <a:srgbClr val="9558B0"/>
            </a:solidFill>
            <a:prstDash val="solid"/>
          </a:ln>
        </p:spPr>
        <p:txBody>
          <a:bodyPr/>
          <a:lstStyle/>
          <a:p>
            <a:endParaRPr lang="pl-PL"/>
          </a:p>
        </p:txBody>
      </p:sp>
      <p:sp>
        <p:nvSpPr>
          <p:cNvPr id="5" name="Shape 3"/>
          <p:cNvSpPr/>
          <p:nvPr/>
        </p:nvSpPr>
        <p:spPr>
          <a:xfrm>
            <a:off x="640080" y="1554480"/>
            <a:ext cx="5458968" cy="502920"/>
          </a:xfrm>
          <a:prstGeom prst="rect">
            <a:avLst/>
          </a:prstGeom>
          <a:solidFill>
            <a:srgbClr val="9558B0"/>
          </a:solidFill>
          <a:ln w="12700">
            <a:solidFill>
              <a:srgbClr val="9558B0"/>
            </a:solidFill>
            <a:prstDash val="solid"/>
          </a:ln>
        </p:spPr>
        <p:txBody>
          <a:bodyPr/>
          <a:lstStyle/>
          <a:p>
            <a:endParaRPr lang="pl-PL"/>
          </a:p>
        </p:txBody>
      </p:sp>
      <p:sp>
        <p:nvSpPr>
          <p:cNvPr id="6" name="Text 4"/>
          <p:cNvSpPr/>
          <p:nvPr/>
        </p:nvSpPr>
        <p:spPr>
          <a:xfrm>
            <a:off x="640080" y="1554480"/>
            <a:ext cx="5458968"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FREE — Visibility</a:t>
            </a:r>
            <a:endParaRPr lang="en-US" sz="1600" dirty="0"/>
          </a:p>
        </p:txBody>
      </p:sp>
      <p:sp>
        <p:nvSpPr>
          <p:cNvPr id="7" name="Text 5"/>
          <p:cNvSpPr/>
          <p:nvPr/>
        </p:nvSpPr>
        <p:spPr>
          <a:xfrm>
            <a:off x="914400" y="2194560"/>
            <a:ext cx="4910328" cy="3200400"/>
          </a:xfrm>
          <a:prstGeom prst="rect">
            <a:avLst/>
          </a:prstGeom>
          <a:noFill/>
          <a:ln/>
        </p:spPr>
        <p:txBody>
          <a:bodyPr wrap="square" rtlCol="0" anchor="t"/>
          <a:lstStyle/>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Dashboard, KPIs, retirement gap</a:t>
            </a:r>
            <a:endParaRPr lang="en-US" sz="1300" dirty="0"/>
          </a:p>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Career timeline + gap detection</a:t>
            </a:r>
            <a:endParaRPr lang="en-US" sz="1300" dirty="0"/>
          </a:p>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Payout estimation (all pillars, gross + net)</a:t>
            </a:r>
            <a:endParaRPr lang="en-US" sz="1300" dirty="0"/>
          </a:p>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Unlimited vault uploads + AI extraction</a:t>
            </a:r>
            <a:endParaRPr lang="en-US" sz="1300" dirty="0"/>
          </a:p>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Simulation interactive controls</a:t>
            </a:r>
            <a:endParaRPr lang="en-US" sz="1300" dirty="0"/>
          </a:p>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Module previews (Radar/Family/Chat)</a:t>
            </a:r>
            <a:endParaRPr lang="en-US" sz="1300" dirty="0"/>
          </a:p>
          <a:p>
            <a:pPr marL="0" indent="0">
              <a:spcAft>
                <a:spcPts val="600"/>
              </a:spcAft>
              <a:buNone/>
            </a:pPr>
            <a:r>
              <a:rPr lang="en-US" sz="1300" dirty="0">
                <a:solidFill>
                  <a:srgbClr val="333333"/>
                </a:solidFill>
                <a:latin typeface="Calibri" pitchFamily="34" charset="0"/>
                <a:ea typeface="Calibri" pitchFamily="34" charset="-122"/>
                <a:cs typeface="Calibri" pitchFamily="34" charset="-120"/>
              </a:rPr>
              <a:t>💬  General pension Q&amp;A</a:t>
            </a:r>
            <a:endParaRPr lang="en-US" sz="1300" dirty="0"/>
          </a:p>
        </p:txBody>
      </p:sp>
      <p:sp>
        <p:nvSpPr>
          <p:cNvPr id="8" name="Shape 6"/>
          <p:cNvSpPr/>
          <p:nvPr/>
        </p:nvSpPr>
        <p:spPr>
          <a:xfrm>
            <a:off x="6263640" y="1508760"/>
            <a:ext cx="5458968" cy="4069080"/>
          </a:xfrm>
          <a:prstGeom prst="rect">
            <a:avLst/>
          </a:prstGeom>
          <a:solidFill>
            <a:srgbClr val="7030A0"/>
          </a:solidFill>
          <a:ln w="25400">
            <a:solidFill>
              <a:srgbClr val="3D1257"/>
            </a:solidFill>
            <a:prstDash val="solid"/>
          </a:ln>
        </p:spPr>
        <p:txBody>
          <a:bodyPr/>
          <a:lstStyle/>
          <a:p>
            <a:endParaRPr lang="pl-PL"/>
          </a:p>
        </p:txBody>
      </p:sp>
      <p:sp>
        <p:nvSpPr>
          <p:cNvPr id="9" name="Shape 7"/>
          <p:cNvSpPr/>
          <p:nvPr/>
        </p:nvSpPr>
        <p:spPr>
          <a:xfrm>
            <a:off x="6263640" y="1508760"/>
            <a:ext cx="5458968" cy="502920"/>
          </a:xfrm>
          <a:prstGeom prst="rect">
            <a:avLst/>
          </a:prstGeom>
          <a:solidFill>
            <a:srgbClr val="3D1257"/>
          </a:solidFill>
          <a:ln w="12700">
            <a:solidFill>
              <a:srgbClr val="3D1257"/>
            </a:solidFill>
            <a:prstDash val="solid"/>
          </a:ln>
        </p:spPr>
        <p:txBody>
          <a:bodyPr/>
          <a:lstStyle/>
          <a:p>
            <a:endParaRPr lang="pl-PL"/>
          </a:p>
        </p:txBody>
      </p:sp>
      <p:sp>
        <p:nvSpPr>
          <p:cNvPr id="10" name="Text 8"/>
          <p:cNvSpPr/>
          <p:nvPr/>
        </p:nvSpPr>
        <p:spPr>
          <a:xfrm>
            <a:off x="6263640" y="1508760"/>
            <a:ext cx="5458968"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 — €14.90/mo — Intelligence</a:t>
            </a:r>
            <a:endParaRPr lang="en-US" sz="1400" dirty="0"/>
          </a:p>
        </p:txBody>
      </p:sp>
      <p:sp>
        <p:nvSpPr>
          <p:cNvPr id="11" name="Text 9"/>
          <p:cNvSpPr/>
          <p:nvPr/>
        </p:nvSpPr>
        <p:spPr>
          <a:xfrm>
            <a:off x="6537960" y="2148840"/>
            <a:ext cx="4910328" cy="3291840"/>
          </a:xfrm>
          <a:prstGeom prst="rect">
            <a:avLst/>
          </a:prstGeom>
          <a:noFill/>
          <a:ln/>
        </p:spPr>
        <p:txBody>
          <a:bodyPr wrap="square" rtlCol="0" anchor="t"/>
          <a:lstStyle/>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Vault Pro: cross-referencing &amp; alerts</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Correction workflow (auto-letters)</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Document age &amp; expiry monitoring</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Consolidated dossier export</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Family vault sharing</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Sim Pro: tax + PPP + capital modeller</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Radar full: alerts + impact analysis</a:t>
            </a:r>
            <a:endParaRPr lang="en-US" sz="1300" dirty="0"/>
          </a:p>
          <a:p>
            <a:pPr marL="0" indent="0">
              <a:spcAft>
                <a:spcPts val="600"/>
              </a:spcAft>
              <a:buNone/>
            </a:pPr>
            <a:r>
              <a:rPr lang="en-US" sz="1300" dirty="0">
                <a:solidFill>
                  <a:srgbClr val="FFFFFF"/>
                </a:solidFill>
                <a:latin typeface="Calibri" pitchFamily="34" charset="0"/>
                <a:ea typeface="Calibri" pitchFamily="34" charset="-122"/>
                <a:cs typeface="Calibri" pitchFamily="34" charset="-120"/>
              </a:rPr>
              <a:t>🤖  Chat AI: personalized analysis</a:t>
            </a:r>
            <a:endParaRPr lang="en-US" sz="1300" dirty="0"/>
          </a:p>
        </p:txBody>
      </p:sp>
      <p:sp>
        <p:nvSpPr>
          <p:cNvPr id="12" name="Shape 10"/>
          <p:cNvSpPr/>
          <p:nvPr/>
        </p:nvSpPr>
        <p:spPr>
          <a:xfrm>
            <a:off x="457200" y="5806440"/>
            <a:ext cx="11277295" cy="777240"/>
          </a:xfrm>
          <a:prstGeom prst="rect">
            <a:avLst/>
          </a:prstGeom>
          <a:solidFill>
            <a:srgbClr val="3D1257"/>
          </a:solidFill>
          <a:ln w="12700">
            <a:solidFill>
              <a:srgbClr val="3D1257"/>
            </a:solidFill>
            <a:prstDash val="solid"/>
          </a:ln>
        </p:spPr>
        <p:txBody>
          <a:bodyPr/>
          <a:lstStyle/>
          <a:p>
            <a:endParaRPr lang="pl-PL"/>
          </a:p>
        </p:txBody>
      </p:sp>
      <p:sp>
        <p:nvSpPr>
          <p:cNvPr id="13" name="Text 11"/>
          <p:cNvSpPr/>
          <p:nvPr/>
        </p:nvSpPr>
        <p:spPr>
          <a:xfrm>
            <a:off x="640080" y="5806440"/>
            <a:ext cx="10911535" cy="77724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Why this works: data accumulation is the moat. Free tier maximises uploads (every document increases switching cost). Pro tier delivers ongoing intelligence on top of that data. The free tier is not generosity — it is the lead-gen funnel.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The densest target market in Europe — and why we start here.</a:t>
            </a:r>
            <a:endParaRPr lang="en-US" sz="2600" dirty="0"/>
          </a:p>
        </p:txBody>
      </p:sp>
      <p:sp>
        <p:nvSpPr>
          <p:cNvPr id="3" name="Shape 1"/>
          <p:cNvSpPr/>
          <p:nvPr/>
        </p:nvSpPr>
        <p:spPr>
          <a:xfrm>
            <a:off x="640080" y="1417320"/>
            <a:ext cx="777240" cy="777240"/>
          </a:xfrm>
          <a:prstGeom prst="ellipse">
            <a:avLst/>
          </a:prstGeom>
          <a:solidFill>
            <a:srgbClr val="7030A0"/>
          </a:solidFill>
          <a:ln w="12700">
            <a:solidFill>
              <a:srgbClr val="3D1257"/>
            </a:solidFill>
            <a:prstDash val="solid"/>
          </a:ln>
        </p:spPr>
        <p:txBody>
          <a:bodyPr/>
          <a:lstStyle/>
          <a:p>
            <a:endParaRPr lang="pl-PL"/>
          </a:p>
        </p:txBody>
      </p:sp>
      <p:sp>
        <p:nvSpPr>
          <p:cNvPr id="4" name="Text 2"/>
          <p:cNvSpPr/>
          <p:nvPr/>
        </p:nvSpPr>
        <p:spPr>
          <a:xfrm>
            <a:off x="640080" y="1417320"/>
            <a:ext cx="77724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5" name="Text 3"/>
          <p:cNvSpPr/>
          <p:nvPr/>
        </p:nvSpPr>
        <p:spPr>
          <a:xfrm>
            <a:off x="1600200" y="1417320"/>
            <a:ext cx="10058400" cy="365760"/>
          </a:xfrm>
          <a:prstGeom prst="rect">
            <a:avLst/>
          </a:prstGeom>
          <a:noFill/>
          <a:ln/>
        </p:spPr>
        <p:txBody>
          <a:bodyPr wrap="square" rtlCol="0" anchor="ctr"/>
          <a:lstStyle/>
          <a:p>
            <a:pPr marL="0" indent="0" algn="l">
              <a:buNone/>
            </a:pPr>
            <a:r>
              <a:rPr lang="en-US" sz="1600" b="1" dirty="0">
                <a:solidFill>
                  <a:srgbClr val="3D1257"/>
                </a:solidFill>
                <a:latin typeface="Calibri" pitchFamily="34" charset="0"/>
                <a:ea typeface="Calibri" pitchFamily="34" charset="-122"/>
                <a:cs typeface="Calibri" pitchFamily="34" charset="-120"/>
              </a:rPr>
              <a:t>48% foreign-born population</a:t>
            </a:r>
            <a:endParaRPr lang="en-US" sz="1600" dirty="0"/>
          </a:p>
        </p:txBody>
      </p:sp>
      <p:sp>
        <p:nvSpPr>
          <p:cNvPr id="6" name="Text 4"/>
          <p:cNvSpPr/>
          <p:nvPr/>
        </p:nvSpPr>
        <p:spPr>
          <a:xfrm>
            <a:off x="1600200" y="1801368"/>
            <a:ext cx="10058400" cy="502920"/>
          </a:xfrm>
          <a:prstGeom prst="rect">
            <a:avLst/>
          </a:prstGeom>
          <a:noFill/>
          <a:ln/>
        </p:spPr>
        <p:txBody>
          <a:bodyPr wrap="square"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Luxembourg has the highest proportion of foreign residents in the EU. The cross-border pension problem is the default, not the exception.</a:t>
            </a:r>
            <a:endParaRPr lang="en-US" sz="1200" dirty="0"/>
          </a:p>
        </p:txBody>
      </p:sp>
      <p:sp>
        <p:nvSpPr>
          <p:cNvPr id="7" name="Shape 5"/>
          <p:cNvSpPr/>
          <p:nvPr/>
        </p:nvSpPr>
        <p:spPr>
          <a:xfrm>
            <a:off x="640080" y="2514600"/>
            <a:ext cx="777240" cy="777240"/>
          </a:xfrm>
          <a:prstGeom prst="ellipse">
            <a:avLst/>
          </a:prstGeom>
          <a:solidFill>
            <a:srgbClr val="7030A0"/>
          </a:solidFill>
          <a:ln w="12700">
            <a:solidFill>
              <a:srgbClr val="3D1257"/>
            </a:solidFill>
            <a:prstDash val="solid"/>
          </a:ln>
        </p:spPr>
        <p:txBody>
          <a:bodyPr/>
          <a:lstStyle/>
          <a:p>
            <a:endParaRPr lang="pl-PL"/>
          </a:p>
        </p:txBody>
      </p:sp>
      <p:sp>
        <p:nvSpPr>
          <p:cNvPr id="8" name="Text 6"/>
          <p:cNvSpPr/>
          <p:nvPr/>
        </p:nvSpPr>
        <p:spPr>
          <a:xfrm>
            <a:off x="640080" y="2514600"/>
            <a:ext cx="77724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9" name="Text 7"/>
          <p:cNvSpPr/>
          <p:nvPr/>
        </p:nvSpPr>
        <p:spPr>
          <a:xfrm>
            <a:off x="1600200" y="2514600"/>
            <a:ext cx="10058400" cy="365760"/>
          </a:xfrm>
          <a:prstGeom prst="rect">
            <a:avLst/>
          </a:prstGeom>
          <a:noFill/>
          <a:ln/>
        </p:spPr>
        <p:txBody>
          <a:bodyPr wrap="square" rtlCol="0" anchor="ctr"/>
          <a:lstStyle/>
          <a:p>
            <a:pPr marL="0" indent="0" algn="l">
              <a:buNone/>
            </a:pPr>
            <a:r>
              <a:rPr lang="en-US" sz="1600" b="1" dirty="0">
                <a:solidFill>
                  <a:srgbClr val="3D1257"/>
                </a:solidFill>
                <a:latin typeface="Calibri" pitchFamily="34" charset="0"/>
                <a:ea typeface="Calibri" pitchFamily="34" charset="-122"/>
                <a:cs typeface="Calibri" pitchFamily="34" charset="-120"/>
              </a:rPr>
              <a:t>130–150K addressable individuals in LU</a:t>
            </a:r>
            <a:endParaRPr lang="en-US" sz="1600" dirty="0"/>
          </a:p>
        </p:txBody>
      </p:sp>
      <p:sp>
        <p:nvSpPr>
          <p:cNvPr id="10" name="Text 8"/>
          <p:cNvSpPr/>
          <p:nvPr/>
        </p:nvSpPr>
        <p:spPr>
          <a:xfrm>
            <a:off x="1600200" y="2898648"/>
            <a:ext cx="10058400" cy="502920"/>
          </a:xfrm>
          <a:prstGeom prst="rect">
            <a:avLst/>
          </a:prstGeom>
          <a:noFill/>
          <a:ln/>
        </p:spPr>
        <p:txBody>
          <a:bodyPr wrap="square"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Multi-country pension holders, sized from STATEC data on resident foreign nationals. Discounted for second-generation residents and excludes frontaliers.</a:t>
            </a:r>
            <a:endParaRPr lang="en-US" sz="1200" dirty="0"/>
          </a:p>
        </p:txBody>
      </p:sp>
      <p:sp>
        <p:nvSpPr>
          <p:cNvPr id="11" name="Shape 9"/>
          <p:cNvSpPr/>
          <p:nvPr/>
        </p:nvSpPr>
        <p:spPr>
          <a:xfrm>
            <a:off x="640080" y="3611880"/>
            <a:ext cx="777240" cy="777240"/>
          </a:xfrm>
          <a:prstGeom prst="ellipse">
            <a:avLst/>
          </a:prstGeom>
          <a:solidFill>
            <a:srgbClr val="7030A0"/>
          </a:solidFill>
          <a:ln w="12700">
            <a:solidFill>
              <a:srgbClr val="3D1257"/>
            </a:solidFill>
            <a:prstDash val="solid"/>
          </a:ln>
        </p:spPr>
        <p:txBody>
          <a:bodyPr/>
          <a:lstStyle/>
          <a:p>
            <a:endParaRPr lang="pl-PL"/>
          </a:p>
        </p:txBody>
      </p:sp>
      <p:sp>
        <p:nvSpPr>
          <p:cNvPr id="12" name="Text 10"/>
          <p:cNvSpPr/>
          <p:nvPr/>
        </p:nvSpPr>
        <p:spPr>
          <a:xfrm>
            <a:off x="640080" y="3611880"/>
            <a:ext cx="77724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3" name="Text 11"/>
          <p:cNvSpPr/>
          <p:nvPr/>
        </p:nvSpPr>
        <p:spPr>
          <a:xfrm>
            <a:off x="1600200" y="3611880"/>
            <a:ext cx="10058400" cy="365760"/>
          </a:xfrm>
          <a:prstGeom prst="rect">
            <a:avLst/>
          </a:prstGeom>
          <a:noFill/>
          <a:ln/>
        </p:spPr>
        <p:txBody>
          <a:bodyPr wrap="square" rtlCol="0" anchor="ctr"/>
          <a:lstStyle/>
          <a:p>
            <a:pPr marL="0" indent="0" algn="l">
              <a:buNone/>
            </a:pPr>
            <a:r>
              <a:rPr lang="en-US" sz="1600" b="1" dirty="0">
                <a:solidFill>
                  <a:srgbClr val="3D1257"/>
                </a:solidFill>
                <a:latin typeface="Calibri" pitchFamily="34" charset="0"/>
                <a:ea typeface="Calibri" pitchFamily="34" charset="-122"/>
                <a:cs typeface="Calibri" pitchFamily="34" charset="-120"/>
              </a:rPr>
              <a:t>NOT frontaliers</a:t>
            </a:r>
            <a:endParaRPr lang="en-US" sz="1600" dirty="0"/>
          </a:p>
        </p:txBody>
      </p:sp>
      <p:sp>
        <p:nvSpPr>
          <p:cNvPr id="14" name="Text 12"/>
          <p:cNvSpPr/>
          <p:nvPr/>
        </p:nvSpPr>
        <p:spPr>
          <a:xfrm>
            <a:off x="1600200" y="3995928"/>
            <a:ext cx="10058400" cy="502920"/>
          </a:xfrm>
          <a:prstGeom prst="rect">
            <a:avLst/>
          </a:prstGeom>
          <a:noFill/>
          <a:ln/>
        </p:spPr>
        <p:txBody>
          <a:bodyPr wrap="square"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A German commuting from Germany has all their pension in Luxembourg — no multi-country problem. Our target is people who relocated and accumulated entitlements in 2+ countries.</a:t>
            </a:r>
            <a:endParaRPr lang="en-US" sz="1200" dirty="0"/>
          </a:p>
        </p:txBody>
      </p:sp>
      <p:sp>
        <p:nvSpPr>
          <p:cNvPr id="15" name="Shape 13"/>
          <p:cNvSpPr/>
          <p:nvPr/>
        </p:nvSpPr>
        <p:spPr>
          <a:xfrm>
            <a:off x="640080" y="4709160"/>
            <a:ext cx="777240" cy="777240"/>
          </a:xfrm>
          <a:prstGeom prst="ellipse">
            <a:avLst/>
          </a:prstGeom>
          <a:solidFill>
            <a:srgbClr val="7030A0"/>
          </a:solidFill>
          <a:ln w="12700">
            <a:solidFill>
              <a:srgbClr val="3D1257"/>
            </a:solidFill>
            <a:prstDash val="solid"/>
          </a:ln>
        </p:spPr>
        <p:txBody>
          <a:bodyPr/>
          <a:lstStyle/>
          <a:p>
            <a:endParaRPr lang="pl-PL"/>
          </a:p>
        </p:txBody>
      </p:sp>
      <p:sp>
        <p:nvSpPr>
          <p:cNvPr id="16" name="Text 14"/>
          <p:cNvSpPr/>
          <p:nvPr/>
        </p:nvSpPr>
        <p:spPr>
          <a:xfrm>
            <a:off x="640080" y="4709160"/>
            <a:ext cx="777240" cy="7772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7" name="Text 15"/>
          <p:cNvSpPr/>
          <p:nvPr/>
        </p:nvSpPr>
        <p:spPr>
          <a:xfrm>
            <a:off x="1600200" y="4709160"/>
            <a:ext cx="10058400" cy="365760"/>
          </a:xfrm>
          <a:prstGeom prst="rect">
            <a:avLst/>
          </a:prstGeom>
          <a:noFill/>
          <a:ln/>
        </p:spPr>
        <p:txBody>
          <a:bodyPr wrap="square" rtlCol="0" anchor="ctr"/>
          <a:lstStyle/>
          <a:p>
            <a:pPr marL="0" indent="0" algn="l">
              <a:buNone/>
            </a:pPr>
            <a:r>
              <a:rPr lang="en-US" sz="1600" b="1" dirty="0">
                <a:solidFill>
                  <a:srgbClr val="3D1257"/>
                </a:solidFill>
                <a:latin typeface="Calibri" pitchFamily="34" charset="0"/>
                <a:ea typeface="Calibri" pitchFamily="34" charset="-122"/>
                <a:cs typeface="Calibri" pitchFamily="34" charset="-120"/>
              </a:rPr>
              <a:t>17M EU mobile citizens (Eurostat)</a:t>
            </a:r>
            <a:endParaRPr lang="en-US" sz="1600" dirty="0"/>
          </a:p>
        </p:txBody>
      </p:sp>
      <p:sp>
        <p:nvSpPr>
          <p:cNvPr id="18" name="Text 16"/>
          <p:cNvSpPr/>
          <p:nvPr/>
        </p:nvSpPr>
        <p:spPr>
          <a:xfrm>
            <a:off x="1600200" y="5093208"/>
            <a:ext cx="10058400" cy="502920"/>
          </a:xfrm>
          <a:prstGeom prst="rect">
            <a:avLst/>
          </a:prstGeom>
          <a:noFill/>
          <a:ln/>
        </p:spPr>
        <p:txBody>
          <a:bodyPr wrap="square"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The ceiling. Luxembourg is the beachhead, not the boundary. Year 5 endpoint covers all of EU + UK + CH (29 country engines).</a:t>
            </a:r>
            <a:endParaRPr lang="en-US" sz="1200" dirty="0"/>
          </a:p>
        </p:txBody>
      </p:sp>
      <p:sp>
        <p:nvSpPr>
          <p:cNvPr id="19" name="Shape 17"/>
          <p:cNvSpPr/>
          <p:nvPr/>
        </p:nvSpPr>
        <p:spPr>
          <a:xfrm>
            <a:off x="457200" y="5852160"/>
            <a:ext cx="11277295" cy="640080"/>
          </a:xfrm>
          <a:prstGeom prst="rect">
            <a:avLst/>
          </a:prstGeom>
          <a:solidFill>
            <a:srgbClr val="E8D5F5"/>
          </a:solidFill>
          <a:ln w="12700">
            <a:solidFill>
              <a:srgbClr val="E8D5F5"/>
            </a:solidFill>
            <a:prstDash val="solid"/>
          </a:ln>
        </p:spPr>
        <p:txBody>
          <a:bodyPr/>
          <a:lstStyle/>
          <a:p>
            <a:endParaRPr lang="pl-PL"/>
          </a:p>
        </p:txBody>
      </p:sp>
      <p:sp>
        <p:nvSpPr>
          <p:cNvPr id="20" name="Text 18"/>
          <p:cNvSpPr/>
          <p:nvPr/>
        </p:nvSpPr>
        <p:spPr>
          <a:xfrm>
            <a:off x="640080" y="5852160"/>
            <a:ext cx="10911535" cy="640080"/>
          </a:xfrm>
          <a:prstGeom prst="rect">
            <a:avLst/>
          </a:prstGeom>
          <a:noFill/>
          <a:ln/>
        </p:spPr>
        <p:txBody>
          <a:bodyPr wrap="square" rtlCol="0" anchor="ctr"/>
          <a:lstStyle/>
          <a:p>
            <a:pPr marL="0" indent="0" algn="ctr">
              <a:buNone/>
            </a:pPr>
            <a:r>
              <a:rPr lang="en-US" sz="1200" i="1" dirty="0">
                <a:solidFill>
                  <a:srgbClr val="3D1257"/>
                </a:solidFill>
                <a:latin typeface="Calibri" pitchFamily="34" charset="0"/>
                <a:ea typeface="Calibri" pitchFamily="34" charset="-122"/>
                <a:cs typeface="Calibri" pitchFamily="34" charset="-120"/>
              </a:rPr>
              <a:t>Phase −1 lets us measure the addressable market before we spend a euro of seed capital. The wishlist tells us if our sizing is right — or if it isn't.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The funnel matures in three steps — we don't try to launch everything at once.</a:t>
            </a:r>
            <a:endParaRPr lang="en-US" sz="2600" dirty="0"/>
          </a:p>
        </p:txBody>
      </p:sp>
      <p:sp>
        <p:nvSpPr>
          <p:cNvPr id="3" name="Shape 1"/>
          <p:cNvSpPr/>
          <p:nvPr/>
        </p:nvSpPr>
        <p:spPr>
          <a:xfrm>
            <a:off x="380848" y="1325880"/>
            <a:ext cx="3657600" cy="4572000"/>
          </a:xfrm>
          <a:prstGeom prst="rect">
            <a:avLst/>
          </a:prstGeom>
          <a:solidFill>
            <a:srgbClr val="E8D5F5"/>
          </a:solidFill>
          <a:ln w="12700">
            <a:solidFill>
              <a:srgbClr val="9558B0"/>
            </a:solidFill>
            <a:prstDash val="solid"/>
          </a:ln>
        </p:spPr>
        <p:txBody>
          <a:bodyPr/>
          <a:lstStyle/>
          <a:p>
            <a:endParaRPr lang="pl-PL"/>
          </a:p>
        </p:txBody>
      </p:sp>
      <p:sp>
        <p:nvSpPr>
          <p:cNvPr id="4" name="Shape 2"/>
          <p:cNvSpPr/>
          <p:nvPr/>
        </p:nvSpPr>
        <p:spPr>
          <a:xfrm>
            <a:off x="380848" y="1325880"/>
            <a:ext cx="3657600" cy="777240"/>
          </a:xfrm>
          <a:prstGeom prst="rect">
            <a:avLst/>
          </a:prstGeom>
          <a:solidFill>
            <a:srgbClr val="9558B0"/>
          </a:solidFill>
          <a:ln w="12700">
            <a:solidFill>
              <a:srgbClr val="9558B0"/>
            </a:solidFill>
            <a:prstDash val="solid"/>
          </a:ln>
        </p:spPr>
        <p:txBody>
          <a:bodyPr/>
          <a:lstStyle/>
          <a:p>
            <a:endParaRPr lang="pl-PL"/>
          </a:p>
        </p:txBody>
      </p:sp>
      <p:sp>
        <p:nvSpPr>
          <p:cNvPr id="5" name="Text 3"/>
          <p:cNvSpPr/>
          <p:nvPr/>
        </p:nvSpPr>
        <p:spPr>
          <a:xfrm>
            <a:off x="380848" y="1371600"/>
            <a:ext cx="365760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PHASE −1</a:t>
            </a:r>
            <a:endParaRPr lang="en-US" sz="1600" dirty="0"/>
          </a:p>
          <a:p>
            <a:pPr marL="0" indent="0" algn="ctr">
              <a:buNone/>
            </a:pPr>
            <a:r>
              <a:rPr lang="en-US" sz="1100" i="1" dirty="0">
                <a:solidFill>
                  <a:srgbClr val="FFFFFF"/>
                </a:solidFill>
                <a:latin typeface="Calibri" pitchFamily="34" charset="0"/>
                <a:ea typeface="Calibri" pitchFamily="34" charset="-122"/>
                <a:cs typeface="Calibri" pitchFamily="34" charset="-120"/>
              </a:rPr>
              <a:t>Validate (M-3 to M0)</a:t>
            </a:r>
            <a:endParaRPr lang="en-US" sz="1600" dirty="0"/>
          </a:p>
        </p:txBody>
      </p:sp>
      <p:sp>
        <p:nvSpPr>
          <p:cNvPr id="6" name="Text 4"/>
          <p:cNvSpPr/>
          <p:nvPr/>
        </p:nvSpPr>
        <p:spPr>
          <a:xfrm>
            <a:off x="563728" y="2240280"/>
            <a:ext cx="3291840" cy="3566160"/>
          </a:xfrm>
          <a:prstGeom prst="rect">
            <a:avLst/>
          </a:prstGeom>
          <a:noFill/>
          <a:ln/>
        </p:spPr>
        <p:txBody>
          <a:bodyPr wrap="square" rtlCol="0" anchor="t"/>
          <a:lstStyle/>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Funding: €0, founder labor only</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Tools: Calculator (free, public)</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Channels: Organic SEO + community</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CTA: "Join the wishlist"</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Output: ~450 wishlist signups by M0</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Investor proof: demand validated before any capital deploys</a:t>
            </a:r>
            <a:endParaRPr lang="en-US" sz="1050" dirty="0"/>
          </a:p>
        </p:txBody>
      </p:sp>
      <p:sp>
        <p:nvSpPr>
          <p:cNvPr id="7" name="Shape 5"/>
          <p:cNvSpPr/>
          <p:nvPr/>
        </p:nvSpPr>
        <p:spPr>
          <a:xfrm>
            <a:off x="4267048" y="1325880"/>
            <a:ext cx="3657600" cy="4572000"/>
          </a:xfrm>
          <a:prstGeom prst="rect">
            <a:avLst/>
          </a:prstGeom>
          <a:solidFill>
            <a:srgbClr val="F5EAFA"/>
          </a:solidFill>
          <a:ln w="12700">
            <a:solidFill>
              <a:srgbClr val="7030A0"/>
            </a:solidFill>
            <a:prstDash val="solid"/>
          </a:ln>
        </p:spPr>
        <p:txBody>
          <a:bodyPr/>
          <a:lstStyle/>
          <a:p>
            <a:endParaRPr lang="pl-PL"/>
          </a:p>
        </p:txBody>
      </p:sp>
      <p:sp>
        <p:nvSpPr>
          <p:cNvPr id="8" name="Shape 6"/>
          <p:cNvSpPr/>
          <p:nvPr/>
        </p:nvSpPr>
        <p:spPr>
          <a:xfrm>
            <a:off x="4267048" y="1325880"/>
            <a:ext cx="3657600" cy="777240"/>
          </a:xfrm>
          <a:prstGeom prst="rect">
            <a:avLst/>
          </a:prstGeom>
          <a:solidFill>
            <a:srgbClr val="7030A0"/>
          </a:solidFill>
          <a:ln w="12700">
            <a:solidFill>
              <a:srgbClr val="7030A0"/>
            </a:solidFill>
            <a:prstDash val="solid"/>
          </a:ln>
        </p:spPr>
        <p:txBody>
          <a:bodyPr/>
          <a:lstStyle/>
          <a:p>
            <a:endParaRPr lang="pl-PL"/>
          </a:p>
        </p:txBody>
      </p:sp>
      <p:sp>
        <p:nvSpPr>
          <p:cNvPr id="9" name="Text 7"/>
          <p:cNvSpPr/>
          <p:nvPr/>
        </p:nvSpPr>
        <p:spPr>
          <a:xfrm>
            <a:off x="4267048" y="1371600"/>
            <a:ext cx="365760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PHASE 1</a:t>
            </a:r>
            <a:endParaRPr lang="en-US" sz="1600" dirty="0"/>
          </a:p>
          <a:p>
            <a:pPr marL="0" indent="0" algn="ctr">
              <a:buNone/>
            </a:pPr>
            <a:r>
              <a:rPr lang="en-US" sz="1100" i="1" dirty="0">
                <a:solidFill>
                  <a:srgbClr val="FFFFFF"/>
                </a:solidFill>
                <a:latin typeface="Calibri" pitchFamily="34" charset="0"/>
                <a:ea typeface="Calibri" pitchFamily="34" charset="-122"/>
                <a:cs typeface="Calibri" pitchFamily="34" charset="-120"/>
              </a:rPr>
              <a:t>Launch (M1 to M6)</a:t>
            </a:r>
            <a:endParaRPr lang="en-US" sz="1600" dirty="0"/>
          </a:p>
        </p:txBody>
      </p:sp>
      <p:sp>
        <p:nvSpPr>
          <p:cNvPr id="10" name="Text 8"/>
          <p:cNvSpPr/>
          <p:nvPr/>
        </p:nvSpPr>
        <p:spPr>
          <a:xfrm>
            <a:off x="4449928" y="2240280"/>
            <a:ext cx="3291840" cy="3566160"/>
          </a:xfrm>
          <a:prstGeom prst="rect">
            <a:avLst/>
          </a:prstGeom>
          <a:noFill/>
          <a:ln/>
        </p:spPr>
        <p:txBody>
          <a:bodyPr wrap="square" rtlCol="0" anchor="t"/>
          <a:lstStyle/>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Funding: founder self-funded, no external capital</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Tools: Calculator + Platform live</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Channels: Organic + wishlist activation at M1</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CTA 1: "Send report by email" (consent → drip)</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CTA 2: Direct redirect → platform signup</a:t>
            </a:r>
            <a:endParaRPr lang="en-US" sz="1050" dirty="0"/>
          </a:p>
          <a:p>
            <a:pPr marL="0" indent="0">
              <a:spcAft>
                <a:spcPts val="600"/>
              </a:spcAft>
              <a:buNone/>
            </a:pPr>
            <a:r>
              <a:rPr lang="en-US" sz="1050" dirty="0">
                <a:solidFill>
                  <a:srgbClr val="333333"/>
                </a:solidFill>
                <a:latin typeface="Calibri" pitchFamily="34" charset="0"/>
                <a:ea typeface="Calibri" pitchFamily="34" charset="-122"/>
                <a:cs typeface="Calibri" pitchFamily="34" charset="-120"/>
              </a:rPr>
              <a:t>📊  Investor proof: funnel metrics measured, not modeled</a:t>
            </a:r>
            <a:endParaRPr lang="en-US" sz="1050" dirty="0"/>
          </a:p>
        </p:txBody>
      </p:sp>
      <p:sp>
        <p:nvSpPr>
          <p:cNvPr id="11" name="Shape 9"/>
          <p:cNvSpPr/>
          <p:nvPr/>
        </p:nvSpPr>
        <p:spPr>
          <a:xfrm>
            <a:off x="8153248" y="1325880"/>
            <a:ext cx="3657600" cy="4572000"/>
          </a:xfrm>
          <a:prstGeom prst="rect">
            <a:avLst/>
          </a:prstGeom>
          <a:solidFill>
            <a:srgbClr val="7030A0"/>
          </a:solidFill>
          <a:ln w="12700">
            <a:solidFill>
              <a:srgbClr val="3D1257"/>
            </a:solidFill>
            <a:prstDash val="solid"/>
          </a:ln>
        </p:spPr>
        <p:txBody>
          <a:bodyPr/>
          <a:lstStyle/>
          <a:p>
            <a:endParaRPr lang="pl-PL"/>
          </a:p>
        </p:txBody>
      </p:sp>
      <p:sp>
        <p:nvSpPr>
          <p:cNvPr id="12" name="Shape 10"/>
          <p:cNvSpPr/>
          <p:nvPr/>
        </p:nvSpPr>
        <p:spPr>
          <a:xfrm>
            <a:off x="8153248" y="1325880"/>
            <a:ext cx="3657600" cy="777240"/>
          </a:xfrm>
          <a:prstGeom prst="rect">
            <a:avLst/>
          </a:prstGeom>
          <a:solidFill>
            <a:srgbClr val="3D1257"/>
          </a:solidFill>
          <a:ln w="12700">
            <a:solidFill>
              <a:srgbClr val="3D1257"/>
            </a:solidFill>
            <a:prstDash val="solid"/>
          </a:ln>
        </p:spPr>
        <p:txBody>
          <a:bodyPr/>
          <a:lstStyle/>
          <a:p>
            <a:endParaRPr lang="pl-PL"/>
          </a:p>
        </p:txBody>
      </p:sp>
      <p:sp>
        <p:nvSpPr>
          <p:cNvPr id="13" name="Text 11"/>
          <p:cNvSpPr/>
          <p:nvPr/>
        </p:nvSpPr>
        <p:spPr>
          <a:xfrm>
            <a:off x="8153248" y="1371600"/>
            <a:ext cx="365760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PHASE 2</a:t>
            </a:r>
            <a:endParaRPr lang="en-US" sz="1600" dirty="0"/>
          </a:p>
          <a:p>
            <a:pPr marL="0" indent="0" algn="ctr">
              <a:buNone/>
            </a:pPr>
            <a:r>
              <a:rPr lang="en-US" sz="1100" i="1" dirty="0">
                <a:solidFill>
                  <a:srgbClr val="FFFFFF"/>
                </a:solidFill>
                <a:latin typeface="Calibri" pitchFamily="34" charset="0"/>
                <a:ea typeface="Calibri" pitchFamily="34" charset="-122"/>
                <a:cs typeface="Calibri" pitchFamily="34" charset="-120"/>
              </a:rPr>
              <a:t>Scale (M7 to M60)</a:t>
            </a:r>
            <a:endParaRPr lang="en-US" sz="1600" dirty="0"/>
          </a:p>
        </p:txBody>
      </p:sp>
      <p:sp>
        <p:nvSpPr>
          <p:cNvPr id="14" name="Text 12"/>
          <p:cNvSpPr/>
          <p:nvPr/>
        </p:nvSpPr>
        <p:spPr>
          <a:xfrm>
            <a:off x="8336128" y="2240280"/>
            <a:ext cx="3291840" cy="3566160"/>
          </a:xfrm>
          <a:prstGeom prst="rect">
            <a:avLst/>
          </a:prstGeom>
          <a:noFill/>
          <a:ln/>
        </p:spPr>
        <p:txBody>
          <a:bodyPr wrap="square" rtlCol="0" anchor="t"/>
          <a:lstStyle/>
          <a:p>
            <a:pPr marL="0" indent="0">
              <a:spcAft>
                <a:spcPts val="600"/>
              </a:spcAft>
              <a:buNone/>
            </a:pPr>
            <a:r>
              <a:rPr lang="en-US" sz="1050" dirty="0">
                <a:solidFill>
                  <a:srgbClr val="FFFFFF"/>
                </a:solidFill>
                <a:latin typeface="Calibri" pitchFamily="34" charset="0"/>
                <a:ea typeface="Calibri" pitchFamily="34" charset="-122"/>
                <a:cs typeface="Calibri" pitchFamily="34" charset="-120"/>
              </a:rPr>
              <a:t>💰  Funding: €230K seed deployed</a:t>
            </a:r>
            <a:endParaRPr lang="en-US" sz="1050" dirty="0"/>
          </a:p>
          <a:p>
            <a:pPr marL="0" indent="0">
              <a:spcAft>
                <a:spcPts val="600"/>
              </a:spcAft>
              <a:buNone/>
            </a:pPr>
            <a:r>
              <a:rPr lang="en-US" sz="1050" dirty="0">
                <a:solidFill>
                  <a:srgbClr val="FFFFFF"/>
                </a:solidFill>
                <a:latin typeface="Calibri" pitchFamily="34" charset="0"/>
                <a:ea typeface="Calibri" pitchFamily="34" charset="-122"/>
                <a:cs typeface="Calibri" pitchFamily="34" charset="-120"/>
              </a:rPr>
              <a:t>🛠️  Tools: Calculator + Platform + Vault</a:t>
            </a:r>
            <a:endParaRPr lang="en-US" sz="1050" dirty="0"/>
          </a:p>
          <a:p>
            <a:pPr marL="0" indent="0">
              <a:spcAft>
                <a:spcPts val="600"/>
              </a:spcAft>
              <a:buNone/>
            </a:pPr>
            <a:r>
              <a:rPr lang="en-US" sz="1050" dirty="0">
                <a:solidFill>
                  <a:srgbClr val="FFFFFF"/>
                </a:solidFill>
                <a:latin typeface="Calibri" pitchFamily="34" charset="0"/>
                <a:ea typeface="Calibri" pitchFamily="34" charset="-122"/>
                <a:cs typeface="Calibri" pitchFamily="34" charset="-120"/>
              </a:rPr>
              <a:t>📡  Channels: Organic + Paid + Distribution Partnerships</a:t>
            </a:r>
            <a:endParaRPr lang="en-US" sz="1050" dirty="0"/>
          </a:p>
          <a:p>
            <a:pPr marL="0" indent="0">
              <a:spcAft>
                <a:spcPts val="600"/>
              </a:spcAft>
              <a:buNone/>
            </a:pPr>
            <a:r>
              <a:rPr lang="en-US" sz="1050" dirty="0">
                <a:solidFill>
                  <a:srgbClr val="FFFFFF"/>
                </a:solidFill>
                <a:latin typeface="Calibri" pitchFamily="34" charset="0"/>
                <a:ea typeface="Calibri" pitchFamily="34" charset="-122"/>
                <a:cs typeface="Calibri" pitchFamily="34" charset="-120"/>
              </a:rPr>
              <a:t>🎯  CTAs: same + paid landing pages + partner referrals</a:t>
            </a:r>
            <a:endParaRPr lang="en-US" sz="1050" dirty="0"/>
          </a:p>
          <a:p>
            <a:pPr marL="0" indent="0">
              <a:spcAft>
                <a:spcPts val="600"/>
              </a:spcAft>
              <a:buNone/>
            </a:pPr>
            <a:r>
              <a:rPr lang="en-US" sz="1050" dirty="0">
                <a:solidFill>
                  <a:srgbClr val="FFFFFF"/>
                </a:solidFill>
                <a:latin typeface="Calibri" pitchFamily="34" charset="0"/>
                <a:ea typeface="Calibri" pitchFamily="34" charset="-122"/>
                <a:cs typeface="Calibri" pitchFamily="34" charset="-120"/>
              </a:rPr>
              <a:t>✅  Output: €3.67M ARR Y5 base, M16 monthly BE</a:t>
            </a:r>
            <a:endParaRPr lang="en-US" sz="1050" dirty="0"/>
          </a:p>
          <a:p>
            <a:pPr marL="0" indent="0">
              <a:spcAft>
                <a:spcPts val="600"/>
              </a:spcAft>
              <a:buNone/>
            </a:pPr>
            <a:r>
              <a:rPr lang="en-US" sz="1050" dirty="0">
                <a:solidFill>
                  <a:srgbClr val="FFFFFF"/>
                </a:solidFill>
                <a:latin typeface="Calibri" pitchFamily="34" charset="0"/>
                <a:ea typeface="Calibri" pitchFamily="34" charset="-122"/>
                <a:cs typeface="Calibri" pitchFamily="34" charset="-120"/>
              </a:rPr>
              <a:t>📊  Investor proof: capital pours fuel on a measured fire</a:t>
            </a:r>
            <a:endParaRPr lang="en-US" sz="1050" dirty="0"/>
          </a:p>
        </p:txBody>
      </p:sp>
      <p:sp>
        <p:nvSpPr>
          <p:cNvPr id="15" name="Shape 13"/>
          <p:cNvSpPr/>
          <p:nvPr/>
        </p:nvSpPr>
        <p:spPr>
          <a:xfrm>
            <a:off x="457200" y="6035040"/>
            <a:ext cx="11277295" cy="640080"/>
          </a:xfrm>
          <a:prstGeom prst="rect">
            <a:avLst/>
          </a:prstGeom>
          <a:solidFill>
            <a:srgbClr val="3D1257"/>
          </a:solidFill>
          <a:ln w="12700">
            <a:solidFill>
              <a:srgbClr val="3D1257"/>
            </a:solidFill>
            <a:prstDash val="solid"/>
          </a:ln>
        </p:spPr>
        <p:txBody>
          <a:bodyPr/>
          <a:lstStyle/>
          <a:p>
            <a:endParaRPr lang="pl-PL"/>
          </a:p>
        </p:txBody>
      </p:sp>
      <p:sp>
        <p:nvSpPr>
          <p:cNvPr id="16" name="Text 14"/>
          <p:cNvSpPr/>
          <p:nvPr/>
        </p:nvSpPr>
        <p:spPr>
          <a:xfrm>
            <a:off x="640080" y="6035040"/>
            <a:ext cx="10911535" cy="64008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Each phase only starts when the previous has produced its evidence. By M7 (seed close), we have 6 months of platform metrics + 9 months of calculator metrics. The seed underwrites measured reality, not slideware.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Same engine, ~10× the TAM — the order matters.</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Each new country unlocks bilateral pension corridors with every already-supported country. Sequence determines marginal value.</a:t>
            </a:r>
            <a:endParaRPr lang="en-US" sz="1300" dirty="0"/>
          </a:p>
        </p:txBody>
      </p:sp>
      <p:sp>
        <p:nvSpPr>
          <p:cNvPr id="4" name="Shape 2"/>
          <p:cNvSpPr/>
          <p:nvPr/>
        </p:nvSpPr>
        <p:spPr>
          <a:xfrm>
            <a:off x="640080" y="1554480"/>
            <a:ext cx="5120640" cy="4023360"/>
          </a:xfrm>
          <a:prstGeom prst="rect">
            <a:avLst/>
          </a:prstGeom>
          <a:solidFill>
            <a:srgbClr val="F5EAFA"/>
          </a:solidFill>
          <a:ln w="12700">
            <a:solidFill>
              <a:srgbClr val="9558B0"/>
            </a:solidFill>
            <a:prstDash val="solid"/>
          </a:ln>
        </p:spPr>
        <p:txBody>
          <a:bodyPr/>
          <a:lstStyle/>
          <a:p>
            <a:endParaRPr lang="pl-PL"/>
          </a:p>
        </p:txBody>
      </p:sp>
      <p:sp>
        <p:nvSpPr>
          <p:cNvPr id="5" name="Shape 3"/>
          <p:cNvSpPr/>
          <p:nvPr/>
        </p:nvSpPr>
        <p:spPr>
          <a:xfrm>
            <a:off x="640080" y="1554480"/>
            <a:ext cx="5120640" cy="548640"/>
          </a:xfrm>
          <a:prstGeom prst="rect">
            <a:avLst/>
          </a:prstGeom>
          <a:solidFill>
            <a:srgbClr val="9558B0"/>
          </a:solidFill>
          <a:ln w="12700">
            <a:solidFill>
              <a:srgbClr val="9558B0"/>
            </a:solidFill>
            <a:prstDash val="solid"/>
          </a:ln>
        </p:spPr>
        <p:txBody>
          <a:bodyPr/>
          <a:lstStyle/>
          <a:p>
            <a:endParaRPr lang="pl-PL"/>
          </a:p>
        </p:txBody>
      </p:sp>
      <p:sp>
        <p:nvSpPr>
          <p:cNvPr id="6" name="Text 4"/>
          <p:cNvSpPr/>
          <p:nvPr/>
        </p:nvSpPr>
        <p:spPr>
          <a:xfrm>
            <a:off x="640080" y="1554480"/>
            <a:ext cx="512064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Adding PT when only LU is supported</a:t>
            </a:r>
            <a:endParaRPr lang="en-US" sz="1400" dirty="0"/>
          </a:p>
        </p:txBody>
      </p:sp>
      <p:sp>
        <p:nvSpPr>
          <p:cNvPr id="7" name="Text 5"/>
          <p:cNvSpPr/>
          <p:nvPr/>
        </p:nvSpPr>
        <p:spPr>
          <a:xfrm>
            <a:off x="1005840" y="2331720"/>
            <a:ext cx="4389120" cy="2286000"/>
          </a:xfrm>
          <a:prstGeom prst="rect">
            <a:avLst/>
          </a:prstGeom>
          <a:noFill/>
          <a:ln/>
        </p:spPr>
        <p:txBody>
          <a:bodyPr wrap="square" rtlCol="0" anchor="t"/>
          <a:lstStyle/>
          <a:p>
            <a:pPr marL="0" indent="0">
              <a:buNone/>
            </a:pPr>
            <a:r>
              <a:rPr lang="en-US" sz="1300" b="1" dirty="0">
                <a:solidFill>
                  <a:srgbClr val="333333"/>
                </a:solidFill>
                <a:latin typeface="Calibri" pitchFamily="34" charset="0"/>
                <a:ea typeface="Calibri" pitchFamily="34" charset="-122"/>
                <a:cs typeface="Calibri" pitchFamily="34" charset="-120"/>
              </a:rPr>
              <a:t>Live engines:  </a:t>
            </a:r>
            <a:r>
              <a:rPr lang="en-US" sz="1300" dirty="0">
                <a:solidFill>
                  <a:srgbClr val="333333"/>
                </a:solidFill>
                <a:latin typeface="Calibri" pitchFamily="34" charset="0"/>
                <a:ea typeface="Calibri" pitchFamily="34" charset="-122"/>
                <a:cs typeface="Calibri" pitchFamily="34" charset="-120"/>
              </a:rPr>
              <a:t>LU</a:t>
            </a:r>
            <a:endParaRPr lang="en-US" sz="1300" dirty="0"/>
          </a:p>
          <a:p>
            <a:pPr marL="0" indent="0">
              <a:buNone/>
            </a:pPr>
            <a:r>
              <a:rPr lang="en-US" sz="1300" b="1" dirty="0">
                <a:solidFill>
                  <a:srgbClr val="333333"/>
                </a:solidFill>
                <a:latin typeface="Calibri" pitchFamily="34" charset="0"/>
                <a:ea typeface="Calibri" pitchFamily="34" charset="-122"/>
                <a:cs typeface="Calibri" pitchFamily="34" charset="-120"/>
              </a:rPr>
              <a:t>New engine:   </a:t>
            </a:r>
            <a:r>
              <a:rPr lang="en-US" sz="1300" dirty="0">
                <a:solidFill>
                  <a:srgbClr val="333333"/>
                </a:solidFill>
                <a:latin typeface="Calibri" pitchFamily="34" charset="0"/>
                <a:ea typeface="Calibri" pitchFamily="34" charset="-122"/>
                <a:cs typeface="Calibri" pitchFamily="34" charset="-120"/>
              </a:rPr>
              <a:t>PT</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333333"/>
                </a:solidFill>
                <a:latin typeface="Calibri" pitchFamily="34" charset="0"/>
                <a:ea typeface="Calibri" pitchFamily="34" charset="-122"/>
                <a:cs typeface="Calibri" pitchFamily="34" charset="-120"/>
              </a:rPr>
              <a:t>Unlocked corridors:</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 PT–LU:  56K</a:t>
            </a:r>
            <a:endParaRPr lang="en-US" sz="1300" dirty="0"/>
          </a:p>
        </p:txBody>
      </p:sp>
      <p:sp>
        <p:nvSpPr>
          <p:cNvPr id="8" name="Text 6"/>
          <p:cNvSpPr/>
          <p:nvPr/>
        </p:nvSpPr>
        <p:spPr>
          <a:xfrm>
            <a:off x="1005840" y="4754880"/>
            <a:ext cx="4389120" cy="640080"/>
          </a:xfrm>
          <a:prstGeom prst="rect">
            <a:avLst/>
          </a:prstGeom>
          <a:noFill/>
          <a:ln/>
        </p:spPr>
        <p:txBody>
          <a:bodyPr wrap="square" rtlCol="0" anchor="ctr"/>
          <a:lstStyle/>
          <a:p>
            <a:pPr marL="0" indent="0" algn="ctr">
              <a:buNone/>
            </a:pPr>
            <a:r>
              <a:rPr lang="en-US" sz="2200" b="1" dirty="0">
                <a:solidFill>
                  <a:srgbClr val="9558B0"/>
                </a:solidFill>
                <a:latin typeface="Calibri" pitchFamily="34" charset="0"/>
                <a:ea typeface="Calibri" pitchFamily="34" charset="-122"/>
                <a:cs typeface="Calibri" pitchFamily="34" charset="-120"/>
              </a:rPr>
              <a:t>Marginal addressable: 56K</a:t>
            </a:r>
            <a:endParaRPr lang="en-US" sz="2200" dirty="0"/>
          </a:p>
        </p:txBody>
      </p:sp>
      <p:sp>
        <p:nvSpPr>
          <p:cNvPr id="9" name="Shape 7"/>
          <p:cNvSpPr/>
          <p:nvPr/>
        </p:nvSpPr>
        <p:spPr>
          <a:xfrm>
            <a:off x="6400800" y="1554480"/>
            <a:ext cx="5120640" cy="4023360"/>
          </a:xfrm>
          <a:prstGeom prst="rect">
            <a:avLst/>
          </a:prstGeom>
          <a:solidFill>
            <a:srgbClr val="E8D5F5"/>
          </a:solidFill>
          <a:ln w="25400">
            <a:solidFill>
              <a:srgbClr val="3D1257"/>
            </a:solidFill>
            <a:prstDash val="solid"/>
          </a:ln>
        </p:spPr>
        <p:txBody>
          <a:bodyPr/>
          <a:lstStyle/>
          <a:p>
            <a:endParaRPr lang="pl-PL"/>
          </a:p>
        </p:txBody>
      </p:sp>
      <p:sp>
        <p:nvSpPr>
          <p:cNvPr id="10" name="Shape 8"/>
          <p:cNvSpPr/>
          <p:nvPr/>
        </p:nvSpPr>
        <p:spPr>
          <a:xfrm>
            <a:off x="6400800" y="1554480"/>
            <a:ext cx="5120640" cy="548640"/>
          </a:xfrm>
          <a:prstGeom prst="rect">
            <a:avLst/>
          </a:prstGeom>
          <a:solidFill>
            <a:srgbClr val="3D1257"/>
          </a:solidFill>
          <a:ln w="12700">
            <a:solidFill>
              <a:srgbClr val="3D1257"/>
            </a:solidFill>
            <a:prstDash val="solid"/>
          </a:ln>
        </p:spPr>
        <p:txBody>
          <a:bodyPr/>
          <a:lstStyle/>
          <a:p>
            <a:endParaRPr lang="pl-PL"/>
          </a:p>
        </p:txBody>
      </p:sp>
      <p:sp>
        <p:nvSpPr>
          <p:cNvPr id="11" name="Text 9"/>
          <p:cNvSpPr/>
          <p:nvPr/>
        </p:nvSpPr>
        <p:spPr>
          <a:xfrm>
            <a:off x="6400800" y="1554480"/>
            <a:ext cx="512064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Adding PT when LU + FR + CH are all live</a:t>
            </a:r>
            <a:endParaRPr lang="en-US" sz="1400" dirty="0"/>
          </a:p>
        </p:txBody>
      </p:sp>
      <p:sp>
        <p:nvSpPr>
          <p:cNvPr id="12" name="Text 10"/>
          <p:cNvSpPr/>
          <p:nvPr/>
        </p:nvSpPr>
        <p:spPr>
          <a:xfrm>
            <a:off x="6766560" y="2331720"/>
            <a:ext cx="4389120" cy="2286000"/>
          </a:xfrm>
          <a:prstGeom prst="rect">
            <a:avLst/>
          </a:prstGeom>
          <a:noFill/>
          <a:ln/>
        </p:spPr>
        <p:txBody>
          <a:bodyPr wrap="square" rtlCol="0" anchor="t"/>
          <a:lstStyle/>
          <a:p>
            <a:pPr marL="0" indent="0">
              <a:buNone/>
            </a:pPr>
            <a:r>
              <a:rPr lang="en-US" sz="1300" b="1" dirty="0">
                <a:solidFill>
                  <a:srgbClr val="333333"/>
                </a:solidFill>
                <a:latin typeface="Calibri" pitchFamily="34" charset="0"/>
                <a:ea typeface="Calibri" pitchFamily="34" charset="-122"/>
                <a:cs typeface="Calibri" pitchFamily="34" charset="-120"/>
              </a:rPr>
              <a:t>Live engines:  </a:t>
            </a:r>
            <a:r>
              <a:rPr lang="en-US" sz="1300" dirty="0">
                <a:solidFill>
                  <a:srgbClr val="333333"/>
                </a:solidFill>
                <a:latin typeface="Calibri" pitchFamily="34" charset="0"/>
                <a:ea typeface="Calibri" pitchFamily="34" charset="-122"/>
                <a:cs typeface="Calibri" pitchFamily="34" charset="-120"/>
              </a:rPr>
              <a:t>LU + FR + CH</a:t>
            </a:r>
            <a:endParaRPr lang="en-US" sz="1300" dirty="0"/>
          </a:p>
          <a:p>
            <a:pPr marL="0" indent="0">
              <a:buNone/>
            </a:pPr>
            <a:r>
              <a:rPr lang="en-US" sz="1300" b="1" dirty="0">
                <a:solidFill>
                  <a:srgbClr val="333333"/>
                </a:solidFill>
                <a:latin typeface="Calibri" pitchFamily="34" charset="0"/>
                <a:ea typeface="Calibri" pitchFamily="34" charset="-122"/>
                <a:cs typeface="Calibri" pitchFamily="34" charset="-120"/>
              </a:rPr>
              <a:t>New engine:   </a:t>
            </a:r>
            <a:r>
              <a:rPr lang="en-US" sz="1300" dirty="0">
                <a:solidFill>
                  <a:srgbClr val="333333"/>
                </a:solidFill>
                <a:latin typeface="Calibri" pitchFamily="34" charset="0"/>
                <a:ea typeface="Calibri" pitchFamily="34" charset="-122"/>
                <a:cs typeface="Calibri" pitchFamily="34" charset="-120"/>
              </a:rPr>
              <a:t>PT</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333333"/>
                </a:solidFill>
                <a:latin typeface="Calibri" pitchFamily="34" charset="0"/>
                <a:ea typeface="Calibri" pitchFamily="34" charset="-122"/>
                <a:cs typeface="Calibri" pitchFamily="34" charset="-120"/>
              </a:rPr>
              <a:t>Unlocked corridors:</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 PT–LU:    56K</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 FR–PT:  358K</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 CH–PT:  151K</a:t>
            </a:r>
            <a:endParaRPr lang="en-US" sz="1300" dirty="0"/>
          </a:p>
        </p:txBody>
      </p:sp>
      <p:sp>
        <p:nvSpPr>
          <p:cNvPr id="13" name="Text 11"/>
          <p:cNvSpPr/>
          <p:nvPr/>
        </p:nvSpPr>
        <p:spPr>
          <a:xfrm>
            <a:off x="6766560" y="4754880"/>
            <a:ext cx="4389120" cy="640080"/>
          </a:xfrm>
          <a:prstGeom prst="rect">
            <a:avLst/>
          </a:prstGeom>
          <a:noFill/>
          <a:ln/>
        </p:spPr>
        <p:txBody>
          <a:bodyPr wrap="square" rtlCol="0" anchor="ctr"/>
          <a:lstStyle/>
          <a:p>
            <a:pPr marL="0" indent="0" algn="ctr">
              <a:buNone/>
            </a:pPr>
            <a:r>
              <a:rPr lang="en-US" sz="2200" b="1" dirty="0">
                <a:solidFill>
                  <a:srgbClr val="3D1257"/>
                </a:solidFill>
                <a:latin typeface="Calibri" pitchFamily="34" charset="0"/>
                <a:ea typeface="Calibri" pitchFamily="34" charset="-122"/>
                <a:cs typeface="Calibri" pitchFamily="34" charset="-120"/>
              </a:rPr>
              <a:t>Marginal addressable: 565K</a:t>
            </a:r>
            <a:endParaRPr lang="en-US" sz="2200" dirty="0"/>
          </a:p>
        </p:txBody>
      </p:sp>
      <p:sp>
        <p:nvSpPr>
          <p:cNvPr id="14" name="Shape 12"/>
          <p:cNvSpPr/>
          <p:nvPr/>
        </p:nvSpPr>
        <p:spPr>
          <a:xfrm>
            <a:off x="457200" y="5852160"/>
            <a:ext cx="11277295" cy="502920"/>
          </a:xfrm>
          <a:prstGeom prst="rect">
            <a:avLst/>
          </a:prstGeom>
          <a:solidFill>
            <a:srgbClr val="3D1257"/>
          </a:solidFill>
          <a:ln w="12700">
            <a:solidFill>
              <a:srgbClr val="3D1257"/>
            </a:solidFill>
            <a:prstDash val="solid"/>
          </a:ln>
        </p:spPr>
        <p:txBody>
          <a:bodyPr/>
          <a:lstStyle/>
          <a:p>
            <a:endParaRPr lang="pl-PL"/>
          </a:p>
        </p:txBody>
      </p:sp>
      <p:sp>
        <p:nvSpPr>
          <p:cNvPr id="15" name="Text 13"/>
          <p:cNvSpPr/>
          <p:nvPr/>
        </p:nvSpPr>
        <p:spPr>
          <a:xfrm>
            <a:off x="640080" y="5852160"/>
            <a:ext cx="10911535"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Same engine. ~10× the marginal TAM. The launch trio (LU + FR + CH at M1) is what makes the rest of the schedule work.</a:t>
            </a:r>
            <a:endParaRPr lang="en-US" sz="1400" dirty="0"/>
          </a:p>
        </p:txBody>
      </p:sp>
      <p:sp>
        <p:nvSpPr>
          <p:cNvPr id="16" name="Text 14"/>
          <p:cNvSpPr/>
          <p:nvPr/>
        </p:nvSpPr>
        <p:spPr>
          <a:xfrm>
            <a:off x="457200" y="6446520"/>
            <a:ext cx="11277295" cy="274320"/>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This is why we ship Luxembourg, France, and Switzerland together at month one rather than sequentially.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29 country engines, paced for capacity — full EU+UK+CH coverage by Month 58.</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Front-loaded launch trio + quarterly Y1 cadence + ~2-month cadence Y2-Y5. Each new engine unlocks bilateral corridors with everything already supported.</a:t>
            </a:r>
            <a:endParaRPr lang="en-US" sz="1300" dirty="0"/>
          </a:p>
        </p:txBody>
      </p:sp>
      <p:sp>
        <p:nvSpPr>
          <p:cNvPr id="4" name="Shape 2"/>
          <p:cNvSpPr/>
          <p:nvPr/>
        </p:nvSpPr>
        <p:spPr>
          <a:xfrm>
            <a:off x="257404" y="1508760"/>
            <a:ext cx="2240280" cy="4434840"/>
          </a:xfrm>
          <a:prstGeom prst="rect">
            <a:avLst/>
          </a:prstGeom>
          <a:solidFill>
            <a:srgbClr val="E8D5F5"/>
          </a:solidFill>
          <a:ln w="25400">
            <a:solidFill>
              <a:srgbClr val="3D1257"/>
            </a:solidFill>
            <a:prstDash val="solid"/>
          </a:ln>
        </p:spPr>
        <p:txBody>
          <a:bodyPr/>
          <a:lstStyle/>
          <a:p>
            <a:endParaRPr lang="pl-PL"/>
          </a:p>
        </p:txBody>
      </p:sp>
      <p:sp>
        <p:nvSpPr>
          <p:cNvPr id="5" name="Shape 3"/>
          <p:cNvSpPr/>
          <p:nvPr/>
        </p:nvSpPr>
        <p:spPr>
          <a:xfrm>
            <a:off x="257404" y="1508760"/>
            <a:ext cx="2240280" cy="640080"/>
          </a:xfrm>
          <a:prstGeom prst="rect">
            <a:avLst/>
          </a:prstGeom>
          <a:solidFill>
            <a:srgbClr val="3D1257"/>
          </a:solidFill>
          <a:ln w="12700">
            <a:solidFill>
              <a:srgbClr val="3D1257"/>
            </a:solidFill>
            <a:prstDash val="solid"/>
          </a:ln>
        </p:spPr>
        <p:txBody>
          <a:bodyPr/>
          <a:lstStyle/>
          <a:p>
            <a:endParaRPr lang="pl-PL"/>
          </a:p>
        </p:txBody>
      </p:sp>
      <p:sp>
        <p:nvSpPr>
          <p:cNvPr id="6" name="Text 4"/>
          <p:cNvSpPr/>
          <p:nvPr/>
        </p:nvSpPr>
        <p:spPr>
          <a:xfrm>
            <a:off x="257404" y="1508760"/>
            <a:ext cx="22402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YEAR 1</a:t>
            </a:r>
            <a:endParaRPr lang="en-US" sz="1400" dirty="0"/>
          </a:p>
          <a:p>
            <a:pPr marL="0" indent="0" algn="ctr">
              <a:buNone/>
            </a:pPr>
            <a:r>
              <a:rPr lang="en-US" sz="1000" i="1" dirty="0">
                <a:solidFill>
                  <a:srgbClr val="FFFFFF"/>
                </a:solidFill>
                <a:latin typeface="Calibri" pitchFamily="34" charset="0"/>
                <a:ea typeface="Calibri" pitchFamily="34" charset="-122"/>
                <a:cs typeface="Calibri" pitchFamily="34" charset="-120"/>
              </a:rPr>
              <a:t>M1 → M12</a:t>
            </a:r>
            <a:endParaRPr lang="en-US" sz="1400" dirty="0"/>
          </a:p>
        </p:txBody>
      </p:sp>
      <p:sp>
        <p:nvSpPr>
          <p:cNvPr id="7" name="Shape 5"/>
          <p:cNvSpPr/>
          <p:nvPr/>
        </p:nvSpPr>
        <p:spPr>
          <a:xfrm>
            <a:off x="394564" y="2286000"/>
            <a:ext cx="1965960" cy="777240"/>
          </a:xfrm>
          <a:prstGeom prst="rect">
            <a:avLst/>
          </a:prstGeom>
          <a:solidFill>
            <a:srgbClr val="7030A0"/>
          </a:solidFill>
          <a:ln w="12700">
            <a:solidFill>
              <a:srgbClr val="3D1257"/>
            </a:solidFill>
            <a:prstDash val="solid"/>
          </a:ln>
        </p:spPr>
        <p:txBody>
          <a:bodyPr/>
          <a:lstStyle/>
          <a:p>
            <a:endParaRPr lang="pl-PL"/>
          </a:p>
        </p:txBody>
      </p:sp>
      <p:sp>
        <p:nvSpPr>
          <p:cNvPr id="8" name="Text 6"/>
          <p:cNvSpPr/>
          <p:nvPr/>
        </p:nvSpPr>
        <p:spPr>
          <a:xfrm>
            <a:off x="394564" y="2286000"/>
            <a:ext cx="1965960" cy="7772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LAUNCH TRIO  ·  M1</a:t>
            </a:r>
            <a:endParaRPr lang="en-US" sz="900" dirty="0"/>
          </a:p>
          <a:p>
            <a:pPr marL="0" indent="0" algn="ctr">
              <a:buNone/>
            </a:pPr>
            <a:r>
              <a:rPr lang="en-US" sz="1200" b="1" dirty="0">
                <a:solidFill>
                  <a:srgbClr val="FFFFFF"/>
                </a:solidFill>
                <a:latin typeface="Calibri" pitchFamily="34" charset="0"/>
                <a:ea typeface="Calibri" pitchFamily="34" charset="-122"/>
                <a:cs typeface="Calibri" pitchFamily="34" charset="-120"/>
              </a:rPr>
              <a:t>LU  +  FR  +  CH</a:t>
            </a:r>
            <a:endParaRPr lang="en-US" sz="900" dirty="0"/>
          </a:p>
        </p:txBody>
      </p:sp>
      <p:sp>
        <p:nvSpPr>
          <p:cNvPr id="9" name="Text 7"/>
          <p:cNvSpPr/>
          <p:nvPr/>
        </p:nvSpPr>
        <p:spPr>
          <a:xfrm>
            <a:off x="394564" y="3200400"/>
            <a:ext cx="1965960" cy="1371600"/>
          </a:xfrm>
          <a:prstGeom prst="rect">
            <a:avLst/>
          </a:prstGeom>
          <a:noFill/>
          <a:ln/>
        </p:spPr>
        <p:txBody>
          <a:bodyPr wrap="square" rtlCol="0" anchor="t"/>
          <a:lstStyle/>
          <a:p>
            <a:pPr marL="0" indent="0" algn="ctr">
              <a:buNone/>
            </a:pPr>
            <a:r>
              <a:rPr lang="en-US" sz="1100" dirty="0">
                <a:solidFill>
                  <a:srgbClr val="333333"/>
                </a:solidFill>
                <a:latin typeface="Calibri" pitchFamily="34" charset="0"/>
                <a:ea typeface="Calibri" pitchFamily="34" charset="-122"/>
                <a:cs typeface="Calibri" pitchFamily="34" charset="-120"/>
              </a:rPr>
              <a:t>PT  (M3)</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ES  (M6)</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UK  (M9)</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IT  (M12)</a:t>
            </a:r>
            <a:endParaRPr lang="en-US" sz="1100" dirty="0"/>
          </a:p>
        </p:txBody>
      </p:sp>
      <p:sp>
        <p:nvSpPr>
          <p:cNvPr id="10" name="Shape 8"/>
          <p:cNvSpPr/>
          <p:nvPr/>
        </p:nvSpPr>
        <p:spPr>
          <a:xfrm>
            <a:off x="531724" y="4617720"/>
            <a:ext cx="1691640" cy="0"/>
          </a:xfrm>
          <a:prstGeom prst="line">
            <a:avLst/>
          </a:prstGeom>
          <a:noFill/>
          <a:ln w="12700">
            <a:solidFill>
              <a:srgbClr val="3D1257"/>
            </a:solidFill>
            <a:prstDash val="dash"/>
          </a:ln>
        </p:spPr>
        <p:txBody>
          <a:bodyPr/>
          <a:lstStyle/>
          <a:p>
            <a:endParaRPr lang="pl-PL"/>
          </a:p>
        </p:txBody>
      </p:sp>
      <p:sp>
        <p:nvSpPr>
          <p:cNvPr id="11" name="Text 9"/>
          <p:cNvSpPr/>
          <p:nvPr/>
        </p:nvSpPr>
        <p:spPr>
          <a:xfrm>
            <a:off x="348844" y="4709160"/>
            <a:ext cx="2057400" cy="411480"/>
          </a:xfrm>
          <a:prstGeom prst="rect">
            <a:avLst/>
          </a:prstGeom>
          <a:noFill/>
          <a:ln/>
        </p:spPr>
        <p:txBody>
          <a:bodyPr wrap="square" rtlCol="0" anchor="ctr"/>
          <a:lstStyle/>
          <a:p>
            <a:pPr marL="0" indent="0" algn="ctr">
              <a:buNone/>
            </a:pPr>
            <a:r>
              <a:rPr lang="en-US" sz="1600" b="1" dirty="0">
                <a:solidFill>
                  <a:srgbClr val="3D1257"/>
                </a:solidFill>
                <a:latin typeface="Calibri" pitchFamily="34" charset="0"/>
                <a:ea typeface="Calibri" pitchFamily="34" charset="-122"/>
                <a:cs typeface="Calibri" pitchFamily="34" charset="-120"/>
              </a:rPr>
              <a:t>7  engines live</a:t>
            </a:r>
            <a:endParaRPr lang="en-US" sz="1600" dirty="0"/>
          </a:p>
        </p:txBody>
      </p:sp>
      <p:sp>
        <p:nvSpPr>
          <p:cNvPr id="12" name="Text 10"/>
          <p:cNvSpPr/>
          <p:nvPr/>
        </p:nvSpPr>
        <p:spPr>
          <a:xfrm>
            <a:off x="348844" y="5166360"/>
            <a:ext cx="2057400" cy="274320"/>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+4 engines after the trio</a:t>
            </a:r>
            <a:endParaRPr lang="en-US" sz="900" dirty="0"/>
          </a:p>
        </p:txBody>
      </p:sp>
      <p:sp>
        <p:nvSpPr>
          <p:cNvPr id="13" name="Text 11"/>
          <p:cNvSpPr/>
          <p:nvPr/>
        </p:nvSpPr>
        <p:spPr>
          <a:xfrm>
            <a:off x="348844" y="5486400"/>
            <a:ext cx="2057400" cy="36576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1.36M addressable</a:t>
            </a:r>
            <a:endParaRPr lang="en-US" sz="1300" dirty="0"/>
          </a:p>
        </p:txBody>
      </p:sp>
      <p:sp>
        <p:nvSpPr>
          <p:cNvPr id="14" name="Shape 12"/>
          <p:cNvSpPr/>
          <p:nvPr/>
        </p:nvSpPr>
        <p:spPr>
          <a:xfrm>
            <a:off x="2616556" y="1508760"/>
            <a:ext cx="2240280" cy="4434840"/>
          </a:xfrm>
          <a:prstGeom prst="rect">
            <a:avLst/>
          </a:prstGeom>
          <a:solidFill>
            <a:srgbClr val="E8D5F5"/>
          </a:solidFill>
          <a:ln w="25400">
            <a:solidFill>
              <a:srgbClr val="3D1257"/>
            </a:solidFill>
            <a:prstDash val="solid"/>
          </a:ln>
        </p:spPr>
        <p:txBody>
          <a:bodyPr/>
          <a:lstStyle/>
          <a:p>
            <a:endParaRPr lang="pl-PL"/>
          </a:p>
        </p:txBody>
      </p:sp>
      <p:sp>
        <p:nvSpPr>
          <p:cNvPr id="15" name="Shape 13"/>
          <p:cNvSpPr/>
          <p:nvPr/>
        </p:nvSpPr>
        <p:spPr>
          <a:xfrm>
            <a:off x="2616556" y="1508760"/>
            <a:ext cx="2240280" cy="640080"/>
          </a:xfrm>
          <a:prstGeom prst="rect">
            <a:avLst/>
          </a:prstGeom>
          <a:solidFill>
            <a:srgbClr val="3D1257"/>
          </a:solidFill>
          <a:ln w="12700">
            <a:solidFill>
              <a:srgbClr val="3D1257"/>
            </a:solidFill>
            <a:prstDash val="solid"/>
          </a:ln>
        </p:spPr>
        <p:txBody>
          <a:bodyPr/>
          <a:lstStyle/>
          <a:p>
            <a:endParaRPr lang="pl-PL"/>
          </a:p>
        </p:txBody>
      </p:sp>
      <p:sp>
        <p:nvSpPr>
          <p:cNvPr id="16" name="Text 14"/>
          <p:cNvSpPr/>
          <p:nvPr/>
        </p:nvSpPr>
        <p:spPr>
          <a:xfrm>
            <a:off x="2616556" y="1508760"/>
            <a:ext cx="22402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YEAR 2</a:t>
            </a:r>
            <a:endParaRPr lang="en-US" sz="1400" dirty="0"/>
          </a:p>
          <a:p>
            <a:pPr marL="0" indent="0" algn="ctr">
              <a:buNone/>
            </a:pPr>
            <a:r>
              <a:rPr lang="en-US" sz="1000" i="1" dirty="0">
                <a:solidFill>
                  <a:srgbClr val="FFFFFF"/>
                </a:solidFill>
                <a:latin typeface="Calibri" pitchFamily="34" charset="0"/>
                <a:ea typeface="Calibri" pitchFamily="34" charset="-122"/>
                <a:cs typeface="Calibri" pitchFamily="34" charset="-120"/>
              </a:rPr>
              <a:t>M13 → M23</a:t>
            </a:r>
            <a:endParaRPr lang="en-US" sz="1400" dirty="0"/>
          </a:p>
        </p:txBody>
      </p:sp>
      <p:sp>
        <p:nvSpPr>
          <p:cNvPr id="17" name="Shape 15"/>
          <p:cNvSpPr/>
          <p:nvPr/>
        </p:nvSpPr>
        <p:spPr>
          <a:xfrm>
            <a:off x="2753716" y="2286000"/>
            <a:ext cx="1965960" cy="777240"/>
          </a:xfrm>
          <a:prstGeom prst="rect">
            <a:avLst/>
          </a:prstGeom>
          <a:solidFill>
            <a:srgbClr val="7030A0"/>
          </a:solidFill>
          <a:ln w="12700">
            <a:solidFill>
              <a:srgbClr val="3D1257"/>
            </a:solidFill>
            <a:prstDash val="solid"/>
          </a:ln>
        </p:spPr>
        <p:txBody>
          <a:bodyPr/>
          <a:lstStyle/>
          <a:p>
            <a:endParaRPr lang="pl-PL"/>
          </a:p>
        </p:txBody>
      </p:sp>
      <p:sp>
        <p:nvSpPr>
          <p:cNvPr id="18" name="Text 16"/>
          <p:cNvSpPr/>
          <p:nvPr/>
        </p:nvSpPr>
        <p:spPr>
          <a:xfrm>
            <a:off x="2753716" y="2286000"/>
            <a:ext cx="1965960" cy="7772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GERMAN HUB  ·  M13</a:t>
            </a:r>
            <a:endParaRPr lang="en-US" sz="900" dirty="0"/>
          </a:p>
          <a:p>
            <a:pPr marL="0" indent="0" algn="ctr">
              <a:buNone/>
            </a:pPr>
            <a:r>
              <a:rPr lang="en-US" sz="1200" b="1" dirty="0">
                <a:solidFill>
                  <a:srgbClr val="FFFFFF"/>
                </a:solidFill>
                <a:latin typeface="Calibri" pitchFamily="34" charset="0"/>
                <a:ea typeface="Calibri" pitchFamily="34" charset="-122"/>
                <a:cs typeface="Calibri" pitchFamily="34" charset="-120"/>
              </a:rPr>
              <a:t>Largest single TAM unlock</a:t>
            </a:r>
            <a:endParaRPr lang="en-US" sz="900" dirty="0"/>
          </a:p>
        </p:txBody>
      </p:sp>
      <p:sp>
        <p:nvSpPr>
          <p:cNvPr id="19" name="Text 17"/>
          <p:cNvSpPr/>
          <p:nvPr/>
        </p:nvSpPr>
        <p:spPr>
          <a:xfrm>
            <a:off x="2753716" y="3200400"/>
            <a:ext cx="1965960" cy="1371600"/>
          </a:xfrm>
          <a:prstGeom prst="rect">
            <a:avLst/>
          </a:prstGeom>
          <a:noFill/>
          <a:ln/>
        </p:spPr>
        <p:txBody>
          <a:bodyPr wrap="square" rtlCol="0" anchor="t"/>
          <a:lstStyle/>
          <a:p>
            <a:pPr marL="0" indent="0" algn="ctr">
              <a:buNone/>
            </a:pPr>
            <a:r>
              <a:rPr lang="en-US" sz="1100" dirty="0">
                <a:solidFill>
                  <a:srgbClr val="333333"/>
                </a:solidFill>
                <a:latin typeface="Calibri" pitchFamily="34" charset="0"/>
                <a:ea typeface="Calibri" pitchFamily="34" charset="-122"/>
                <a:cs typeface="Calibri" pitchFamily="34" charset="-120"/>
              </a:rPr>
              <a:t>PL  (M15)</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BE  (M17)</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NL  (M19)</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RO  (M21)</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AT  (M23)</a:t>
            </a:r>
            <a:endParaRPr lang="en-US" sz="1100" dirty="0"/>
          </a:p>
        </p:txBody>
      </p:sp>
      <p:sp>
        <p:nvSpPr>
          <p:cNvPr id="20" name="Shape 18"/>
          <p:cNvSpPr/>
          <p:nvPr/>
        </p:nvSpPr>
        <p:spPr>
          <a:xfrm>
            <a:off x="2890876" y="4617720"/>
            <a:ext cx="1691640" cy="0"/>
          </a:xfrm>
          <a:prstGeom prst="line">
            <a:avLst/>
          </a:prstGeom>
          <a:noFill/>
          <a:ln w="12700">
            <a:solidFill>
              <a:srgbClr val="3D1257"/>
            </a:solidFill>
            <a:prstDash val="dash"/>
          </a:ln>
        </p:spPr>
        <p:txBody>
          <a:bodyPr/>
          <a:lstStyle/>
          <a:p>
            <a:endParaRPr lang="pl-PL"/>
          </a:p>
        </p:txBody>
      </p:sp>
      <p:sp>
        <p:nvSpPr>
          <p:cNvPr id="21" name="Text 19"/>
          <p:cNvSpPr/>
          <p:nvPr/>
        </p:nvSpPr>
        <p:spPr>
          <a:xfrm>
            <a:off x="2707996" y="4709160"/>
            <a:ext cx="2057400" cy="411480"/>
          </a:xfrm>
          <a:prstGeom prst="rect">
            <a:avLst/>
          </a:prstGeom>
          <a:noFill/>
          <a:ln/>
        </p:spPr>
        <p:txBody>
          <a:bodyPr wrap="square" rtlCol="0" anchor="ctr"/>
          <a:lstStyle/>
          <a:p>
            <a:pPr marL="0" indent="0" algn="ctr">
              <a:buNone/>
            </a:pPr>
            <a:r>
              <a:rPr lang="en-US" sz="1600" b="1" dirty="0">
                <a:solidFill>
                  <a:srgbClr val="3D1257"/>
                </a:solidFill>
                <a:latin typeface="Calibri" pitchFamily="34" charset="0"/>
                <a:ea typeface="Calibri" pitchFamily="34" charset="-122"/>
                <a:cs typeface="Calibri" pitchFamily="34" charset="-120"/>
              </a:rPr>
              <a:t>13  engines live</a:t>
            </a:r>
            <a:endParaRPr lang="en-US" sz="1600" dirty="0"/>
          </a:p>
        </p:txBody>
      </p:sp>
      <p:sp>
        <p:nvSpPr>
          <p:cNvPr id="22" name="Text 20"/>
          <p:cNvSpPr/>
          <p:nvPr/>
        </p:nvSpPr>
        <p:spPr>
          <a:xfrm>
            <a:off x="2707996" y="5166360"/>
            <a:ext cx="2057400" cy="274320"/>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+6 engines</a:t>
            </a:r>
            <a:endParaRPr lang="en-US" sz="900" dirty="0"/>
          </a:p>
        </p:txBody>
      </p:sp>
      <p:sp>
        <p:nvSpPr>
          <p:cNvPr id="23" name="Text 21"/>
          <p:cNvSpPr/>
          <p:nvPr/>
        </p:nvSpPr>
        <p:spPr>
          <a:xfrm>
            <a:off x="2707996" y="5486400"/>
            <a:ext cx="2057400" cy="36576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7.35M addressable</a:t>
            </a:r>
            <a:endParaRPr lang="en-US" sz="1300" dirty="0"/>
          </a:p>
        </p:txBody>
      </p:sp>
      <p:sp>
        <p:nvSpPr>
          <p:cNvPr id="24" name="Shape 22"/>
          <p:cNvSpPr/>
          <p:nvPr/>
        </p:nvSpPr>
        <p:spPr>
          <a:xfrm>
            <a:off x="4975708" y="1508760"/>
            <a:ext cx="2240280" cy="4434840"/>
          </a:xfrm>
          <a:prstGeom prst="rect">
            <a:avLst/>
          </a:prstGeom>
          <a:solidFill>
            <a:srgbClr val="F5EAFA"/>
          </a:solidFill>
          <a:ln w="12700">
            <a:solidFill>
              <a:srgbClr val="9558B0"/>
            </a:solidFill>
            <a:prstDash val="solid"/>
          </a:ln>
        </p:spPr>
        <p:txBody>
          <a:bodyPr/>
          <a:lstStyle/>
          <a:p>
            <a:endParaRPr lang="pl-PL"/>
          </a:p>
        </p:txBody>
      </p:sp>
      <p:sp>
        <p:nvSpPr>
          <p:cNvPr id="25" name="Shape 23"/>
          <p:cNvSpPr/>
          <p:nvPr/>
        </p:nvSpPr>
        <p:spPr>
          <a:xfrm>
            <a:off x="4975708" y="1508760"/>
            <a:ext cx="2240280" cy="640080"/>
          </a:xfrm>
          <a:prstGeom prst="rect">
            <a:avLst/>
          </a:prstGeom>
          <a:solidFill>
            <a:srgbClr val="9558B0"/>
          </a:solidFill>
          <a:ln w="12700">
            <a:solidFill>
              <a:srgbClr val="9558B0"/>
            </a:solidFill>
            <a:prstDash val="solid"/>
          </a:ln>
        </p:spPr>
        <p:txBody>
          <a:bodyPr/>
          <a:lstStyle/>
          <a:p>
            <a:endParaRPr lang="pl-PL"/>
          </a:p>
        </p:txBody>
      </p:sp>
      <p:sp>
        <p:nvSpPr>
          <p:cNvPr id="26" name="Text 24"/>
          <p:cNvSpPr/>
          <p:nvPr/>
        </p:nvSpPr>
        <p:spPr>
          <a:xfrm>
            <a:off x="4975708" y="1508760"/>
            <a:ext cx="22402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YEAR 3</a:t>
            </a:r>
            <a:endParaRPr lang="en-US" sz="1400" dirty="0"/>
          </a:p>
          <a:p>
            <a:pPr marL="0" indent="0" algn="ctr">
              <a:buNone/>
            </a:pPr>
            <a:r>
              <a:rPr lang="en-US" sz="1000" i="1" dirty="0">
                <a:solidFill>
                  <a:srgbClr val="FFFFFF"/>
                </a:solidFill>
                <a:latin typeface="Calibri" pitchFamily="34" charset="0"/>
                <a:ea typeface="Calibri" pitchFamily="34" charset="-122"/>
                <a:cs typeface="Calibri" pitchFamily="34" charset="-120"/>
              </a:rPr>
              <a:t>M25 → M35</a:t>
            </a:r>
            <a:endParaRPr lang="en-US" sz="1400" dirty="0"/>
          </a:p>
        </p:txBody>
      </p:sp>
      <p:sp>
        <p:nvSpPr>
          <p:cNvPr id="27" name="Text 25"/>
          <p:cNvSpPr/>
          <p:nvPr/>
        </p:nvSpPr>
        <p:spPr>
          <a:xfrm>
            <a:off x="5112868" y="2286000"/>
            <a:ext cx="1965960" cy="91440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HU   GR   HR   IE   BG   CZ</a:t>
            </a:r>
            <a:endParaRPr lang="en-US" sz="1300" dirty="0"/>
          </a:p>
        </p:txBody>
      </p:sp>
      <p:sp>
        <p:nvSpPr>
          <p:cNvPr id="28" name="Shape 26"/>
          <p:cNvSpPr/>
          <p:nvPr/>
        </p:nvSpPr>
        <p:spPr>
          <a:xfrm>
            <a:off x="5250028" y="4617720"/>
            <a:ext cx="1691640" cy="0"/>
          </a:xfrm>
          <a:prstGeom prst="line">
            <a:avLst/>
          </a:prstGeom>
          <a:noFill/>
          <a:ln w="12700">
            <a:solidFill>
              <a:srgbClr val="9558B0"/>
            </a:solidFill>
            <a:prstDash val="dash"/>
          </a:ln>
        </p:spPr>
        <p:txBody>
          <a:bodyPr/>
          <a:lstStyle/>
          <a:p>
            <a:endParaRPr lang="pl-PL"/>
          </a:p>
        </p:txBody>
      </p:sp>
      <p:sp>
        <p:nvSpPr>
          <p:cNvPr id="29" name="Text 27"/>
          <p:cNvSpPr/>
          <p:nvPr/>
        </p:nvSpPr>
        <p:spPr>
          <a:xfrm>
            <a:off x="5067148" y="4709160"/>
            <a:ext cx="2057400" cy="411480"/>
          </a:xfrm>
          <a:prstGeom prst="rect">
            <a:avLst/>
          </a:prstGeom>
          <a:noFill/>
          <a:ln/>
        </p:spPr>
        <p:txBody>
          <a:bodyPr wrap="square" rtlCol="0" anchor="ctr"/>
          <a:lstStyle/>
          <a:p>
            <a:pPr marL="0" indent="0" algn="ctr">
              <a:buNone/>
            </a:pPr>
            <a:r>
              <a:rPr lang="en-US" sz="1600" b="1" dirty="0">
                <a:solidFill>
                  <a:srgbClr val="9558B0"/>
                </a:solidFill>
                <a:latin typeface="Calibri" pitchFamily="34" charset="0"/>
                <a:ea typeface="Calibri" pitchFamily="34" charset="-122"/>
                <a:cs typeface="Calibri" pitchFamily="34" charset="-120"/>
              </a:rPr>
              <a:t>19  engines live</a:t>
            </a:r>
            <a:endParaRPr lang="en-US" sz="1600" dirty="0"/>
          </a:p>
        </p:txBody>
      </p:sp>
      <p:sp>
        <p:nvSpPr>
          <p:cNvPr id="30" name="Text 28"/>
          <p:cNvSpPr/>
          <p:nvPr/>
        </p:nvSpPr>
        <p:spPr>
          <a:xfrm>
            <a:off x="5067148" y="5166360"/>
            <a:ext cx="2057400" cy="274320"/>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+6 engines · Central + Mediterranean</a:t>
            </a:r>
            <a:endParaRPr lang="en-US" sz="900" dirty="0"/>
          </a:p>
        </p:txBody>
      </p:sp>
      <p:sp>
        <p:nvSpPr>
          <p:cNvPr id="31" name="Text 29"/>
          <p:cNvSpPr/>
          <p:nvPr/>
        </p:nvSpPr>
        <p:spPr>
          <a:xfrm>
            <a:off x="5067148" y="5486400"/>
            <a:ext cx="2057400" cy="36576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10.52M addressable</a:t>
            </a:r>
            <a:endParaRPr lang="en-US" sz="1300" dirty="0"/>
          </a:p>
        </p:txBody>
      </p:sp>
      <p:sp>
        <p:nvSpPr>
          <p:cNvPr id="32" name="Shape 30"/>
          <p:cNvSpPr/>
          <p:nvPr/>
        </p:nvSpPr>
        <p:spPr>
          <a:xfrm>
            <a:off x="7334860" y="1508760"/>
            <a:ext cx="2240280" cy="4434840"/>
          </a:xfrm>
          <a:prstGeom prst="rect">
            <a:avLst/>
          </a:prstGeom>
          <a:solidFill>
            <a:srgbClr val="F5EAFA"/>
          </a:solidFill>
          <a:ln w="12700">
            <a:solidFill>
              <a:srgbClr val="9558B0"/>
            </a:solidFill>
            <a:prstDash val="solid"/>
          </a:ln>
        </p:spPr>
        <p:txBody>
          <a:bodyPr/>
          <a:lstStyle/>
          <a:p>
            <a:endParaRPr lang="pl-PL"/>
          </a:p>
        </p:txBody>
      </p:sp>
      <p:sp>
        <p:nvSpPr>
          <p:cNvPr id="33" name="Shape 31"/>
          <p:cNvSpPr/>
          <p:nvPr/>
        </p:nvSpPr>
        <p:spPr>
          <a:xfrm>
            <a:off x="7334860" y="1508760"/>
            <a:ext cx="2240280" cy="640080"/>
          </a:xfrm>
          <a:prstGeom prst="rect">
            <a:avLst/>
          </a:prstGeom>
          <a:solidFill>
            <a:srgbClr val="9558B0"/>
          </a:solidFill>
          <a:ln w="12700">
            <a:solidFill>
              <a:srgbClr val="9558B0"/>
            </a:solidFill>
            <a:prstDash val="solid"/>
          </a:ln>
        </p:spPr>
        <p:txBody>
          <a:bodyPr/>
          <a:lstStyle/>
          <a:p>
            <a:endParaRPr lang="pl-PL"/>
          </a:p>
        </p:txBody>
      </p:sp>
      <p:sp>
        <p:nvSpPr>
          <p:cNvPr id="34" name="Text 32"/>
          <p:cNvSpPr/>
          <p:nvPr/>
        </p:nvSpPr>
        <p:spPr>
          <a:xfrm>
            <a:off x="7334860" y="1508760"/>
            <a:ext cx="22402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YEAR 4</a:t>
            </a:r>
            <a:endParaRPr lang="en-US" sz="1400" dirty="0"/>
          </a:p>
          <a:p>
            <a:pPr marL="0" indent="0" algn="ctr">
              <a:buNone/>
            </a:pPr>
            <a:r>
              <a:rPr lang="en-US" sz="1000" i="1" dirty="0">
                <a:solidFill>
                  <a:srgbClr val="FFFFFF"/>
                </a:solidFill>
                <a:latin typeface="Calibri" pitchFamily="34" charset="0"/>
                <a:ea typeface="Calibri" pitchFamily="34" charset="-122"/>
                <a:cs typeface="Calibri" pitchFamily="34" charset="-120"/>
              </a:rPr>
              <a:t>M37 → M47</a:t>
            </a:r>
            <a:endParaRPr lang="en-US" sz="1400" dirty="0"/>
          </a:p>
        </p:txBody>
      </p:sp>
      <p:sp>
        <p:nvSpPr>
          <p:cNvPr id="35" name="Text 33"/>
          <p:cNvSpPr/>
          <p:nvPr/>
        </p:nvSpPr>
        <p:spPr>
          <a:xfrm>
            <a:off x="7472020" y="2286000"/>
            <a:ext cx="1965960" cy="91440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SK   SE   DK   FI   LT   LV</a:t>
            </a:r>
            <a:endParaRPr lang="en-US" sz="1300" dirty="0"/>
          </a:p>
        </p:txBody>
      </p:sp>
      <p:sp>
        <p:nvSpPr>
          <p:cNvPr id="36" name="Shape 34"/>
          <p:cNvSpPr/>
          <p:nvPr/>
        </p:nvSpPr>
        <p:spPr>
          <a:xfrm>
            <a:off x="7609180" y="4617720"/>
            <a:ext cx="1691640" cy="0"/>
          </a:xfrm>
          <a:prstGeom prst="line">
            <a:avLst/>
          </a:prstGeom>
          <a:noFill/>
          <a:ln w="12700">
            <a:solidFill>
              <a:srgbClr val="9558B0"/>
            </a:solidFill>
            <a:prstDash val="dash"/>
          </a:ln>
        </p:spPr>
        <p:txBody>
          <a:bodyPr/>
          <a:lstStyle/>
          <a:p>
            <a:endParaRPr lang="pl-PL"/>
          </a:p>
        </p:txBody>
      </p:sp>
      <p:sp>
        <p:nvSpPr>
          <p:cNvPr id="37" name="Text 35"/>
          <p:cNvSpPr/>
          <p:nvPr/>
        </p:nvSpPr>
        <p:spPr>
          <a:xfrm>
            <a:off x="7426300" y="4709160"/>
            <a:ext cx="2057400" cy="411480"/>
          </a:xfrm>
          <a:prstGeom prst="rect">
            <a:avLst/>
          </a:prstGeom>
          <a:noFill/>
          <a:ln/>
        </p:spPr>
        <p:txBody>
          <a:bodyPr wrap="square" rtlCol="0" anchor="ctr"/>
          <a:lstStyle/>
          <a:p>
            <a:pPr marL="0" indent="0" algn="ctr">
              <a:buNone/>
            </a:pPr>
            <a:r>
              <a:rPr lang="en-US" sz="1600" b="1" dirty="0">
                <a:solidFill>
                  <a:srgbClr val="9558B0"/>
                </a:solidFill>
                <a:latin typeface="Calibri" pitchFamily="34" charset="0"/>
                <a:ea typeface="Calibri" pitchFamily="34" charset="-122"/>
                <a:cs typeface="Calibri" pitchFamily="34" charset="-120"/>
              </a:rPr>
              <a:t>25  engines live</a:t>
            </a:r>
            <a:endParaRPr lang="en-US" sz="1600" dirty="0"/>
          </a:p>
        </p:txBody>
      </p:sp>
      <p:sp>
        <p:nvSpPr>
          <p:cNvPr id="38" name="Text 36"/>
          <p:cNvSpPr/>
          <p:nvPr/>
        </p:nvSpPr>
        <p:spPr>
          <a:xfrm>
            <a:off x="7426300" y="5166360"/>
            <a:ext cx="2057400" cy="274320"/>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+6 engines · Nordic + Baltic</a:t>
            </a:r>
            <a:endParaRPr lang="en-US" sz="900" dirty="0"/>
          </a:p>
        </p:txBody>
      </p:sp>
      <p:sp>
        <p:nvSpPr>
          <p:cNvPr id="39" name="Text 37"/>
          <p:cNvSpPr/>
          <p:nvPr/>
        </p:nvSpPr>
        <p:spPr>
          <a:xfrm>
            <a:off x="7426300" y="5486400"/>
            <a:ext cx="2057400" cy="36576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11.55M addressable</a:t>
            </a:r>
            <a:endParaRPr lang="en-US" sz="1300" dirty="0"/>
          </a:p>
        </p:txBody>
      </p:sp>
      <p:sp>
        <p:nvSpPr>
          <p:cNvPr id="40" name="Shape 38"/>
          <p:cNvSpPr/>
          <p:nvPr/>
        </p:nvSpPr>
        <p:spPr>
          <a:xfrm>
            <a:off x="9694012" y="1508760"/>
            <a:ext cx="2240280" cy="4434840"/>
          </a:xfrm>
          <a:prstGeom prst="rect">
            <a:avLst/>
          </a:prstGeom>
          <a:solidFill>
            <a:srgbClr val="F5EAFA"/>
          </a:solidFill>
          <a:ln w="12700">
            <a:solidFill>
              <a:srgbClr val="9558B0"/>
            </a:solidFill>
            <a:prstDash val="solid"/>
          </a:ln>
        </p:spPr>
        <p:txBody>
          <a:bodyPr/>
          <a:lstStyle/>
          <a:p>
            <a:endParaRPr lang="pl-PL"/>
          </a:p>
        </p:txBody>
      </p:sp>
      <p:sp>
        <p:nvSpPr>
          <p:cNvPr id="41" name="Shape 39"/>
          <p:cNvSpPr/>
          <p:nvPr/>
        </p:nvSpPr>
        <p:spPr>
          <a:xfrm>
            <a:off x="9694012" y="1508760"/>
            <a:ext cx="2240280" cy="640080"/>
          </a:xfrm>
          <a:prstGeom prst="rect">
            <a:avLst/>
          </a:prstGeom>
          <a:solidFill>
            <a:srgbClr val="9558B0"/>
          </a:solidFill>
          <a:ln w="12700">
            <a:solidFill>
              <a:srgbClr val="9558B0"/>
            </a:solidFill>
            <a:prstDash val="solid"/>
          </a:ln>
        </p:spPr>
        <p:txBody>
          <a:bodyPr/>
          <a:lstStyle/>
          <a:p>
            <a:endParaRPr lang="pl-PL"/>
          </a:p>
        </p:txBody>
      </p:sp>
      <p:sp>
        <p:nvSpPr>
          <p:cNvPr id="42" name="Text 40"/>
          <p:cNvSpPr/>
          <p:nvPr/>
        </p:nvSpPr>
        <p:spPr>
          <a:xfrm>
            <a:off x="9694012" y="1508760"/>
            <a:ext cx="22402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YEAR 5</a:t>
            </a:r>
            <a:endParaRPr lang="en-US" sz="1400" dirty="0"/>
          </a:p>
          <a:p>
            <a:pPr marL="0" indent="0" algn="ctr">
              <a:buNone/>
            </a:pPr>
            <a:r>
              <a:rPr lang="en-US" sz="1000" i="1" dirty="0">
                <a:solidFill>
                  <a:srgbClr val="FFFFFF"/>
                </a:solidFill>
                <a:latin typeface="Calibri" pitchFamily="34" charset="0"/>
                <a:ea typeface="Calibri" pitchFamily="34" charset="-122"/>
                <a:cs typeface="Calibri" pitchFamily="34" charset="-120"/>
              </a:rPr>
              <a:t>M49 → M58</a:t>
            </a:r>
            <a:endParaRPr lang="en-US" sz="1400" dirty="0"/>
          </a:p>
        </p:txBody>
      </p:sp>
      <p:sp>
        <p:nvSpPr>
          <p:cNvPr id="43" name="Text 41"/>
          <p:cNvSpPr/>
          <p:nvPr/>
        </p:nvSpPr>
        <p:spPr>
          <a:xfrm>
            <a:off x="9831172" y="2286000"/>
            <a:ext cx="1965960" cy="91440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SI   CY   EE   MT</a:t>
            </a:r>
            <a:endParaRPr lang="en-US" sz="1300" dirty="0"/>
          </a:p>
        </p:txBody>
      </p:sp>
      <p:sp>
        <p:nvSpPr>
          <p:cNvPr id="44" name="Shape 42"/>
          <p:cNvSpPr/>
          <p:nvPr/>
        </p:nvSpPr>
        <p:spPr>
          <a:xfrm>
            <a:off x="9968332" y="4617720"/>
            <a:ext cx="1691640" cy="0"/>
          </a:xfrm>
          <a:prstGeom prst="line">
            <a:avLst/>
          </a:prstGeom>
          <a:noFill/>
          <a:ln w="12700">
            <a:solidFill>
              <a:srgbClr val="9558B0"/>
            </a:solidFill>
            <a:prstDash val="dash"/>
          </a:ln>
        </p:spPr>
        <p:txBody>
          <a:bodyPr/>
          <a:lstStyle/>
          <a:p>
            <a:endParaRPr lang="pl-PL"/>
          </a:p>
        </p:txBody>
      </p:sp>
      <p:sp>
        <p:nvSpPr>
          <p:cNvPr id="45" name="Text 43"/>
          <p:cNvSpPr/>
          <p:nvPr/>
        </p:nvSpPr>
        <p:spPr>
          <a:xfrm>
            <a:off x="9785452" y="4709160"/>
            <a:ext cx="2057400" cy="411480"/>
          </a:xfrm>
          <a:prstGeom prst="rect">
            <a:avLst/>
          </a:prstGeom>
          <a:noFill/>
          <a:ln/>
        </p:spPr>
        <p:txBody>
          <a:bodyPr wrap="square" rtlCol="0" anchor="ctr"/>
          <a:lstStyle/>
          <a:p>
            <a:pPr marL="0" indent="0" algn="ctr">
              <a:buNone/>
            </a:pPr>
            <a:r>
              <a:rPr lang="en-US" sz="1600" b="1" dirty="0">
                <a:solidFill>
                  <a:srgbClr val="9558B0"/>
                </a:solidFill>
                <a:latin typeface="Calibri" pitchFamily="34" charset="0"/>
                <a:ea typeface="Calibri" pitchFamily="34" charset="-122"/>
                <a:cs typeface="Calibri" pitchFamily="34" charset="-120"/>
              </a:rPr>
              <a:t>29  engines live</a:t>
            </a:r>
            <a:endParaRPr lang="en-US" sz="1600" dirty="0"/>
          </a:p>
        </p:txBody>
      </p:sp>
      <p:sp>
        <p:nvSpPr>
          <p:cNvPr id="46" name="Text 44"/>
          <p:cNvSpPr/>
          <p:nvPr/>
        </p:nvSpPr>
        <p:spPr>
          <a:xfrm>
            <a:off x="9785452" y="5166360"/>
            <a:ext cx="2057400" cy="274320"/>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+4 engines · long tail</a:t>
            </a:r>
            <a:endParaRPr lang="en-US" sz="900" dirty="0"/>
          </a:p>
        </p:txBody>
      </p:sp>
      <p:sp>
        <p:nvSpPr>
          <p:cNvPr id="47" name="Text 45"/>
          <p:cNvSpPr/>
          <p:nvPr/>
        </p:nvSpPr>
        <p:spPr>
          <a:xfrm>
            <a:off x="9785452" y="5486400"/>
            <a:ext cx="2057400" cy="36576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11.96M addressable</a:t>
            </a:r>
            <a:endParaRPr lang="en-US" sz="1300" dirty="0"/>
          </a:p>
        </p:txBody>
      </p:sp>
      <p:sp>
        <p:nvSpPr>
          <p:cNvPr id="48" name="Shape 46"/>
          <p:cNvSpPr/>
          <p:nvPr/>
        </p:nvSpPr>
        <p:spPr>
          <a:xfrm>
            <a:off x="457200" y="6080760"/>
            <a:ext cx="11277295" cy="594360"/>
          </a:xfrm>
          <a:prstGeom prst="rect">
            <a:avLst/>
          </a:prstGeom>
          <a:solidFill>
            <a:srgbClr val="3D1257"/>
          </a:solidFill>
          <a:ln w="12700">
            <a:solidFill>
              <a:srgbClr val="3D1257"/>
            </a:solidFill>
            <a:prstDash val="solid"/>
          </a:ln>
        </p:spPr>
        <p:txBody>
          <a:bodyPr/>
          <a:lstStyle/>
          <a:p>
            <a:endParaRPr lang="pl-PL"/>
          </a:p>
        </p:txBody>
      </p:sp>
      <p:sp>
        <p:nvSpPr>
          <p:cNvPr id="49" name="Text 47"/>
          <p:cNvSpPr/>
          <p:nvPr/>
        </p:nvSpPr>
        <p:spPr>
          <a:xfrm>
            <a:off x="640080" y="6080760"/>
            <a:ext cx="10911535" cy="59436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Greedy TAM-maximising order: at every step, ship the engine that unlocks the largest combined corridor population. The German hub at M13 takes the addressable from 1.36M to 7.35M in three months — single biggest unlock in the entire 5-year plan.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Rectangle 309">
            <a:extLst>
              <a:ext uri="{FF2B5EF4-FFF2-40B4-BE49-F238E27FC236}">
                <a16:creationId xmlns:a16="http://schemas.microsoft.com/office/drawing/2014/main" id="{1CEF373B-64C4-4D56-A0B0-0A715E2FE257}"/>
              </a:ext>
            </a:extLst>
          </p:cNvPr>
          <p:cNvSpPr/>
          <p:nvPr/>
        </p:nvSpPr>
        <p:spPr>
          <a:xfrm>
            <a:off x="0" y="0"/>
            <a:ext cx="12192000" cy="508000"/>
          </a:xfrm>
          <a:prstGeom prst="rect">
            <a:avLst/>
          </a:prstGeom>
          <a:solidFill>
            <a:srgbClr val="0F27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Shape 4"/>
          <p:cNvSpPr/>
          <p:nvPr/>
        </p:nvSpPr>
        <p:spPr>
          <a:xfrm>
            <a:off x="3051912" y="2659482"/>
            <a:ext cx="1894637" cy="1894637"/>
          </a:xfrm>
          <a:prstGeom prst="ellipse">
            <a:avLst/>
          </a:prstGeom>
          <a:solidFill>
            <a:srgbClr val="FFFFFF">
              <a:alpha val="0"/>
            </a:srgbClr>
          </a:solidFill>
          <a:ln w="12700">
            <a:solidFill>
              <a:srgbClr val="1D9E75"/>
            </a:solidFill>
            <a:prstDash val="dash"/>
          </a:ln>
        </p:spPr>
        <p:txBody>
          <a:bodyPr/>
          <a:lstStyle/>
          <a:p>
            <a:endParaRPr lang="en-US"/>
          </a:p>
        </p:txBody>
      </p:sp>
      <p:sp>
        <p:nvSpPr>
          <p:cNvPr id="5" name="Shape 3"/>
          <p:cNvSpPr/>
          <p:nvPr/>
        </p:nvSpPr>
        <p:spPr>
          <a:xfrm>
            <a:off x="2510586" y="2118156"/>
            <a:ext cx="2977286" cy="2977286"/>
          </a:xfrm>
          <a:prstGeom prst="ellipse">
            <a:avLst/>
          </a:prstGeom>
          <a:solidFill>
            <a:srgbClr val="FFFFFF">
              <a:alpha val="0"/>
            </a:srgbClr>
          </a:solidFill>
          <a:ln w="12700">
            <a:solidFill>
              <a:srgbClr val="7F77DD"/>
            </a:solidFill>
            <a:prstDash val="dash"/>
          </a:ln>
        </p:spPr>
        <p:txBody>
          <a:bodyPr/>
          <a:lstStyle/>
          <a:p>
            <a:endParaRPr lang="en-US"/>
          </a:p>
        </p:txBody>
      </p:sp>
      <p:sp>
        <p:nvSpPr>
          <p:cNvPr id="4" name="Shape 2"/>
          <p:cNvSpPr/>
          <p:nvPr/>
        </p:nvSpPr>
        <p:spPr>
          <a:xfrm>
            <a:off x="1901595" y="1509165"/>
            <a:ext cx="4195267" cy="4195267"/>
          </a:xfrm>
          <a:prstGeom prst="ellipse">
            <a:avLst/>
          </a:prstGeom>
          <a:solidFill>
            <a:srgbClr val="FFFFFF">
              <a:alpha val="0"/>
            </a:srgbClr>
          </a:solidFill>
          <a:ln w="19050">
            <a:solidFill>
              <a:srgbClr val="8A8A82"/>
            </a:solidFill>
            <a:prstDash val="lgDash"/>
          </a:ln>
        </p:spPr>
        <p:txBody>
          <a:bodyPr/>
          <a:lstStyle/>
          <a:p>
            <a:endParaRPr lang="en-US"/>
          </a:p>
        </p:txBody>
      </p:sp>
      <p:sp>
        <p:nvSpPr>
          <p:cNvPr id="2" name="Text 0"/>
          <p:cNvSpPr/>
          <p:nvPr/>
        </p:nvSpPr>
        <p:spPr>
          <a:xfrm>
            <a:off x="406400" y="101600"/>
            <a:ext cx="11064240" cy="381000"/>
          </a:xfrm>
          <a:prstGeom prst="rect">
            <a:avLst/>
          </a:prstGeom>
          <a:noFill/>
          <a:ln/>
        </p:spPr>
        <p:txBody>
          <a:bodyPr wrap="square" lIns="0" tIns="0" rIns="0" bIns="0" rtlCol="0" anchor="ctr"/>
          <a:lstStyle/>
          <a:p>
            <a:pPr marL="0" indent="0">
              <a:buNone/>
            </a:pPr>
            <a:r>
              <a:rPr lang="en-US" sz="1050" b="1" dirty="0">
                <a:solidFill>
                  <a:srgbClr val="6B7280"/>
                </a:solidFill>
                <a:latin typeface="Calibri" pitchFamily="34" charset="0"/>
                <a:ea typeface="Calibri" pitchFamily="34" charset="-122"/>
                <a:cs typeface="Calibri" pitchFamily="34" charset="-120"/>
              </a:rPr>
              <a:t>The strategy in one picture</a:t>
            </a:r>
            <a:endParaRPr lang="en-US" sz="1050" b="1" dirty="0">
              <a:solidFill>
                <a:srgbClr val="6B7280"/>
              </a:solidFill>
            </a:endParaRPr>
          </a:p>
        </p:txBody>
      </p:sp>
      <p:sp>
        <p:nvSpPr>
          <p:cNvPr id="3" name="Text 1"/>
          <p:cNvSpPr/>
          <p:nvPr/>
        </p:nvSpPr>
        <p:spPr>
          <a:xfrm>
            <a:off x="406400" y="622300"/>
            <a:ext cx="11064240" cy="22860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Three rings of partnerships when choosing a country direction.</a:t>
            </a:r>
            <a:endParaRPr lang="en-US" sz="1050" dirty="0">
              <a:solidFill>
                <a:srgbClr val="6B7280"/>
              </a:solidFill>
            </a:endParaRPr>
          </a:p>
        </p:txBody>
      </p:sp>
      <p:sp>
        <p:nvSpPr>
          <p:cNvPr id="7" name="Shape 5"/>
          <p:cNvSpPr/>
          <p:nvPr/>
        </p:nvSpPr>
        <p:spPr>
          <a:xfrm>
            <a:off x="3714750" y="2374900"/>
            <a:ext cx="455930" cy="455930"/>
          </a:xfrm>
          <a:prstGeom prst="ellipse">
            <a:avLst/>
          </a:prstGeom>
          <a:solidFill>
            <a:srgbClr val="C5E8DA"/>
          </a:solidFill>
          <a:ln w="12700">
            <a:solidFill>
              <a:srgbClr val="1D9E75"/>
            </a:solidFill>
            <a:prstDash val="solid"/>
          </a:ln>
        </p:spPr>
        <p:txBody>
          <a:bodyPr/>
          <a:lstStyle/>
          <a:p>
            <a:endParaRPr lang="en-US"/>
          </a:p>
        </p:txBody>
      </p:sp>
      <p:sp>
        <p:nvSpPr>
          <p:cNvPr id="8" name="Text 6"/>
          <p:cNvSpPr/>
          <p:nvPr/>
        </p:nvSpPr>
        <p:spPr>
          <a:xfrm>
            <a:off x="3714750" y="2374900"/>
            <a:ext cx="455930" cy="455930"/>
          </a:xfrm>
          <a:prstGeom prst="rect">
            <a:avLst/>
          </a:prstGeom>
          <a:noFill/>
          <a:ln/>
        </p:spPr>
        <p:txBody>
          <a:bodyPr wrap="square" lIns="45720" tIns="0" rIns="45720" bIns="0" rtlCol="0" anchor="ctr"/>
          <a:lstStyle/>
          <a:p>
            <a:pPr marL="0" indent="0" algn="ctr">
              <a:spcBef>
                <a:spcPts val="0"/>
              </a:spcBef>
              <a:buNone/>
            </a:pPr>
            <a:r>
              <a:rPr lang="en-US" sz="800" b="1" dirty="0">
                <a:solidFill>
                  <a:srgbClr val="FFFFFF"/>
                </a:solidFill>
                <a:latin typeface="Calibri" pitchFamily="34" charset="0"/>
              </a:rPr>
              <a:t>Chamb.</a:t>
            </a:r>
            <a:endParaRPr lang="en-US" sz="800" dirty="0"/>
          </a:p>
        </p:txBody>
      </p:sp>
      <p:sp>
        <p:nvSpPr>
          <p:cNvPr id="9" name="Shape 7"/>
          <p:cNvSpPr/>
          <p:nvPr/>
        </p:nvSpPr>
        <p:spPr>
          <a:xfrm>
            <a:off x="4540250" y="2857500"/>
            <a:ext cx="455930" cy="455930"/>
          </a:xfrm>
          <a:prstGeom prst="ellipse">
            <a:avLst/>
          </a:prstGeom>
          <a:solidFill>
            <a:srgbClr val="C5E8DA"/>
          </a:solidFill>
          <a:ln w="12700">
            <a:solidFill>
              <a:srgbClr val="1D9E75"/>
            </a:solidFill>
            <a:prstDash val="solid"/>
          </a:ln>
        </p:spPr>
        <p:txBody>
          <a:bodyPr/>
          <a:lstStyle/>
          <a:p>
            <a:endParaRPr lang="en-US"/>
          </a:p>
        </p:txBody>
      </p:sp>
      <p:sp>
        <p:nvSpPr>
          <p:cNvPr id="10" name="Text 8"/>
          <p:cNvSpPr/>
          <p:nvPr/>
        </p:nvSpPr>
        <p:spPr>
          <a:xfrm>
            <a:off x="4540250" y="2857500"/>
            <a:ext cx="455930" cy="455930"/>
          </a:xfrm>
          <a:prstGeom prst="rect">
            <a:avLst/>
          </a:prstGeom>
          <a:noFill/>
          <a:ln/>
        </p:spPr>
        <p:txBody>
          <a:bodyPr wrap="square" lIns="45720" tIns="0" rIns="45720" bIns="0" rtlCol="0" anchor="ctr"/>
          <a:lstStyle/>
          <a:p>
            <a:pPr marL="0" indent="0" algn="ctr">
              <a:spcBef>
                <a:spcPts val="0"/>
              </a:spcBef>
              <a:buNone/>
            </a:pPr>
            <a:r>
              <a:rPr lang="en-US" sz="800" b="1" dirty="0">
                <a:solidFill>
                  <a:srgbClr val="FFFFFF"/>
                </a:solidFill>
                <a:latin typeface="Calibri" pitchFamily="34" charset="0"/>
              </a:rPr>
              <a:t>Feder.</a:t>
            </a:r>
            <a:endParaRPr lang="en-US" sz="800" dirty="0"/>
          </a:p>
        </p:txBody>
      </p:sp>
      <p:sp>
        <p:nvSpPr>
          <p:cNvPr id="11" name="Shape 9"/>
          <p:cNvSpPr/>
          <p:nvPr/>
        </p:nvSpPr>
        <p:spPr>
          <a:xfrm>
            <a:off x="4540250" y="3797300"/>
            <a:ext cx="455930" cy="455930"/>
          </a:xfrm>
          <a:prstGeom prst="ellipse">
            <a:avLst/>
          </a:prstGeom>
          <a:solidFill>
            <a:srgbClr val="C5E8DA"/>
          </a:solidFill>
          <a:ln w="12700">
            <a:solidFill>
              <a:srgbClr val="1D9E75"/>
            </a:solidFill>
            <a:prstDash val="solid"/>
          </a:ln>
        </p:spPr>
        <p:txBody>
          <a:bodyPr/>
          <a:lstStyle/>
          <a:p>
            <a:endParaRPr lang="en-US"/>
          </a:p>
        </p:txBody>
      </p:sp>
      <p:sp>
        <p:nvSpPr>
          <p:cNvPr id="12" name="Text 10"/>
          <p:cNvSpPr/>
          <p:nvPr/>
        </p:nvSpPr>
        <p:spPr>
          <a:xfrm>
            <a:off x="4540250" y="3797300"/>
            <a:ext cx="455930" cy="455930"/>
          </a:xfrm>
          <a:prstGeom prst="rect">
            <a:avLst/>
          </a:prstGeom>
          <a:noFill/>
          <a:ln/>
        </p:spPr>
        <p:txBody>
          <a:bodyPr wrap="square" lIns="45720" tIns="0" rIns="45720" bIns="0" rtlCol="0" anchor="ctr"/>
          <a:lstStyle/>
          <a:p>
            <a:pPr marL="0" indent="0" algn="ctr">
              <a:spcBef>
                <a:spcPts val="0"/>
              </a:spcBef>
              <a:buNone/>
            </a:pPr>
            <a:r>
              <a:rPr lang="en-US" sz="800" b="1" dirty="0">
                <a:solidFill>
                  <a:srgbClr val="FFFFFF"/>
                </a:solidFill>
                <a:latin typeface="Calibri" pitchFamily="34" charset="0"/>
              </a:rPr>
              <a:t>HR</a:t>
            </a:r>
            <a:endParaRPr lang="en-US" sz="800" dirty="0"/>
          </a:p>
          <a:p>
            <a:pPr marL="0" indent="0" algn="ctr">
              <a:spcBef>
                <a:spcPts val="0"/>
              </a:spcBef>
              <a:buNone/>
            </a:pPr>
            <a:r>
              <a:rPr lang="en-US" sz="800" b="1" dirty="0">
                <a:solidFill>
                  <a:srgbClr val="FFFFFF"/>
                </a:solidFill>
                <a:latin typeface="Calibri" pitchFamily="34" charset="0"/>
              </a:rPr>
              <a:t>depts</a:t>
            </a:r>
            <a:endParaRPr lang="en-US" sz="800" dirty="0"/>
          </a:p>
        </p:txBody>
      </p:sp>
      <p:sp>
        <p:nvSpPr>
          <p:cNvPr id="13" name="Shape 11"/>
          <p:cNvSpPr/>
          <p:nvPr/>
        </p:nvSpPr>
        <p:spPr>
          <a:xfrm>
            <a:off x="3714750" y="4279900"/>
            <a:ext cx="455930" cy="455930"/>
          </a:xfrm>
          <a:prstGeom prst="ellipse">
            <a:avLst/>
          </a:prstGeom>
          <a:solidFill>
            <a:srgbClr val="C5E8DA"/>
          </a:solidFill>
          <a:ln w="12700">
            <a:solidFill>
              <a:srgbClr val="1D9E75"/>
            </a:solidFill>
            <a:prstDash val="solid"/>
          </a:ln>
        </p:spPr>
        <p:txBody>
          <a:bodyPr/>
          <a:lstStyle/>
          <a:p>
            <a:endParaRPr lang="en-US"/>
          </a:p>
        </p:txBody>
      </p:sp>
      <p:sp>
        <p:nvSpPr>
          <p:cNvPr id="14" name="Text 12"/>
          <p:cNvSpPr/>
          <p:nvPr/>
        </p:nvSpPr>
        <p:spPr>
          <a:xfrm>
            <a:off x="3714750" y="4279900"/>
            <a:ext cx="455930" cy="455930"/>
          </a:xfrm>
          <a:prstGeom prst="rect">
            <a:avLst/>
          </a:prstGeom>
          <a:noFill/>
          <a:ln/>
        </p:spPr>
        <p:txBody>
          <a:bodyPr wrap="square" lIns="45720" tIns="0" rIns="45720" bIns="0" rtlCol="0" anchor="ctr"/>
          <a:lstStyle/>
          <a:p>
            <a:pPr marL="0" indent="0" algn="ctr">
              <a:spcBef>
                <a:spcPts val="0"/>
              </a:spcBef>
              <a:buNone/>
            </a:pPr>
            <a:r>
              <a:rPr lang="en-US" sz="800" b="1" dirty="0">
                <a:solidFill>
                  <a:srgbClr val="FFFFFF"/>
                </a:solidFill>
                <a:latin typeface="Calibri" pitchFamily="34" charset="0"/>
              </a:rPr>
              <a:t>Hubs</a:t>
            </a:r>
            <a:endParaRPr lang="en-US" sz="800" dirty="0"/>
          </a:p>
        </p:txBody>
      </p:sp>
      <p:sp>
        <p:nvSpPr>
          <p:cNvPr id="15" name="Shape 13"/>
          <p:cNvSpPr/>
          <p:nvPr/>
        </p:nvSpPr>
        <p:spPr>
          <a:xfrm>
            <a:off x="2901950" y="3797300"/>
            <a:ext cx="455930" cy="455930"/>
          </a:xfrm>
          <a:prstGeom prst="ellipse">
            <a:avLst/>
          </a:prstGeom>
          <a:solidFill>
            <a:srgbClr val="C5E8DA"/>
          </a:solidFill>
          <a:ln w="12700">
            <a:solidFill>
              <a:srgbClr val="1D9E75"/>
            </a:solidFill>
            <a:prstDash val="solid"/>
          </a:ln>
        </p:spPr>
        <p:txBody>
          <a:bodyPr/>
          <a:lstStyle/>
          <a:p>
            <a:endParaRPr lang="en-US"/>
          </a:p>
        </p:txBody>
      </p:sp>
      <p:sp>
        <p:nvSpPr>
          <p:cNvPr id="16" name="Text 14"/>
          <p:cNvSpPr/>
          <p:nvPr/>
        </p:nvSpPr>
        <p:spPr>
          <a:xfrm>
            <a:off x="2901950" y="3797300"/>
            <a:ext cx="455930" cy="455930"/>
          </a:xfrm>
          <a:prstGeom prst="rect">
            <a:avLst/>
          </a:prstGeom>
          <a:noFill/>
          <a:ln/>
        </p:spPr>
        <p:txBody>
          <a:bodyPr wrap="square" lIns="45720" tIns="0" rIns="45720" bIns="0" rtlCol="0" anchor="ctr"/>
          <a:lstStyle/>
          <a:p>
            <a:pPr marL="0" indent="0" algn="ctr">
              <a:spcBef>
                <a:spcPts val="0"/>
              </a:spcBef>
              <a:buNone/>
            </a:pPr>
            <a:r>
              <a:rPr lang="en-US" sz="800" b="1" dirty="0">
                <a:solidFill>
                  <a:srgbClr val="FFFFFF"/>
                </a:solidFill>
                <a:latin typeface="Calibri" pitchFamily="34" charset="0"/>
              </a:rPr>
              <a:t>Media</a:t>
            </a:r>
            <a:endParaRPr lang="en-US" sz="800" dirty="0"/>
          </a:p>
        </p:txBody>
      </p:sp>
      <p:sp>
        <p:nvSpPr>
          <p:cNvPr id="17" name="Shape 15"/>
          <p:cNvSpPr/>
          <p:nvPr/>
        </p:nvSpPr>
        <p:spPr>
          <a:xfrm>
            <a:off x="2901950" y="2857500"/>
            <a:ext cx="455930" cy="455930"/>
          </a:xfrm>
          <a:prstGeom prst="ellipse">
            <a:avLst/>
          </a:prstGeom>
          <a:solidFill>
            <a:srgbClr val="C5E8DA"/>
          </a:solidFill>
          <a:ln w="12700">
            <a:solidFill>
              <a:srgbClr val="1D9E75"/>
            </a:solidFill>
            <a:prstDash val="solid"/>
          </a:ln>
        </p:spPr>
        <p:txBody>
          <a:bodyPr/>
          <a:lstStyle/>
          <a:p>
            <a:endParaRPr lang="en-US"/>
          </a:p>
        </p:txBody>
      </p:sp>
      <p:sp>
        <p:nvSpPr>
          <p:cNvPr id="18" name="Text 16"/>
          <p:cNvSpPr/>
          <p:nvPr/>
        </p:nvSpPr>
        <p:spPr>
          <a:xfrm>
            <a:off x="2901950" y="2857500"/>
            <a:ext cx="455930" cy="455930"/>
          </a:xfrm>
          <a:prstGeom prst="rect">
            <a:avLst/>
          </a:prstGeom>
          <a:noFill/>
          <a:ln/>
        </p:spPr>
        <p:txBody>
          <a:bodyPr wrap="square" lIns="45720" tIns="0" rIns="45720" bIns="0" rtlCol="0" anchor="ctr"/>
          <a:lstStyle/>
          <a:p>
            <a:pPr marL="0" indent="0" algn="ctr">
              <a:spcBef>
                <a:spcPts val="0"/>
              </a:spcBef>
              <a:buNone/>
            </a:pPr>
            <a:r>
              <a:rPr lang="en-US" sz="800" b="1" dirty="0">
                <a:solidFill>
                  <a:srgbClr val="FFFFFF"/>
                </a:solidFill>
                <a:latin typeface="Calibri" pitchFamily="34" charset="0"/>
              </a:rPr>
              <a:t>Public</a:t>
            </a:r>
            <a:endParaRPr lang="en-US" sz="800" dirty="0"/>
          </a:p>
        </p:txBody>
      </p:sp>
      <p:sp>
        <p:nvSpPr>
          <p:cNvPr id="19" name="Shape 17"/>
          <p:cNvSpPr/>
          <p:nvPr/>
        </p:nvSpPr>
        <p:spPr>
          <a:xfrm>
            <a:off x="2138680" y="3234690"/>
            <a:ext cx="744220" cy="744220"/>
          </a:xfrm>
          <a:prstGeom prst="ellipse">
            <a:avLst/>
          </a:prstGeom>
          <a:solidFill>
            <a:srgbClr val="D8D5F4"/>
          </a:solidFill>
          <a:ln w="12700">
            <a:solidFill>
              <a:srgbClr val="7F77DD"/>
            </a:solidFill>
            <a:prstDash val="solid"/>
          </a:ln>
        </p:spPr>
        <p:txBody>
          <a:bodyPr/>
          <a:lstStyle/>
          <a:p>
            <a:endParaRPr lang="en-US"/>
          </a:p>
        </p:txBody>
      </p:sp>
      <p:sp>
        <p:nvSpPr>
          <p:cNvPr id="20" name="Text 18"/>
          <p:cNvSpPr/>
          <p:nvPr/>
        </p:nvSpPr>
        <p:spPr>
          <a:xfrm>
            <a:off x="2138680" y="3345179"/>
            <a:ext cx="744220" cy="533400"/>
          </a:xfrm>
          <a:prstGeom prst="rect">
            <a:avLst/>
          </a:prstGeom>
          <a:noFill/>
          <a:ln/>
        </p:spPr>
        <p:txBody>
          <a:bodyPr wrap="square" lIns="0" tIns="0" rIns="0" bIns="0" rtlCol="0" anchor="ctr"/>
          <a:lstStyle/>
          <a:p>
            <a:pPr marL="0" indent="0" algn="ctr">
              <a:buNone/>
            </a:pPr>
            <a:r>
              <a:rPr lang="en-US" sz="1000" b="1" dirty="0">
                <a:solidFill>
                  <a:srgbClr val="2E2774"/>
                </a:solidFill>
                <a:latin typeface="Calibri" pitchFamily="34" charset="0"/>
              </a:rPr>
              <a:t>PT</a:t>
            </a:r>
          </a:p>
          <a:p>
            <a:pPr marL="0" indent="0" algn="ctr">
              <a:spcBef>
                <a:spcPts val="0"/>
              </a:spcBef>
              <a:buNone/>
            </a:pPr>
            <a:r>
              <a:rPr lang="en-US" sz="650" dirty="0">
                <a:solidFill>
                  <a:srgbClr val="2E2774"/>
                </a:solidFill>
                <a:latin typeface="Calibri" pitchFamily="34" charset="0"/>
              </a:rPr>
              <a:t>community</a:t>
            </a:r>
            <a:endParaRPr lang="en-US" sz="650" dirty="0"/>
          </a:p>
        </p:txBody>
      </p:sp>
      <p:sp>
        <p:nvSpPr>
          <p:cNvPr id="21" name="Shape 19"/>
          <p:cNvSpPr/>
          <p:nvPr/>
        </p:nvSpPr>
        <p:spPr>
          <a:xfrm>
            <a:off x="2882900" y="1945639"/>
            <a:ext cx="744220" cy="744220"/>
          </a:xfrm>
          <a:prstGeom prst="ellipse">
            <a:avLst/>
          </a:prstGeom>
          <a:solidFill>
            <a:srgbClr val="D8D5F4"/>
          </a:solidFill>
          <a:ln w="12700">
            <a:solidFill>
              <a:srgbClr val="7F77DD"/>
            </a:solidFill>
            <a:prstDash val="solid"/>
          </a:ln>
        </p:spPr>
        <p:txBody>
          <a:bodyPr/>
          <a:lstStyle/>
          <a:p>
            <a:endParaRPr lang="en-US"/>
          </a:p>
        </p:txBody>
      </p:sp>
      <p:sp>
        <p:nvSpPr>
          <p:cNvPr id="22" name="Text 20"/>
          <p:cNvSpPr/>
          <p:nvPr/>
        </p:nvSpPr>
        <p:spPr>
          <a:xfrm>
            <a:off x="2882900" y="2056130"/>
            <a:ext cx="744220" cy="533400"/>
          </a:xfrm>
          <a:prstGeom prst="rect">
            <a:avLst/>
          </a:prstGeom>
          <a:noFill/>
          <a:ln/>
        </p:spPr>
        <p:txBody>
          <a:bodyPr wrap="square" lIns="0" tIns="0" rIns="0" bIns="0" rtlCol="0" anchor="ctr"/>
          <a:lstStyle/>
          <a:p>
            <a:pPr marL="0" indent="0" algn="ctr">
              <a:buNone/>
            </a:pPr>
            <a:r>
              <a:rPr lang="en-US" sz="1000" b="1" dirty="0">
                <a:solidFill>
                  <a:srgbClr val="2E2774"/>
                </a:solidFill>
                <a:latin typeface="Calibri" pitchFamily="34" charset="0"/>
              </a:rPr>
              <a:t>FR</a:t>
            </a:r>
          </a:p>
          <a:p>
            <a:pPr marL="0" indent="0" algn="ctr">
              <a:spcBef>
                <a:spcPts val="0"/>
              </a:spcBef>
              <a:buNone/>
            </a:pPr>
            <a:r>
              <a:rPr lang="en-US" sz="650" dirty="0">
                <a:solidFill>
                  <a:srgbClr val="2E2774"/>
                </a:solidFill>
                <a:latin typeface="Calibri" pitchFamily="34" charset="0"/>
              </a:rPr>
              <a:t>community</a:t>
            </a:r>
            <a:endParaRPr lang="en-US" sz="650" dirty="0"/>
          </a:p>
        </p:txBody>
      </p:sp>
      <p:sp>
        <p:nvSpPr>
          <p:cNvPr id="23" name="Shape 21"/>
          <p:cNvSpPr/>
          <p:nvPr/>
        </p:nvSpPr>
        <p:spPr>
          <a:xfrm>
            <a:off x="4371340" y="1945639"/>
            <a:ext cx="744220" cy="744220"/>
          </a:xfrm>
          <a:prstGeom prst="ellipse">
            <a:avLst/>
          </a:prstGeom>
          <a:solidFill>
            <a:srgbClr val="D8D5F4"/>
          </a:solidFill>
          <a:ln w="12700">
            <a:solidFill>
              <a:srgbClr val="7F77DD"/>
            </a:solidFill>
            <a:prstDash val="solid"/>
          </a:ln>
        </p:spPr>
        <p:txBody>
          <a:bodyPr/>
          <a:lstStyle/>
          <a:p>
            <a:endParaRPr lang="en-US"/>
          </a:p>
        </p:txBody>
      </p:sp>
      <p:sp>
        <p:nvSpPr>
          <p:cNvPr id="24" name="Text 22"/>
          <p:cNvSpPr/>
          <p:nvPr/>
        </p:nvSpPr>
        <p:spPr>
          <a:xfrm>
            <a:off x="4371340" y="2056130"/>
            <a:ext cx="744220" cy="533400"/>
          </a:xfrm>
          <a:prstGeom prst="rect">
            <a:avLst/>
          </a:prstGeom>
          <a:noFill/>
          <a:ln/>
        </p:spPr>
        <p:txBody>
          <a:bodyPr wrap="square" lIns="0" tIns="0" rIns="0" bIns="0" rtlCol="0" anchor="ctr"/>
          <a:lstStyle/>
          <a:p>
            <a:pPr marL="0" indent="0" algn="ctr">
              <a:buNone/>
            </a:pPr>
            <a:r>
              <a:rPr lang="en-US" sz="1000" b="1" dirty="0">
                <a:solidFill>
                  <a:srgbClr val="2E2774"/>
                </a:solidFill>
                <a:latin typeface="Calibri" pitchFamily="34" charset="0"/>
              </a:rPr>
              <a:t>IT</a:t>
            </a:r>
          </a:p>
          <a:p>
            <a:pPr marL="0" indent="0" algn="ctr">
              <a:spcBef>
                <a:spcPts val="0"/>
              </a:spcBef>
              <a:buNone/>
            </a:pPr>
            <a:r>
              <a:rPr lang="en-US" sz="650" dirty="0">
                <a:solidFill>
                  <a:srgbClr val="2E2774"/>
                </a:solidFill>
                <a:latin typeface="Calibri" pitchFamily="34" charset="0"/>
              </a:rPr>
              <a:t>community</a:t>
            </a:r>
            <a:endParaRPr lang="en-US" sz="650" dirty="0"/>
          </a:p>
        </p:txBody>
      </p:sp>
      <p:sp>
        <p:nvSpPr>
          <p:cNvPr id="25" name="Shape 23"/>
          <p:cNvSpPr/>
          <p:nvPr/>
        </p:nvSpPr>
        <p:spPr>
          <a:xfrm>
            <a:off x="5115560" y="3234690"/>
            <a:ext cx="744220" cy="744220"/>
          </a:xfrm>
          <a:prstGeom prst="ellipse">
            <a:avLst/>
          </a:prstGeom>
          <a:solidFill>
            <a:srgbClr val="D8D5F4"/>
          </a:solidFill>
          <a:ln w="12700">
            <a:solidFill>
              <a:srgbClr val="7F77DD"/>
            </a:solidFill>
            <a:prstDash val="solid"/>
          </a:ln>
        </p:spPr>
        <p:txBody>
          <a:bodyPr/>
          <a:lstStyle/>
          <a:p>
            <a:endParaRPr lang="en-US"/>
          </a:p>
        </p:txBody>
      </p:sp>
      <p:sp>
        <p:nvSpPr>
          <p:cNvPr id="26" name="Text 24"/>
          <p:cNvSpPr/>
          <p:nvPr/>
        </p:nvSpPr>
        <p:spPr>
          <a:xfrm>
            <a:off x="5115560" y="3345179"/>
            <a:ext cx="744220" cy="533400"/>
          </a:xfrm>
          <a:prstGeom prst="rect">
            <a:avLst/>
          </a:prstGeom>
          <a:noFill/>
          <a:ln/>
        </p:spPr>
        <p:txBody>
          <a:bodyPr wrap="square" lIns="0" tIns="0" rIns="0" bIns="0" rtlCol="0" anchor="ctr"/>
          <a:lstStyle/>
          <a:p>
            <a:pPr marL="0" indent="0" algn="ctr">
              <a:buNone/>
            </a:pPr>
            <a:r>
              <a:rPr lang="en-US" sz="1000" b="1" dirty="0">
                <a:solidFill>
                  <a:srgbClr val="2E2774"/>
                </a:solidFill>
                <a:latin typeface="Calibri" pitchFamily="34" charset="0"/>
              </a:rPr>
              <a:t>BE</a:t>
            </a:r>
          </a:p>
          <a:p>
            <a:pPr marL="0" indent="0" algn="ctr">
              <a:spcBef>
                <a:spcPts val="0"/>
              </a:spcBef>
              <a:buNone/>
            </a:pPr>
            <a:r>
              <a:rPr lang="en-US" sz="650" dirty="0">
                <a:solidFill>
                  <a:srgbClr val="2E2774"/>
                </a:solidFill>
                <a:latin typeface="Calibri" pitchFamily="34" charset="0"/>
              </a:rPr>
              <a:t>community</a:t>
            </a:r>
            <a:endParaRPr lang="en-US" sz="650" dirty="0"/>
          </a:p>
        </p:txBody>
      </p:sp>
      <p:sp>
        <p:nvSpPr>
          <p:cNvPr id="27" name="Shape 25"/>
          <p:cNvSpPr/>
          <p:nvPr/>
        </p:nvSpPr>
        <p:spPr>
          <a:xfrm>
            <a:off x="4371340" y="4523740"/>
            <a:ext cx="744220" cy="744220"/>
          </a:xfrm>
          <a:prstGeom prst="ellipse">
            <a:avLst/>
          </a:prstGeom>
          <a:solidFill>
            <a:srgbClr val="D8D5F4"/>
          </a:solidFill>
          <a:ln w="12700">
            <a:solidFill>
              <a:srgbClr val="7F77DD"/>
            </a:solidFill>
            <a:prstDash val="solid"/>
          </a:ln>
        </p:spPr>
        <p:txBody>
          <a:bodyPr/>
          <a:lstStyle/>
          <a:p>
            <a:endParaRPr lang="en-US"/>
          </a:p>
        </p:txBody>
      </p:sp>
      <p:sp>
        <p:nvSpPr>
          <p:cNvPr id="28" name="Text 26"/>
          <p:cNvSpPr/>
          <p:nvPr/>
        </p:nvSpPr>
        <p:spPr>
          <a:xfrm>
            <a:off x="4371340" y="4634230"/>
            <a:ext cx="744220" cy="533400"/>
          </a:xfrm>
          <a:prstGeom prst="rect">
            <a:avLst/>
          </a:prstGeom>
          <a:noFill/>
          <a:ln/>
        </p:spPr>
        <p:txBody>
          <a:bodyPr wrap="square" lIns="0" tIns="0" rIns="0" bIns="0" rtlCol="0" anchor="ctr"/>
          <a:lstStyle/>
          <a:p>
            <a:pPr marL="0" indent="0" algn="ctr">
              <a:buNone/>
            </a:pPr>
            <a:r>
              <a:rPr lang="en-US" sz="1000" b="1" dirty="0">
                <a:solidFill>
                  <a:srgbClr val="2E2774"/>
                </a:solidFill>
                <a:latin typeface="Calibri" pitchFamily="34" charset="0"/>
              </a:rPr>
              <a:t>DE</a:t>
            </a:r>
          </a:p>
          <a:p>
            <a:pPr marL="0" indent="0" algn="ctr">
              <a:spcBef>
                <a:spcPts val="0"/>
              </a:spcBef>
              <a:buNone/>
            </a:pPr>
            <a:r>
              <a:rPr lang="en-US" sz="650" dirty="0">
                <a:solidFill>
                  <a:srgbClr val="2E2774"/>
                </a:solidFill>
                <a:latin typeface="Calibri" pitchFamily="34" charset="0"/>
              </a:rPr>
              <a:t>community</a:t>
            </a:r>
            <a:endParaRPr lang="en-US" sz="650" dirty="0"/>
          </a:p>
        </p:txBody>
      </p:sp>
      <p:sp>
        <p:nvSpPr>
          <p:cNvPr id="29" name="Shape 27"/>
          <p:cNvSpPr/>
          <p:nvPr/>
        </p:nvSpPr>
        <p:spPr>
          <a:xfrm>
            <a:off x="2882900" y="4523740"/>
            <a:ext cx="744220" cy="744220"/>
          </a:xfrm>
          <a:prstGeom prst="ellipse">
            <a:avLst/>
          </a:prstGeom>
          <a:solidFill>
            <a:srgbClr val="D8D5F4"/>
          </a:solidFill>
          <a:ln w="12700">
            <a:solidFill>
              <a:srgbClr val="7F77DD"/>
            </a:solidFill>
            <a:prstDash val="solid"/>
          </a:ln>
        </p:spPr>
        <p:txBody>
          <a:bodyPr/>
          <a:lstStyle/>
          <a:p>
            <a:endParaRPr lang="en-US"/>
          </a:p>
        </p:txBody>
      </p:sp>
      <p:sp>
        <p:nvSpPr>
          <p:cNvPr id="30" name="Text 28"/>
          <p:cNvSpPr/>
          <p:nvPr/>
        </p:nvSpPr>
        <p:spPr>
          <a:xfrm>
            <a:off x="2882900" y="4634230"/>
            <a:ext cx="744220" cy="533400"/>
          </a:xfrm>
          <a:prstGeom prst="rect">
            <a:avLst/>
          </a:prstGeom>
          <a:noFill/>
          <a:ln/>
        </p:spPr>
        <p:txBody>
          <a:bodyPr wrap="square" lIns="0" tIns="0" rIns="0" bIns="0" rtlCol="0" anchor="ctr"/>
          <a:lstStyle/>
          <a:p>
            <a:pPr marL="0" indent="0" algn="ctr">
              <a:buNone/>
            </a:pPr>
            <a:r>
              <a:rPr lang="en-US" sz="1000" b="1" dirty="0">
                <a:solidFill>
                  <a:srgbClr val="2E2774"/>
                </a:solidFill>
                <a:latin typeface="Calibri" pitchFamily="34" charset="0"/>
              </a:rPr>
              <a:t>ES</a:t>
            </a:r>
          </a:p>
          <a:p>
            <a:pPr marL="0" indent="0" algn="ctr">
              <a:spcBef>
                <a:spcPts val="0"/>
              </a:spcBef>
              <a:buNone/>
            </a:pPr>
            <a:r>
              <a:rPr lang="en-US" sz="650" dirty="0">
                <a:solidFill>
                  <a:srgbClr val="2E2774"/>
                </a:solidFill>
                <a:latin typeface="Calibri" pitchFamily="34" charset="0"/>
              </a:rPr>
              <a:t>community</a:t>
            </a:r>
            <a:endParaRPr lang="en-US" sz="650" dirty="0"/>
          </a:p>
        </p:txBody>
      </p:sp>
      <p:sp>
        <p:nvSpPr>
          <p:cNvPr id="31" name="Shape 29"/>
          <p:cNvSpPr/>
          <p:nvPr/>
        </p:nvSpPr>
        <p:spPr>
          <a:xfrm>
            <a:off x="2051206" y="3315838"/>
            <a:ext cx="121798" cy="121798"/>
          </a:xfrm>
          <a:prstGeom prst="ellipse">
            <a:avLst/>
          </a:prstGeom>
          <a:solidFill>
            <a:srgbClr val="7030A0"/>
          </a:solidFill>
          <a:ln w="12700">
            <a:solidFill>
              <a:srgbClr val="534AB7"/>
            </a:solidFill>
            <a:prstDash val="solid"/>
          </a:ln>
        </p:spPr>
        <p:txBody>
          <a:bodyPr/>
          <a:lstStyle/>
          <a:p>
            <a:endParaRPr lang="en-US"/>
          </a:p>
        </p:txBody>
      </p:sp>
      <p:sp>
        <p:nvSpPr>
          <p:cNvPr id="32" name="Shape 30"/>
          <p:cNvSpPr/>
          <p:nvPr/>
        </p:nvSpPr>
        <p:spPr>
          <a:xfrm>
            <a:off x="1751440" y="3139906"/>
            <a:ext cx="135331" cy="135331"/>
          </a:xfrm>
          <a:prstGeom prst="ellipse">
            <a:avLst/>
          </a:prstGeom>
          <a:solidFill>
            <a:srgbClr val="7030A0"/>
          </a:solidFill>
          <a:ln w="12700">
            <a:solidFill>
              <a:srgbClr val="D85A30"/>
            </a:solidFill>
            <a:prstDash val="solid"/>
          </a:ln>
        </p:spPr>
        <p:txBody>
          <a:bodyPr/>
          <a:lstStyle/>
          <a:p>
            <a:endParaRPr lang="en-US"/>
          </a:p>
        </p:txBody>
      </p:sp>
      <p:sp>
        <p:nvSpPr>
          <p:cNvPr id="33" name="Shape 31"/>
          <p:cNvSpPr/>
          <p:nvPr/>
        </p:nvSpPr>
        <p:spPr>
          <a:xfrm>
            <a:off x="1989561" y="3545900"/>
            <a:ext cx="121798" cy="121798"/>
          </a:xfrm>
          <a:prstGeom prst="ellipse">
            <a:avLst/>
          </a:prstGeom>
          <a:solidFill>
            <a:srgbClr val="7030A0"/>
          </a:solidFill>
          <a:ln w="12700">
            <a:solidFill>
              <a:srgbClr val="534AB7"/>
            </a:solidFill>
            <a:prstDash val="solid"/>
          </a:ln>
        </p:spPr>
        <p:txBody>
          <a:bodyPr/>
          <a:lstStyle/>
          <a:p>
            <a:endParaRPr lang="en-US"/>
          </a:p>
        </p:txBody>
      </p:sp>
      <p:sp>
        <p:nvSpPr>
          <p:cNvPr id="34" name="Shape 32"/>
          <p:cNvSpPr/>
          <p:nvPr/>
        </p:nvSpPr>
        <p:spPr>
          <a:xfrm>
            <a:off x="1644466" y="3539134"/>
            <a:ext cx="135331" cy="135331"/>
          </a:xfrm>
          <a:prstGeom prst="ellipse">
            <a:avLst/>
          </a:prstGeom>
          <a:solidFill>
            <a:srgbClr val="7030A0"/>
          </a:solidFill>
          <a:ln w="12700">
            <a:solidFill>
              <a:srgbClr val="D85A30"/>
            </a:solidFill>
            <a:prstDash val="solid"/>
          </a:ln>
        </p:spPr>
        <p:txBody>
          <a:bodyPr/>
          <a:lstStyle/>
          <a:p>
            <a:endParaRPr lang="en-US"/>
          </a:p>
        </p:txBody>
      </p:sp>
      <p:sp>
        <p:nvSpPr>
          <p:cNvPr id="35" name="Shape 33"/>
          <p:cNvSpPr/>
          <p:nvPr/>
        </p:nvSpPr>
        <p:spPr>
          <a:xfrm>
            <a:off x="2051206" y="3775964"/>
            <a:ext cx="121798" cy="121798"/>
          </a:xfrm>
          <a:prstGeom prst="ellipse">
            <a:avLst/>
          </a:prstGeom>
          <a:solidFill>
            <a:srgbClr val="7030A0"/>
          </a:solidFill>
          <a:ln w="12700">
            <a:solidFill>
              <a:srgbClr val="534AB7"/>
            </a:solidFill>
            <a:prstDash val="solid"/>
          </a:ln>
        </p:spPr>
        <p:txBody>
          <a:bodyPr/>
          <a:lstStyle/>
          <a:p>
            <a:endParaRPr lang="en-US"/>
          </a:p>
        </p:txBody>
      </p:sp>
      <p:sp>
        <p:nvSpPr>
          <p:cNvPr id="36" name="Shape 34"/>
          <p:cNvSpPr/>
          <p:nvPr/>
        </p:nvSpPr>
        <p:spPr>
          <a:xfrm>
            <a:off x="1751440" y="3938361"/>
            <a:ext cx="135331" cy="135331"/>
          </a:xfrm>
          <a:prstGeom prst="ellipse">
            <a:avLst/>
          </a:prstGeom>
          <a:solidFill>
            <a:srgbClr val="7030A0"/>
          </a:solidFill>
          <a:ln w="12700">
            <a:solidFill>
              <a:srgbClr val="D85A30"/>
            </a:solidFill>
            <a:prstDash val="solid"/>
          </a:ln>
        </p:spPr>
        <p:txBody>
          <a:bodyPr/>
          <a:lstStyle/>
          <a:p>
            <a:endParaRPr lang="en-US"/>
          </a:p>
        </p:txBody>
      </p:sp>
      <p:sp>
        <p:nvSpPr>
          <p:cNvPr id="37" name="Shape 35"/>
          <p:cNvSpPr/>
          <p:nvPr/>
        </p:nvSpPr>
        <p:spPr>
          <a:xfrm>
            <a:off x="3194008" y="1796571"/>
            <a:ext cx="121798" cy="121798"/>
          </a:xfrm>
          <a:prstGeom prst="ellipse">
            <a:avLst/>
          </a:prstGeom>
          <a:solidFill>
            <a:srgbClr val="7030A0"/>
          </a:solidFill>
          <a:ln w="12700">
            <a:solidFill>
              <a:srgbClr val="534AB7"/>
            </a:solidFill>
            <a:prstDash val="solid"/>
          </a:ln>
        </p:spPr>
        <p:txBody>
          <a:bodyPr/>
          <a:lstStyle/>
          <a:p>
            <a:endParaRPr lang="en-US"/>
          </a:p>
        </p:txBody>
      </p:sp>
      <p:sp>
        <p:nvSpPr>
          <p:cNvPr id="38" name="Shape 36"/>
          <p:cNvSpPr/>
          <p:nvPr/>
        </p:nvSpPr>
        <p:spPr>
          <a:xfrm>
            <a:off x="3187242" y="1451476"/>
            <a:ext cx="135331" cy="135331"/>
          </a:xfrm>
          <a:prstGeom prst="ellipse">
            <a:avLst/>
          </a:prstGeom>
          <a:solidFill>
            <a:srgbClr val="7030A0"/>
          </a:solidFill>
          <a:ln w="12700">
            <a:solidFill>
              <a:srgbClr val="D85A30"/>
            </a:solidFill>
            <a:prstDash val="solid"/>
          </a:ln>
        </p:spPr>
        <p:txBody>
          <a:bodyPr/>
          <a:lstStyle/>
          <a:p>
            <a:endParaRPr lang="en-US"/>
          </a:p>
        </p:txBody>
      </p:sp>
      <p:sp>
        <p:nvSpPr>
          <p:cNvPr id="39" name="Shape 37"/>
          <p:cNvSpPr/>
          <p:nvPr/>
        </p:nvSpPr>
        <p:spPr>
          <a:xfrm>
            <a:off x="2963946" y="1858216"/>
            <a:ext cx="121798" cy="121798"/>
          </a:xfrm>
          <a:prstGeom prst="ellipse">
            <a:avLst/>
          </a:prstGeom>
          <a:solidFill>
            <a:srgbClr val="7030A0"/>
          </a:solidFill>
          <a:ln w="12700">
            <a:solidFill>
              <a:srgbClr val="534AB7"/>
            </a:solidFill>
            <a:prstDash val="solid"/>
          </a:ln>
        </p:spPr>
        <p:txBody>
          <a:bodyPr/>
          <a:lstStyle/>
          <a:p>
            <a:endParaRPr lang="en-US"/>
          </a:p>
        </p:txBody>
      </p:sp>
      <p:sp>
        <p:nvSpPr>
          <p:cNvPr id="40" name="Shape 38"/>
          <p:cNvSpPr/>
          <p:nvPr/>
        </p:nvSpPr>
        <p:spPr>
          <a:xfrm>
            <a:off x="2788016" y="1558450"/>
            <a:ext cx="135331" cy="135331"/>
          </a:xfrm>
          <a:prstGeom prst="ellipse">
            <a:avLst/>
          </a:prstGeom>
          <a:solidFill>
            <a:srgbClr val="7030A0"/>
          </a:solidFill>
          <a:ln w="12700">
            <a:solidFill>
              <a:srgbClr val="D85A30"/>
            </a:solidFill>
            <a:prstDash val="solid"/>
          </a:ln>
        </p:spPr>
        <p:txBody>
          <a:bodyPr/>
          <a:lstStyle/>
          <a:p>
            <a:endParaRPr lang="en-US"/>
          </a:p>
        </p:txBody>
      </p:sp>
      <p:sp>
        <p:nvSpPr>
          <p:cNvPr id="41" name="Shape 39"/>
          <p:cNvSpPr/>
          <p:nvPr/>
        </p:nvSpPr>
        <p:spPr>
          <a:xfrm>
            <a:off x="2795528" y="2026634"/>
            <a:ext cx="121798" cy="121798"/>
          </a:xfrm>
          <a:prstGeom prst="ellipse">
            <a:avLst/>
          </a:prstGeom>
          <a:solidFill>
            <a:srgbClr val="7030A0"/>
          </a:solidFill>
          <a:ln w="12700">
            <a:solidFill>
              <a:srgbClr val="534AB7"/>
            </a:solidFill>
            <a:prstDash val="solid"/>
          </a:ln>
        </p:spPr>
        <p:txBody>
          <a:bodyPr/>
          <a:lstStyle/>
          <a:p>
            <a:endParaRPr lang="en-US"/>
          </a:p>
        </p:txBody>
      </p:sp>
      <p:sp>
        <p:nvSpPr>
          <p:cNvPr id="42" name="Shape 40"/>
          <p:cNvSpPr/>
          <p:nvPr/>
        </p:nvSpPr>
        <p:spPr>
          <a:xfrm>
            <a:off x="2495760" y="1850704"/>
            <a:ext cx="135331" cy="135331"/>
          </a:xfrm>
          <a:prstGeom prst="ellipse">
            <a:avLst/>
          </a:prstGeom>
          <a:solidFill>
            <a:srgbClr val="7030A0"/>
          </a:solidFill>
          <a:ln w="12700">
            <a:solidFill>
              <a:srgbClr val="D85A30"/>
            </a:solidFill>
            <a:prstDash val="solid"/>
          </a:ln>
        </p:spPr>
        <p:txBody>
          <a:bodyPr/>
          <a:lstStyle/>
          <a:p>
            <a:endParaRPr lang="en-US"/>
          </a:p>
        </p:txBody>
      </p:sp>
      <p:sp>
        <p:nvSpPr>
          <p:cNvPr id="43" name="Shape 41"/>
          <p:cNvSpPr/>
          <p:nvPr/>
        </p:nvSpPr>
        <p:spPr>
          <a:xfrm>
            <a:off x="5081132" y="2026634"/>
            <a:ext cx="121798" cy="121798"/>
          </a:xfrm>
          <a:prstGeom prst="ellipse">
            <a:avLst/>
          </a:prstGeom>
          <a:solidFill>
            <a:srgbClr val="7030A0"/>
          </a:solidFill>
          <a:ln w="12700">
            <a:solidFill>
              <a:srgbClr val="534AB7"/>
            </a:solidFill>
            <a:prstDash val="solid"/>
          </a:ln>
        </p:spPr>
        <p:txBody>
          <a:bodyPr/>
          <a:lstStyle/>
          <a:p>
            <a:endParaRPr lang="en-US"/>
          </a:p>
        </p:txBody>
      </p:sp>
      <p:sp>
        <p:nvSpPr>
          <p:cNvPr id="44" name="Shape 42"/>
          <p:cNvSpPr/>
          <p:nvPr/>
        </p:nvSpPr>
        <p:spPr>
          <a:xfrm>
            <a:off x="5367367" y="1850704"/>
            <a:ext cx="135331" cy="135331"/>
          </a:xfrm>
          <a:prstGeom prst="ellipse">
            <a:avLst/>
          </a:prstGeom>
          <a:solidFill>
            <a:srgbClr val="7030A0"/>
          </a:solidFill>
          <a:ln w="12700">
            <a:solidFill>
              <a:srgbClr val="D85A30"/>
            </a:solidFill>
            <a:prstDash val="solid"/>
          </a:ln>
        </p:spPr>
        <p:txBody>
          <a:bodyPr/>
          <a:lstStyle/>
          <a:p>
            <a:endParaRPr lang="en-US"/>
          </a:p>
        </p:txBody>
      </p:sp>
      <p:sp>
        <p:nvSpPr>
          <p:cNvPr id="45" name="Shape 43"/>
          <p:cNvSpPr/>
          <p:nvPr/>
        </p:nvSpPr>
        <p:spPr>
          <a:xfrm>
            <a:off x="4912716" y="1858216"/>
            <a:ext cx="121798" cy="121798"/>
          </a:xfrm>
          <a:prstGeom prst="ellipse">
            <a:avLst/>
          </a:prstGeom>
          <a:solidFill>
            <a:srgbClr val="7030A0"/>
          </a:solidFill>
          <a:ln w="12700">
            <a:solidFill>
              <a:srgbClr val="534AB7"/>
            </a:solidFill>
            <a:prstDash val="solid"/>
          </a:ln>
        </p:spPr>
        <p:txBody>
          <a:bodyPr/>
          <a:lstStyle/>
          <a:p>
            <a:endParaRPr lang="en-US"/>
          </a:p>
        </p:txBody>
      </p:sp>
      <p:sp>
        <p:nvSpPr>
          <p:cNvPr id="46" name="Shape 44"/>
          <p:cNvSpPr/>
          <p:nvPr/>
        </p:nvSpPr>
        <p:spPr>
          <a:xfrm>
            <a:off x="5075113" y="1558450"/>
            <a:ext cx="135331" cy="135331"/>
          </a:xfrm>
          <a:prstGeom prst="ellipse">
            <a:avLst/>
          </a:prstGeom>
          <a:solidFill>
            <a:srgbClr val="7030A0"/>
          </a:solidFill>
          <a:ln w="12700">
            <a:solidFill>
              <a:srgbClr val="D85A30"/>
            </a:solidFill>
            <a:prstDash val="solid"/>
          </a:ln>
        </p:spPr>
        <p:txBody>
          <a:bodyPr/>
          <a:lstStyle/>
          <a:p>
            <a:endParaRPr lang="en-US"/>
          </a:p>
        </p:txBody>
      </p:sp>
      <p:sp>
        <p:nvSpPr>
          <p:cNvPr id="47" name="Shape 45"/>
          <p:cNvSpPr/>
          <p:nvPr/>
        </p:nvSpPr>
        <p:spPr>
          <a:xfrm>
            <a:off x="4682652" y="1796571"/>
            <a:ext cx="121798" cy="121798"/>
          </a:xfrm>
          <a:prstGeom prst="ellipse">
            <a:avLst/>
          </a:prstGeom>
          <a:solidFill>
            <a:srgbClr val="7030A0"/>
          </a:solidFill>
          <a:ln w="12700">
            <a:solidFill>
              <a:srgbClr val="534AB7"/>
            </a:solidFill>
            <a:prstDash val="solid"/>
          </a:ln>
        </p:spPr>
        <p:txBody>
          <a:bodyPr/>
          <a:lstStyle/>
          <a:p>
            <a:endParaRPr lang="en-US"/>
          </a:p>
        </p:txBody>
      </p:sp>
      <p:sp>
        <p:nvSpPr>
          <p:cNvPr id="48" name="Shape 46"/>
          <p:cNvSpPr/>
          <p:nvPr/>
        </p:nvSpPr>
        <p:spPr>
          <a:xfrm>
            <a:off x="4675886" y="1451476"/>
            <a:ext cx="135331" cy="135331"/>
          </a:xfrm>
          <a:prstGeom prst="ellipse">
            <a:avLst/>
          </a:prstGeom>
          <a:solidFill>
            <a:srgbClr val="7030A0"/>
          </a:solidFill>
          <a:ln w="12700">
            <a:solidFill>
              <a:srgbClr val="D85A30"/>
            </a:solidFill>
            <a:prstDash val="solid"/>
          </a:ln>
        </p:spPr>
        <p:txBody>
          <a:bodyPr/>
          <a:lstStyle/>
          <a:p>
            <a:endParaRPr lang="en-US"/>
          </a:p>
        </p:txBody>
      </p:sp>
      <p:sp>
        <p:nvSpPr>
          <p:cNvPr id="49" name="Shape 47"/>
          <p:cNvSpPr/>
          <p:nvPr/>
        </p:nvSpPr>
        <p:spPr>
          <a:xfrm>
            <a:off x="5825454" y="3775964"/>
            <a:ext cx="121798" cy="121798"/>
          </a:xfrm>
          <a:prstGeom prst="ellipse">
            <a:avLst/>
          </a:prstGeom>
          <a:solidFill>
            <a:srgbClr val="7030A0"/>
          </a:solidFill>
          <a:ln w="12700">
            <a:solidFill>
              <a:srgbClr val="534AB7"/>
            </a:solidFill>
            <a:prstDash val="solid"/>
          </a:ln>
        </p:spPr>
        <p:txBody>
          <a:bodyPr/>
          <a:lstStyle/>
          <a:p>
            <a:endParaRPr lang="en-US"/>
          </a:p>
        </p:txBody>
      </p:sp>
      <p:sp>
        <p:nvSpPr>
          <p:cNvPr id="50" name="Shape 48"/>
          <p:cNvSpPr/>
          <p:nvPr/>
        </p:nvSpPr>
        <p:spPr>
          <a:xfrm>
            <a:off x="6111689" y="3938361"/>
            <a:ext cx="135331" cy="135331"/>
          </a:xfrm>
          <a:prstGeom prst="ellipse">
            <a:avLst/>
          </a:prstGeom>
          <a:solidFill>
            <a:srgbClr val="7030A0"/>
          </a:solidFill>
          <a:ln w="12700">
            <a:solidFill>
              <a:srgbClr val="D85A30"/>
            </a:solidFill>
            <a:prstDash val="solid"/>
          </a:ln>
        </p:spPr>
        <p:txBody>
          <a:bodyPr/>
          <a:lstStyle/>
          <a:p>
            <a:endParaRPr lang="en-US" sz="1150">
              <a:solidFill>
                <a:srgbClr val="1F2937"/>
              </a:solidFill>
            </a:endParaRPr>
          </a:p>
        </p:txBody>
      </p:sp>
      <p:sp>
        <p:nvSpPr>
          <p:cNvPr id="51" name="Shape 49"/>
          <p:cNvSpPr/>
          <p:nvPr/>
        </p:nvSpPr>
        <p:spPr>
          <a:xfrm>
            <a:off x="5887099" y="3545900"/>
            <a:ext cx="121798" cy="121798"/>
          </a:xfrm>
          <a:prstGeom prst="ellipse">
            <a:avLst/>
          </a:prstGeom>
          <a:solidFill>
            <a:srgbClr val="7030A0"/>
          </a:solidFill>
          <a:ln w="12700">
            <a:solidFill>
              <a:srgbClr val="534AB7"/>
            </a:solidFill>
            <a:prstDash val="solid"/>
          </a:ln>
        </p:spPr>
        <p:txBody>
          <a:bodyPr/>
          <a:lstStyle/>
          <a:p>
            <a:endParaRPr lang="en-US"/>
          </a:p>
        </p:txBody>
      </p:sp>
      <p:sp>
        <p:nvSpPr>
          <p:cNvPr id="52" name="Shape 50"/>
          <p:cNvSpPr/>
          <p:nvPr/>
        </p:nvSpPr>
        <p:spPr>
          <a:xfrm>
            <a:off x="6218661" y="3539134"/>
            <a:ext cx="135331" cy="135331"/>
          </a:xfrm>
          <a:prstGeom prst="ellipse">
            <a:avLst/>
          </a:prstGeom>
          <a:solidFill>
            <a:srgbClr val="7030A0"/>
          </a:solidFill>
          <a:ln w="12700">
            <a:solidFill>
              <a:srgbClr val="D85A30"/>
            </a:solidFill>
            <a:prstDash val="solid"/>
          </a:ln>
        </p:spPr>
        <p:txBody>
          <a:bodyPr/>
          <a:lstStyle/>
          <a:p>
            <a:endParaRPr lang="en-US" sz="1150">
              <a:solidFill>
                <a:srgbClr val="1F2937"/>
              </a:solidFill>
            </a:endParaRPr>
          </a:p>
        </p:txBody>
      </p:sp>
      <p:sp>
        <p:nvSpPr>
          <p:cNvPr id="53" name="Shape 51"/>
          <p:cNvSpPr/>
          <p:nvPr/>
        </p:nvSpPr>
        <p:spPr>
          <a:xfrm>
            <a:off x="5825454" y="3315838"/>
            <a:ext cx="121798" cy="121798"/>
          </a:xfrm>
          <a:prstGeom prst="ellipse">
            <a:avLst/>
          </a:prstGeom>
          <a:solidFill>
            <a:srgbClr val="7030A0"/>
          </a:solidFill>
          <a:ln w="12700">
            <a:solidFill>
              <a:srgbClr val="534AB7"/>
            </a:solidFill>
            <a:prstDash val="solid"/>
          </a:ln>
        </p:spPr>
        <p:txBody>
          <a:bodyPr/>
          <a:lstStyle/>
          <a:p>
            <a:endParaRPr lang="en-US"/>
          </a:p>
        </p:txBody>
      </p:sp>
      <p:sp>
        <p:nvSpPr>
          <p:cNvPr id="54" name="Shape 52"/>
          <p:cNvSpPr/>
          <p:nvPr/>
        </p:nvSpPr>
        <p:spPr>
          <a:xfrm>
            <a:off x="6111689" y="3139906"/>
            <a:ext cx="135331" cy="135331"/>
          </a:xfrm>
          <a:prstGeom prst="ellipse">
            <a:avLst/>
          </a:prstGeom>
          <a:solidFill>
            <a:srgbClr val="7030A0"/>
          </a:solidFill>
          <a:ln w="12700">
            <a:solidFill>
              <a:srgbClr val="D85A30"/>
            </a:solidFill>
            <a:prstDash val="solid"/>
          </a:ln>
        </p:spPr>
        <p:txBody>
          <a:bodyPr/>
          <a:lstStyle/>
          <a:p>
            <a:endParaRPr lang="en-US" sz="1150">
              <a:solidFill>
                <a:srgbClr val="1F2937"/>
              </a:solidFill>
            </a:endParaRPr>
          </a:p>
        </p:txBody>
      </p:sp>
      <p:sp>
        <p:nvSpPr>
          <p:cNvPr id="55" name="Shape 53"/>
          <p:cNvSpPr/>
          <p:nvPr/>
        </p:nvSpPr>
        <p:spPr>
          <a:xfrm>
            <a:off x="4682652" y="5295229"/>
            <a:ext cx="121798" cy="121798"/>
          </a:xfrm>
          <a:prstGeom prst="ellipse">
            <a:avLst/>
          </a:prstGeom>
          <a:solidFill>
            <a:srgbClr val="7030A0"/>
          </a:solidFill>
          <a:ln w="12700">
            <a:solidFill>
              <a:srgbClr val="534AB7"/>
            </a:solidFill>
            <a:prstDash val="solid"/>
          </a:ln>
        </p:spPr>
        <p:txBody>
          <a:bodyPr/>
          <a:lstStyle/>
          <a:p>
            <a:endParaRPr lang="en-US"/>
          </a:p>
        </p:txBody>
      </p:sp>
      <p:sp>
        <p:nvSpPr>
          <p:cNvPr id="56" name="Shape 54"/>
          <p:cNvSpPr/>
          <p:nvPr/>
        </p:nvSpPr>
        <p:spPr>
          <a:xfrm>
            <a:off x="4675886" y="5626791"/>
            <a:ext cx="135331" cy="135331"/>
          </a:xfrm>
          <a:prstGeom prst="ellipse">
            <a:avLst/>
          </a:prstGeom>
          <a:solidFill>
            <a:srgbClr val="7030A0"/>
          </a:solidFill>
          <a:ln w="12700">
            <a:solidFill>
              <a:srgbClr val="D85A30"/>
            </a:solidFill>
            <a:prstDash val="solid"/>
          </a:ln>
        </p:spPr>
        <p:txBody>
          <a:bodyPr/>
          <a:lstStyle/>
          <a:p>
            <a:endParaRPr lang="en-US"/>
          </a:p>
        </p:txBody>
      </p:sp>
      <p:sp>
        <p:nvSpPr>
          <p:cNvPr id="57" name="Shape 55"/>
          <p:cNvSpPr/>
          <p:nvPr/>
        </p:nvSpPr>
        <p:spPr>
          <a:xfrm>
            <a:off x="4912716" y="5233584"/>
            <a:ext cx="121798" cy="121798"/>
          </a:xfrm>
          <a:prstGeom prst="ellipse">
            <a:avLst/>
          </a:prstGeom>
          <a:solidFill>
            <a:srgbClr val="7030A0"/>
          </a:solidFill>
          <a:ln w="12700">
            <a:solidFill>
              <a:srgbClr val="534AB7"/>
            </a:solidFill>
            <a:prstDash val="solid"/>
          </a:ln>
        </p:spPr>
        <p:txBody>
          <a:bodyPr/>
          <a:lstStyle/>
          <a:p>
            <a:endParaRPr lang="en-US"/>
          </a:p>
        </p:txBody>
      </p:sp>
      <p:sp>
        <p:nvSpPr>
          <p:cNvPr id="58" name="Shape 56"/>
          <p:cNvSpPr/>
          <p:nvPr/>
        </p:nvSpPr>
        <p:spPr>
          <a:xfrm>
            <a:off x="5075113" y="5519819"/>
            <a:ext cx="135331" cy="135331"/>
          </a:xfrm>
          <a:prstGeom prst="ellipse">
            <a:avLst/>
          </a:prstGeom>
          <a:solidFill>
            <a:srgbClr val="7030A0"/>
          </a:solidFill>
          <a:ln w="12700">
            <a:solidFill>
              <a:srgbClr val="D85A30"/>
            </a:solidFill>
            <a:prstDash val="solid"/>
          </a:ln>
        </p:spPr>
        <p:txBody>
          <a:bodyPr/>
          <a:lstStyle/>
          <a:p>
            <a:endParaRPr lang="en-US"/>
          </a:p>
        </p:txBody>
      </p:sp>
      <p:sp>
        <p:nvSpPr>
          <p:cNvPr id="59" name="Shape 57"/>
          <p:cNvSpPr/>
          <p:nvPr/>
        </p:nvSpPr>
        <p:spPr>
          <a:xfrm>
            <a:off x="5081132" y="5065166"/>
            <a:ext cx="121798" cy="121798"/>
          </a:xfrm>
          <a:prstGeom prst="ellipse">
            <a:avLst/>
          </a:prstGeom>
          <a:solidFill>
            <a:srgbClr val="7030A0"/>
          </a:solidFill>
          <a:ln w="12700">
            <a:solidFill>
              <a:srgbClr val="534AB7"/>
            </a:solidFill>
            <a:prstDash val="solid"/>
          </a:ln>
        </p:spPr>
        <p:txBody>
          <a:bodyPr/>
          <a:lstStyle/>
          <a:p>
            <a:endParaRPr lang="en-US"/>
          </a:p>
        </p:txBody>
      </p:sp>
      <p:sp>
        <p:nvSpPr>
          <p:cNvPr id="60" name="Shape 58"/>
          <p:cNvSpPr/>
          <p:nvPr/>
        </p:nvSpPr>
        <p:spPr>
          <a:xfrm>
            <a:off x="5367367" y="5227563"/>
            <a:ext cx="135331" cy="135331"/>
          </a:xfrm>
          <a:prstGeom prst="ellipse">
            <a:avLst/>
          </a:prstGeom>
          <a:solidFill>
            <a:srgbClr val="7030A0"/>
          </a:solidFill>
          <a:ln w="12700">
            <a:solidFill>
              <a:srgbClr val="D85A30"/>
            </a:solidFill>
            <a:prstDash val="solid"/>
          </a:ln>
        </p:spPr>
        <p:txBody>
          <a:bodyPr/>
          <a:lstStyle/>
          <a:p>
            <a:endParaRPr lang="en-US"/>
          </a:p>
        </p:txBody>
      </p:sp>
      <p:sp>
        <p:nvSpPr>
          <p:cNvPr id="61" name="Shape 59"/>
          <p:cNvSpPr/>
          <p:nvPr/>
        </p:nvSpPr>
        <p:spPr>
          <a:xfrm>
            <a:off x="2795528" y="5065166"/>
            <a:ext cx="121798" cy="121798"/>
          </a:xfrm>
          <a:prstGeom prst="ellipse">
            <a:avLst/>
          </a:prstGeom>
          <a:solidFill>
            <a:srgbClr val="7030A0"/>
          </a:solidFill>
          <a:ln w="12700">
            <a:solidFill>
              <a:srgbClr val="534AB7"/>
            </a:solidFill>
            <a:prstDash val="solid"/>
          </a:ln>
        </p:spPr>
        <p:txBody>
          <a:bodyPr/>
          <a:lstStyle/>
          <a:p>
            <a:endParaRPr lang="en-US"/>
          </a:p>
        </p:txBody>
      </p:sp>
      <p:sp>
        <p:nvSpPr>
          <p:cNvPr id="62" name="Shape 60"/>
          <p:cNvSpPr/>
          <p:nvPr/>
        </p:nvSpPr>
        <p:spPr>
          <a:xfrm>
            <a:off x="2495760" y="5227563"/>
            <a:ext cx="135331" cy="135331"/>
          </a:xfrm>
          <a:prstGeom prst="ellipse">
            <a:avLst/>
          </a:prstGeom>
          <a:solidFill>
            <a:srgbClr val="7030A0"/>
          </a:solidFill>
          <a:ln w="12700">
            <a:solidFill>
              <a:srgbClr val="D85A30"/>
            </a:solidFill>
            <a:prstDash val="solid"/>
          </a:ln>
        </p:spPr>
        <p:txBody>
          <a:bodyPr/>
          <a:lstStyle/>
          <a:p>
            <a:endParaRPr lang="en-US"/>
          </a:p>
        </p:txBody>
      </p:sp>
      <p:sp>
        <p:nvSpPr>
          <p:cNvPr id="63" name="Shape 61"/>
          <p:cNvSpPr/>
          <p:nvPr/>
        </p:nvSpPr>
        <p:spPr>
          <a:xfrm>
            <a:off x="2963946" y="5233584"/>
            <a:ext cx="121798" cy="121798"/>
          </a:xfrm>
          <a:prstGeom prst="ellipse">
            <a:avLst/>
          </a:prstGeom>
          <a:solidFill>
            <a:srgbClr val="7030A0"/>
          </a:solidFill>
          <a:ln w="12700">
            <a:solidFill>
              <a:srgbClr val="534AB7"/>
            </a:solidFill>
            <a:prstDash val="solid"/>
          </a:ln>
        </p:spPr>
        <p:txBody>
          <a:bodyPr/>
          <a:lstStyle/>
          <a:p>
            <a:endParaRPr lang="en-US"/>
          </a:p>
        </p:txBody>
      </p:sp>
      <p:sp>
        <p:nvSpPr>
          <p:cNvPr id="64" name="Shape 62"/>
          <p:cNvSpPr/>
          <p:nvPr/>
        </p:nvSpPr>
        <p:spPr>
          <a:xfrm>
            <a:off x="2788016" y="5519819"/>
            <a:ext cx="135331" cy="135331"/>
          </a:xfrm>
          <a:prstGeom prst="ellipse">
            <a:avLst/>
          </a:prstGeom>
          <a:solidFill>
            <a:srgbClr val="7030A0"/>
          </a:solidFill>
          <a:ln w="12700">
            <a:solidFill>
              <a:srgbClr val="D85A30"/>
            </a:solidFill>
            <a:prstDash val="solid"/>
          </a:ln>
        </p:spPr>
        <p:txBody>
          <a:bodyPr/>
          <a:lstStyle/>
          <a:p>
            <a:endParaRPr lang="en-US"/>
          </a:p>
        </p:txBody>
      </p:sp>
      <p:sp>
        <p:nvSpPr>
          <p:cNvPr id="65" name="Shape 63"/>
          <p:cNvSpPr/>
          <p:nvPr/>
        </p:nvSpPr>
        <p:spPr>
          <a:xfrm>
            <a:off x="3194008" y="5295229"/>
            <a:ext cx="121798" cy="121798"/>
          </a:xfrm>
          <a:prstGeom prst="ellipse">
            <a:avLst/>
          </a:prstGeom>
          <a:solidFill>
            <a:srgbClr val="7030A0"/>
          </a:solidFill>
          <a:ln w="12700">
            <a:solidFill>
              <a:srgbClr val="534AB7"/>
            </a:solidFill>
            <a:prstDash val="solid"/>
          </a:ln>
        </p:spPr>
        <p:txBody>
          <a:bodyPr/>
          <a:lstStyle/>
          <a:p>
            <a:endParaRPr lang="en-US"/>
          </a:p>
        </p:txBody>
      </p:sp>
      <p:sp>
        <p:nvSpPr>
          <p:cNvPr id="66" name="Shape 64"/>
          <p:cNvSpPr/>
          <p:nvPr/>
        </p:nvSpPr>
        <p:spPr>
          <a:xfrm>
            <a:off x="3187242" y="5626791"/>
            <a:ext cx="135331" cy="135331"/>
          </a:xfrm>
          <a:prstGeom prst="ellipse">
            <a:avLst/>
          </a:prstGeom>
          <a:solidFill>
            <a:srgbClr val="7030A0"/>
          </a:solidFill>
          <a:ln w="12700">
            <a:solidFill>
              <a:srgbClr val="D85A30"/>
            </a:solidFill>
            <a:prstDash val="solid"/>
          </a:ln>
        </p:spPr>
        <p:txBody>
          <a:bodyPr/>
          <a:lstStyle/>
          <a:p>
            <a:endParaRPr lang="en-US"/>
          </a:p>
        </p:txBody>
      </p:sp>
      <p:sp>
        <p:nvSpPr>
          <p:cNvPr id="67" name="Shape 65"/>
          <p:cNvSpPr/>
          <p:nvPr/>
        </p:nvSpPr>
        <p:spPr>
          <a:xfrm>
            <a:off x="1320800" y="3321050"/>
            <a:ext cx="558800" cy="558800"/>
          </a:xfrm>
          <a:prstGeom prst="ellipse">
            <a:avLst/>
          </a:prstGeom>
          <a:solidFill>
            <a:srgbClr val="D85A30"/>
          </a:solidFill>
          <a:ln w="19050">
            <a:solidFill>
              <a:srgbClr val="993C1D"/>
            </a:solidFill>
            <a:prstDash val="solid"/>
          </a:ln>
        </p:spPr>
        <p:txBody>
          <a:bodyPr/>
          <a:lstStyle/>
          <a:p>
            <a:endParaRPr lang="en-US"/>
          </a:p>
        </p:txBody>
      </p:sp>
      <p:sp>
        <p:nvSpPr>
          <p:cNvPr id="68" name="Text 66"/>
          <p:cNvSpPr/>
          <p:nvPr/>
        </p:nvSpPr>
        <p:spPr>
          <a:xfrm>
            <a:off x="1320800" y="3321050"/>
            <a:ext cx="558800" cy="5588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Portugal</a:t>
            </a:r>
            <a:endParaRPr lang="en-US" sz="800" dirty="0"/>
          </a:p>
        </p:txBody>
      </p:sp>
      <p:sp>
        <p:nvSpPr>
          <p:cNvPr id="69" name="Shape 67"/>
          <p:cNvSpPr/>
          <p:nvPr/>
        </p:nvSpPr>
        <p:spPr>
          <a:xfrm>
            <a:off x="2514600" y="1238250"/>
            <a:ext cx="558800" cy="558800"/>
          </a:xfrm>
          <a:prstGeom prst="ellipse">
            <a:avLst/>
          </a:prstGeom>
          <a:solidFill>
            <a:srgbClr val="D85A30"/>
          </a:solidFill>
          <a:ln w="19050">
            <a:solidFill>
              <a:srgbClr val="993C1D"/>
            </a:solidFill>
            <a:prstDash val="solid"/>
          </a:ln>
        </p:spPr>
        <p:txBody>
          <a:bodyPr/>
          <a:lstStyle/>
          <a:p>
            <a:endParaRPr lang="en-US"/>
          </a:p>
        </p:txBody>
      </p:sp>
      <p:sp>
        <p:nvSpPr>
          <p:cNvPr id="70" name="Text 68"/>
          <p:cNvSpPr/>
          <p:nvPr/>
        </p:nvSpPr>
        <p:spPr>
          <a:xfrm>
            <a:off x="2514600" y="1238250"/>
            <a:ext cx="558800" cy="5588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France</a:t>
            </a:r>
            <a:endParaRPr lang="en-US" sz="800" dirty="0"/>
          </a:p>
        </p:txBody>
      </p:sp>
      <p:sp>
        <p:nvSpPr>
          <p:cNvPr id="71" name="Shape 69"/>
          <p:cNvSpPr/>
          <p:nvPr/>
        </p:nvSpPr>
        <p:spPr>
          <a:xfrm>
            <a:off x="4914900" y="1238250"/>
            <a:ext cx="558800" cy="558800"/>
          </a:xfrm>
          <a:prstGeom prst="ellipse">
            <a:avLst/>
          </a:prstGeom>
          <a:solidFill>
            <a:srgbClr val="D85A30"/>
          </a:solidFill>
          <a:ln w="19050">
            <a:solidFill>
              <a:srgbClr val="993C1D"/>
            </a:solidFill>
            <a:prstDash val="solid"/>
          </a:ln>
        </p:spPr>
        <p:txBody>
          <a:bodyPr/>
          <a:lstStyle/>
          <a:p>
            <a:endParaRPr lang="en-US"/>
          </a:p>
        </p:txBody>
      </p:sp>
      <p:sp>
        <p:nvSpPr>
          <p:cNvPr id="72" name="Text 70"/>
          <p:cNvSpPr/>
          <p:nvPr/>
        </p:nvSpPr>
        <p:spPr>
          <a:xfrm>
            <a:off x="4914900" y="1238250"/>
            <a:ext cx="558800" cy="5588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Italy</a:t>
            </a:r>
            <a:endParaRPr lang="en-US" sz="800" dirty="0"/>
          </a:p>
        </p:txBody>
      </p:sp>
      <p:sp>
        <p:nvSpPr>
          <p:cNvPr id="73" name="Shape 71"/>
          <p:cNvSpPr/>
          <p:nvPr/>
        </p:nvSpPr>
        <p:spPr>
          <a:xfrm>
            <a:off x="6121400" y="3321050"/>
            <a:ext cx="558800" cy="558800"/>
          </a:xfrm>
          <a:prstGeom prst="ellipse">
            <a:avLst/>
          </a:prstGeom>
          <a:solidFill>
            <a:srgbClr val="D85A30"/>
          </a:solidFill>
          <a:ln w="19050">
            <a:solidFill>
              <a:srgbClr val="993C1D"/>
            </a:solidFill>
            <a:prstDash val="solid"/>
          </a:ln>
        </p:spPr>
        <p:txBody>
          <a:bodyPr/>
          <a:lstStyle/>
          <a:p>
            <a:endParaRPr lang="en-US" sz="1150">
              <a:solidFill>
                <a:srgbClr val="1F2937"/>
              </a:solidFill>
            </a:endParaRPr>
          </a:p>
        </p:txBody>
      </p:sp>
      <p:sp>
        <p:nvSpPr>
          <p:cNvPr id="74" name="Text 72"/>
          <p:cNvSpPr/>
          <p:nvPr/>
        </p:nvSpPr>
        <p:spPr>
          <a:xfrm>
            <a:off x="6121400" y="3321050"/>
            <a:ext cx="558800" cy="558800"/>
          </a:xfrm>
          <a:prstGeom prst="rect">
            <a:avLst/>
          </a:prstGeom>
          <a:noFill/>
          <a:ln/>
        </p:spPr>
        <p:txBody>
          <a:bodyPr wrap="square" lIns="0" tIns="0" rIns="0" bIns="0" rtlCol="0" anchor="ctr"/>
          <a:lstStyle/>
          <a:p>
            <a:pPr marL="0" indent="0" algn="ctr">
              <a:buNone/>
            </a:pPr>
            <a:r>
              <a:rPr lang="en-US" sz="1150" b="1" dirty="0">
                <a:solidFill>
                  <a:schemeClr val="bg1"/>
                </a:solidFill>
                <a:latin typeface="Calibri" pitchFamily="34" charset="0"/>
                <a:ea typeface="Calibri" pitchFamily="34" charset="-122"/>
                <a:cs typeface="Calibri" pitchFamily="34" charset="-120"/>
              </a:rPr>
              <a:t>Belgium</a:t>
            </a:r>
            <a:endParaRPr lang="en-US" sz="1150" dirty="0">
              <a:solidFill>
                <a:schemeClr val="bg1"/>
              </a:solidFill>
            </a:endParaRPr>
          </a:p>
        </p:txBody>
      </p:sp>
      <p:sp>
        <p:nvSpPr>
          <p:cNvPr id="75" name="Shape 73"/>
          <p:cNvSpPr/>
          <p:nvPr/>
        </p:nvSpPr>
        <p:spPr>
          <a:xfrm>
            <a:off x="4914900" y="5403850"/>
            <a:ext cx="558800" cy="558800"/>
          </a:xfrm>
          <a:prstGeom prst="ellipse">
            <a:avLst/>
          </a:prstGeom>
          <a:solidFill>
            <a:srgbClr val="D85A30"/>
          </a:solidFill>
          <a:ln w="19050">
            <a:solidFill>
              <a:srgbClr val="993C1D"/>
            </a:solidFill>
            <a:prstDash val="solid"/>
          </a:ln>
        </p:spPr>
        <p:txBody>
          <a:bodyPr/>
          <a:lstStyle/>
          <a:p>
            <a:endParaRPr lang="en-US"/>
          </a:p>
        </p:txBody>
      </p:sp>
      <p:sp>
        <p:nvSpPr>
          <p:cNvPr id="76" name="Text 74"/>
          <p:cNvSpPr/>
          <p:nvPr/>
        </p:nvSpPr>
        <p:spPr>
          <a:xfrm>
            <a:off x="4914900" y="5403850"/>
            <a:ext cx="558800" cy="5588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Germany</a:t>
            </a:r>
            <a:endParaRPr lang="en-US" sz="800" dirty="0"/>
          </a:p>
        </p:txBody>
      </p:sp>
      <p:sp>
        <p:nvSpPr>
          <p:cNvPr id="77" name="Shape 75"/>
          <p:cNvSpPr/>
          <p:nvPr/>
        </p:nvSpPr>
        <p:spPr>
          <a:xfrm>
            <a:off x="2514600" y="5403850"/>
            <a:ext cx="558800" cy="558800"/>
          </a:xfrm>
          <a:prstGeom prst="ellipse">
            <a:avLst/>
          </a:prstGeom>
          <a:solidFill>
            <a:srgbClr val="D85A30"/>
          </a:solidFill>
          <a:ln w="19050">
            <a:solidFill>
              <a:srgbClr val="993C1D"/>
            </a:solidFill>
            <a:prstDash val="solid"/>
          </a:ln>
        </p:spPr>
        <p:txBody>
          <a:bodyPr/>
          <a:lstStyle/>
          <a:p>
            <a:endParaRPr lang="en-US"/>
          </a:p>
        </p:txBody>
      </p:sp>
      <p:sp>
        <p:nvSpPr>
          <p:cNvPr id="78" name="Text 76"/>
          <p:cNvSpPr/>
          <p:nvPr/>
        </p:nvSpPr>
        <p:spPr>
          <a:xfrm>
            <a:off x="2514600" y="5403850"/>
            <a:ext cx="558800" cy="5588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Spain</a:t>
            </a:r>
            <a:endParaRPr lang="en-US" sz="800" dirty="0"/>
          </a:p>
        </p:txBody>
      </p:sp>
      <p:sp>
        <p:nvSpPr>
          <p:cNvPr id="79" name="Shape 77"/>
          <p:cNvSpPr/>
          <p:nvPr/>
        </p:nvSpPr>
        <p:spPr>
          <a:xfrm>
            <a:off x="3715033" y="3322603"/>
            <a:ext cx="568391" cy="568391"/>
          </a:xfrm>
          <a:prstGeom prst="ellipse">
            <a:avLst/>
          </a:prstGeom>
          <a:solidFill>
            <a:srgbClr val="FAFAF7"/>
          </a:solidFill>
          <a:ln w="12700">
            <a:solidFill>
              <a:srgbClr val="1A1A1A"/>
            </a:solidFill>
            <a:prstDash val="solid"/>
          </a:ln>
        </p:spPr>
        <p:txBody>
          <a:bodyPr/>
          <a:lstStyle/>
          <a:p>
            <a:endParaRPr lang="en-US"/>
          </a:p>
        </p:txBody>
      </p:sp>
      <p:sp>
        <p:nvSpPr>
          <p:cNvPr id="80" name="Text 78"/>
          <p:cNvSpPr/>
          <p:nvPr/>
        </p:nvSpPr>
        <p:spPr>
          <a:xfrm>
            <a:off x="3715033" y="3450492"/>
            <a:ext cx="568391" cy="312615"/>
          </a:xfrm>
          <a:prstGeom prst="rect">
            <a:avLst/>
          </a:prstGeom>
          <a:noFill/>
          <a:ln/>
        </p:spPr>
        <p:txBody>
          <a:bodyPr wrap="square" lIns="0" tIns="0" rIns="0" bIns="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LU</a:t>
            </a:r>
            <a:endParaRPr lang="en-US" sz="1500" dirty="0"/>
          </a:p>
        </p:txBody>
      </p:sp>
      <p:sp>
        <p:nvSpPr>
          <p:cNvPr id="81" name="Shape 79"/>
          <p:cNvSpPr/>
          <p:nvPr/>
        </p:nvSpPr>
        <p:spPr>
          <a:xfrm>
            <a:off x="7483744" y="1179981"/>
            <a:ext cx="3840480" cy="640080"/>
          </a:xfrm>
          <a:prstGeom prst="rect">
            <a:avLst/>
          </a:prstGeom>
          <a:solidFill>
            <a:srgbClr val="F1EFE8"/>
          </a:solidFill>
          <a:ln w="6350">
            <a:solidFill>
              <a:srgbClr val="8A8A82"/>
            </a:solidFill>
            <a:prstDash val="solid"/>
          </a:ln>
        </p:spPr>
        <p:txBody>
          <a:bodyPr/>
          <a:lstStyle/>
          <a:p>
            <a:endParaRPr lang="en-US" sz="1150">
              <a:solidFill>
                <a:srgbClr val="1F2937"/>
              </a:solidFill>
            </a:endParaRPr>
          </a:p>
        </p:txBody>
      </p:sp>
      <p:sp>
        <p:nvSpPr>
          <p:cNvPr id="82" name="Text 80"/>
          <p:cNvSpPr/>
          <p:nvPr/>
        </p:nvSpPr>
        <p:spPr>
          <a:xfrm>
            <a:off x="7575184" y="1225701"/>
            <a:ext cx="3657600" cy="566928"/>
          </a:xfrm>
          <a:prstGeom prst="rect">
            <a:avLst/>
          </a:prstGeom>
          <a:noFill/>
          <a:ln/>
        </p:spPr>
        <p:txBody>
          <a:bodyPr wrap="square" lIns="0" tIns="0" rIns="0" bIns="0" rtlCol="0" anchor="ctr"/>
          <a:lstStyle/>
          <a:p>
            <a:pPr marL="0" indent="0" algn="ctr">
              <a:buNone/>
            </a:pPr>
            <a:r>
              <a:rPr lang="en-US" sz="1150" i="1" dirty="0">
                <a:solidFill>
                  <a:srgbClr val="1F2937"/>
                </a:solidFill>
                <a:latin typeface="Calibri" pitchFamily="34" charset="0"/>
                <a:ea typeface="Calibri" pitchFamily="34" charset="-122"/>
                <a:cs typeface="Calibri" pitchFamily="34" charset="-120"/>
              </a:rPr>
              <a:t>Luxembourg as launchpad: mobilize existing networks while expanding abroad.</a:t>
            </a:r>
            <a:endParaRPr lang="en-US" sz="1150" i="1" dirty="0">
              <a:solidFill>
                <a:srgbClr val="1F2937"/>
              </a:solidFill>
            </a:endParaRPr>
          </a:p>
        </p:txBody>
      </p:sp>
      <p:sp>
        <p:nvSpPr>
          <p:cNvPr id="83" name="Shape 81"/>
          <p:cNvSpPr/>
          <p:nvPr/>
        </p:nvSpPr>
        <p:spPr>
          <a:xfrm>
            <a:off x="7575184" y="2149245"/>
            <a:ext cx="201168" cy="201168"/>
          </a:xfrm>
          <a:prstGeom prst="ellipse">
            <a:avLst/>
          </a:prstGeom>
          <a:solidFill>
            <a:srgbClr val="2E7D32"/>
          </a:solidFill>
          <a:ln w="12700">
            <a:solidFill>
              <a:srgbClr val="1D9E75"/>
            </a:solidFill>
            <a:prstDash val="solid"/>
          </a:ln>
        </p:spPr>
        <p:txBody>
          <a:bodyPr/>
          <a:lstStyle/>
          <a:p>
            <a:endParaRPr lang="en-US" sz="1150">
              <a:solidFill>
                <a:srgbClr val="1F2937"/>
              </a:solidFill>
            </a:endParaRPr>
          </a:p>
        </p:txBody>
      </p:sp>
      <p:sp>
        <p:nvSpPr>
          <p:cNvPr id="84" name="Text 82"/>
          <p:cNvSpPr/>
          <p:nvPr/>
        </p:nvSpPr>
        <p:spPr>
          <a:xfrm>
            <a:off x="7895224" y="2094381"/>
            <a:ext cx="3632200" cy="292608"/>
          </a:xfrm>
          <a:prstGeom prst="rect">
            <a:avLst/>
          </a:prstGeom>
          <a:noFill/>
          <a:ln/>
        </p:spPr>
        <p:txBody>
          <a:bodyPr wrap="square" lIns="0" tIns="0" rIns="0" bIns="0" rtlCol="0" anchor="ctr"/>
          <a:lstStyle/>
          <a:p>
            <a:pPr marL="0" indent="0">
              <a:buNone/>
            </a:pPr>
            <a:r>
              <a:rPr lang="en-US" sz="1400" b="1" dirty="0">
                <a:solidFill>
                  <a:srgbClr val="0F2747"/>
                </a:solidFill>
                <a:latin typeface="Calibri" pitchFamily="34" charset="0"/>
                <a:ea typeface="Calibri" pitchFamily="34" charset="-122"/>
                <a:cs typeface="Calibri" pitchFamily="34" charset="-120"/>
              </a:rPr>
              <a:t>Ring </a:t>
            </a:r>
            <a:r>
              <a:rPr lang="en-US" sz="1400" b="1">
                <a:solidFill>
                  <a:srgbClr val="0F2747"/>
                </a:solidFill>
                <a:latin typeface="Calibri" pitchFamily="34" charset="0"/>
                <a:ea typeface="Calibri" pitchFamily="34" charset="-122"/>
                <a:cs typeface="Calibri" pitchFamily="34" charset="-120"/>
              </a:rPr>
              <a:t>1 - </a:t>
            </a:r>
            <a:r>
              <a:rPr lang="en-US" sz="1400" b="1" dirty="0">
                <a:solidFill>
                  <a:srgbClr val="0F2747"/>
                </a:solidFill>
                <a:latin typeface="Calibri" pitchFamily="34" charset="0"/>
                <a:ea typeface="Calibri" pitchFamily="34" charset="-122"/>
                <a:cs typeface="Calibri" pitchFamily="34" charset="-120"/>
              </a:rPr>
              <a:t>LU institutions</a:t>
            </a:r>
            <a:endParaRPr lang="en-US" sz="1400" b="1" dirty="0">
              <a:solidFill>
                <a:srgbClr val="0F2747"/>
              </a:solidFill>
            </a:endParaRPr>
          </a:p>
        </p:txBody>
      </p:sp>
      <p:sp>
        <p:nvSpPr>
          <p:cNvPr id="85" name="Text 83"/>
          <p:cNvSpPr/>
          <p:nvPr/>
        </p:nvSpPr>
        <p:spPr>
          <a:xfrm>
            <a:off x="7895224" y="2386989"/>
            <a:ext cx="3632200" cy="640080"/>
          </a:xfrm>
          <a:prstGeom prst="rect">
            <a:avLst/>
          </a:prstGeom>
          <a:noFill/>
          <a:ln/>
        </p:spPr>
        <p:txBody>
          <a:bodyPr wrap="square" lIns="0" tIns="0" rIns="0" bIns="0" rtlCol="0" anchor="ctr"/>
          <a:lstStyle/>
          <a:p>
            <a:pPr marL="0" indent="0">
              <a:buNone/>
            </a:pPr>
            <a:r>
              <a:rPr lang="en-US" sz="1150">
                <a:solidFill>
                  <a:srgbClr val="1F2937"/>
                </a:solidFill>
                <a:latin typeface="Calibri" pitchFamily="34" charset="0"/>
                <a:ea typeface="Calibri" pitchFamily="34" charset="-122"/>
                <a:cs typeface="Calibri" pitchFamily="34" charset="-120"/>
              </a:rPr>
              <a:t>Chambers, federations, public bodies, hubs, media, HR networks.</a:t>
            </a:r>
            <a:endParaRPr lang="en-US" sz="1150" dirty="0">
              <a:solidFill>
                <a:srgbClr val="1F2937"/>
              </a:solidFill>
            </a:endParaRPr>
          </a:p>
        </p:txBody>
      </p:sp>
      <p:sp>
        <p:nvSpPr>
          <p:cNvPr id="86" name="Shape 84"/>
          <p:cNvSpPr/>
          <p:nvPr/>
        </p:nvSpPr>
        <p:spPr>
          <a:xfrm>
            <a:off x="7575184" y="3017925"/>
            <a:ext cx="201168" cy="201168"/>
          </a:xfrm>
          <a:prstGeom prst="ellipse">
            <a:avLst/>
          </a:prstGeom>
          <a:solidFill>
            <a:srgbClr val="7B5EA7"/>
          </a:solidFill>
          <a:ln w="12700">
            <a:solidFill>
              <a:srgbClr val="7F77DD"/>
            </a:solidFill>
            <a:prstDash val="solid"/>
          </a:ln>
        </p:spPr>
        <p:txBody>
          <a:bodyPr/>
          <a:lstStyle/>
          <a:p>
            <a:endParaRPr lang="en-US" sz="1150">
              <a:solidFill>
                <a:srgbClr val="1F2937"/>
              </a:solidFill>
            </a:endParaRPr>
          </a:p>
        </p:txBody>
      </p:sp>
      <p:sp>
        <p:nvSpPr>
          <p:cNvPr id="87" name="Text 85"/>
          <p:cNvSpPr/>
          <p:nvPr/>
        </p:nvSpPr>
        <p:spPr>
          <a:xfrm>
            <a:off x="7895224" y="2963061"/>
            <a:ext cx="3632200" cy="292608"/>
          </a:xfrm>
          <a:prstGeom prst="rect">
            <a:avLst/>
          </a:prstGeom>
          <a:noFill/>
          <a:ln/>
        </p:spPr>
        <p:txBody>
          <a:bodyPr wrap="square" lIns="0" tIns="0" rIns="0" bIns="0" rtlCol="0" anchor="ctr"/>
          <a:lstStyle/>
          <a:p>
            <a:pPr marL="0" indent="0">
              <a:buNone/>
            </a:pPr>
            <a:r>
              <a:rPr lang="en-US" sz="1400" b="1">
                <a:solidFill>
                  <a:srgbClr val="0F2747"/>
                </a:solidFill>
                <a:latin typeface="Calibri" pitchFamily="34" charset="0"/>
                <a:ea typeface="Calibri" pitchFamily="34" charset="-122"/>
                <a:cs typeface="Calibri" pitchFamily="34" charset="-120"/>
              </a:rPr>
              <a:t>Ring 2 - Country communities &amp; associations in LU</a:t>
            </a:r>
            <a:endParaRPr lang="en-US" sz="1400" b="1" dirty="0">
              <a:solidFill>
                <a:srgbClr val="0F2747"/>
              </a:solidFill>
            </a:endParaRPr>
          </a:p>
        </p:txBody>
      </p:sp>
      <p:sp>
        <p:nvSpPr>
          <p:cNvPr id="88" name="Text 86"/>
          <p:cNvSpPr/>
          <p:nvPr/>
        </p:nvSpPr>
        <p:spPr>
          <a:xfrm>
            <a:off x="7895224" y="3255669"/>
            <a:ext cx="3632200" cy="640080"/>
          </a:xfrm>
          <a:prstGeom prst="rect">
            <a:avLst/>
          </a:prstGeom>
          <a:noFill/>
          <a:ln/>
        </p:spPr>
        <p:txBody>
          <a:bodyPr wrap="square" lIns="0" tIns="0" rIns="0" bIns="0" rtlCol="0" anchor="ctr"/>
          <a:lstStyle/>
          <a:p>
            <a:pPr marL="0" indent="0">
              <a:buNone/>
            </a:pPr>
            <a:r>
              <a:rPr lang="en-US" sz="1150">
                <a:solidFill>
                  <a:srgbClr val="1F2937"/>
                </a:solidFill>
                <a:latin typeface="Calibri" pitchFamily="34" charset="0"/>
                <a:ea typeface="Calibri" pitchFamily="34" charset="-122"/>
                <a:cs typeface="Calibri" pitchFamily="34" charset="-120"/>
              </a:rPr>
              <a:t>Top 6 expat communities (PT, FR, IT, BE, DE, ES), bilateral chambers, diaspora groups, cultural institutes.</a:t>
            </a:r>
            <a:endParaRPr lang="en-US" sz="1150" dirty="0">
              <a:solidFill>
                <a:srgbClr val="1F2937"/>
              </a:solidFill>
            </a:endParaRPr>
          </a:p>
        </p:txBody>
      </p:sp>
      <p:sp>
        <p:nvSpPr>
          <p:cNvPr id="92" name="Shape 90"/>
          <p:cNvSpPr/>
          <p:nvPr/>
        </p:nvSpPr>
        <p:spPr>
          <a:xfrm>
            <a:off x="7575184" y="3891685"/>
            <a:ext cx="201168" cy="201168"/>
          </a:xfrm>
          <a:prstGeom prst="ellipse">
            <a:avLst/>
          </a:prstGeom>
          <a:solidFill>
            <a:srgbClr val="C0392B"/>
          </a:solidFill>
          <a:ln w="12700">
            <a:solidFill>
              <a:srgbClr val="D85A30"/>
            </a:solidFill>
            <a:prstDash val="solid"/>
          </a:ln>
        </p:spPr>
        <p:txBody>
          <a:bodyPr/>
          <a:lstStyle/>
          <a:p>
            <a:endParaRPr lang="en-US" sz="1150">
              <a:solidFill>
                <a:srgbClr val="1F2937"/>
              </a:solidFill>
            </a:endParaRPr>
          </a:p>
        </p:txBody>
      </p:sp>
      <p:sp>
        <p:nvSpPr>
          <p:cNvPr id="93" name="Text 91"/>
          <p:cNvSpPr/>
          <p:nvPr/>
        </p:nvSpPr>
        <p:spPr>
          <a:xfrm>
            <a:off x="7895224" y="3836821"/>
            <a:ext cx="3632200" cy="292608"/>
          </a:xfrm>
          <a:prstGeom prst="rect">
            <a:avLst/>
          </a:prstGeom>
          <a:noFill/>
          <a:ln/>
        </p:spPr>
        <p:txBody>
          <a:bodyPr wrap="square" lIns="0" tIns="0" rIns="0" bIns="0" rtlCol="0" anchor="ctr"/>
          <a:lstStyle/>
          <a:p>
            <a:pPr marL="0" indent="0">
              <a:buNone/>
            </a:pPr>
            <a:r>
              <a:rPr lang="en-US" sz="1400" b="1">
                <a:solidFill>
                  <a:srgbClr val="0F2747"/>
                </a:solidFill>
                <a:latin typeface="Calibri" pitchFamily="34" charset="0"/>
                <a:ea typeface="Calibri" pitchFamily="34" charset="-122"/>
                <a:cs typeface="Calibri" pitchFamily="34" charset="-120"/>
              </a:rPr>
              <a:t>Ring 3 - Home-country organizations</a:t>
            </a:r>
            <a:endParaRPr lang="en-US" sz="1400" b="1" dirty="0">
              <a:solidFill>
                <a:srgbClr val="0F2747"/>
              </a:solidFill>
            </a:endParaRPr>
          </a:p>
        </p:txBody>
      </p:sp>
      <p:sp>
        <p:nvSpPr>
          <p:cNvPr id="94" name="Text 92"/>
          <p:cNvSpPr/>
          <p:nvPr/>
        </p:nvSpPr>
        <p:spPr>
          <a:xfrm>
            <a:off x="7895224" y="4129429"/>
            <a:ext cx="3632200" cy="640080"/>
          </a:xfrm>
          <a:prstGeom prst="rect">
            <a:avLst/>
          </a:prstGeom>
          <a:noFill/>
          <a:ln/>
        </p:spPr>
        <p:txBody>
          <a:bodyPr wrap="square" lIns="0" tIns="0" rIns="0" bIns="0" rtlCol="0" anchor="ctr"/>
          <a:lstStyle/>
          <a:p>
            <a:pPr marL="0" indent="0">
              <a:buNone/>
            </a:pPr>
            <a:r>
              <a:rPr lang="en-US" sz="1150">
                <a:solidFill>
                  <a:srgbClr val="1F2937"/>
                </a:solidFill>
                <a:latin typeface="Calibri" pitchFamily="34" charset="0"/>
                <a:ea typeface="Calibri" pitchFamily="34" charset="-122"/>
                <a:cs typeface="Calibri" pitchFamily="34" charset="-120"/>
              </a:rPr>
              <a:t>Chambers, business associations and institutions in each target country.</a:t>
            </a:r>
            <a:endParaRPr lang="en-US" sz="1150" dirty="0">
              <a:solidFill>
                <a:srgbClr val="1F2937"/>
              </a:solidFill>
            </a:endParaRPr>
          </a:p>
        </p:txBody>
      </p:sp>
      <p:sp>
        <p:nvSpPr>
          <p:cNvPr id="300" name="Rectangle 299">
            <a:extLst>
              <a:ext uri="{FF2B5EF4-FFF2-40B4-BE49-F238E27FC236}">
                <a16:creationId xmlns:a16="http://schemas.microsoft.com/office/drawing/2014/main" id="{C99A86AA-5D37-48F0-8891-A4E0FC4135E7}"/>
              </a:ext>
            </a:extLst>
          </p:cNvPr>
          <p:cNvSpPr/>
          <p:nvPr/>
        </p:nvSpPr>
        <p:spPr>
          <a:xfrm>
            <a:off x="7575184" y="4868061"/>
            <a:ext cx="3810000" cy="12700"/>
          </a:xfrm>
          <a:prstGeom prst="rect">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150">
              <a:solidFill>
                <a:srgbClr val="1F2937"/>
              </a:solidFill>
            </a:endParaRPr>
          </a:p>
        </p:txBody>
      </p:sp>
      <p:sp>
        <p:nvSpPr>
          <p:cNvPr id="302" name="Rectangle 301">
            <a:extLst>
              <a:ext uri="{FF2B5EF4-FFF2-40B4-BE49-F238E27FC236}">
                <a16:creationId xmlns:a16="http://schemas.microsoft.com/office/drawing/2014/main" id="{24BBC821-9EEC-487B-8DEF-3A950E976427}"/>
              </a:ext>
            </a:extLst>
          </p:cNvPr>
          <p:cNvSpPr/>
          <p:nvPr/>
        </p:nvSpPr>
        <p:spPr>
          <a:xfrm>
            <a:off x="7575184" y="5172861"/>
            <a:ext cx="1079500" cy="355600"/>
          </a:xfrm>
          <a:prstGeom prst="rect">
            <a:avLst/>
          </a:prstGeom>
          <a:solidFill>
            <a:srgbClr val="2E7D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dirty="0">
                <a:solidFill>
                  <a:schemeClr val="bg1"/>
                </a:solidFill>
              </a:rPr>
              <a:t>Ring 1</a:t>
            </a:r>
          </a:p>
        </p:txBody>
      </p:sp>
      <p:sp>
        <p:nvSpPr>
          <p:cNvPr id="303" name="Arrow: Right 302">
            <a:extLst>
              <a:ext uri="{FF2B5EF4-FFF2-40B4-BE49-F238E27FC236}">
                <a16:creationId xmlns:a16="http://schemas.microsoft.com/office/drawing/2014/main" id="{F43FFB32-F27E-4B2C-9495-9CE61166390E}"/>
              </a:ext>
            </a:extLst>
          </p:cNvPr>
          <p:cNvSpPr/>
          <p:nvPr/>
        </p:nvSpPr>
        <p:spPr>
          <a:xfrm>
            <a:off x="8654684" y="5287161"/>
            <a:ext cx="152400" cy="127000"/>
          </a:xfrm>
          <a:prstGeom prst="rightArrow">
            <a:avLst/>
          </a:prstGeom>
          <a:solidFill>
            <a:srgbClr val="9B8B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150">
              <a:solidFill>
                <a:srgbClr val="1F2937"/>
              </a:solidFill>
            </a:endParaRPr>
          </a:p>
        </p:txBody>
      </p:sp>
      <p:sp>
        <p:nvSpPr>
          <p:cNvPr id="304" name="TextBox 303">
            <a:extLst>
              <a:ext uri="{FF2B5EF4-FFF2-40B4-BE49-F238E27FC236}">
                <a16:creationId xmlns:a16="http://schemas.microsoft.com/office/drawing/2014/main" id="{361779C3-18F5-4443-BF56-CAF8DBB1D0BC}"/>
              </a:ext>
            </a:extLst>
          </p:cNvPr>
          <p:cNvSpPr txBox="1"/>
          <p:nvPr/>
        </p:nvSpPr>
        <p:spPr>
          <a:xfrm>
            <a:off x="7575184" y="5566561"/>
            <a:ext cx="1079500" cy="279400"/>
          </a:xfrm>
          <a:prstGeom prst="rect">
            <a:avLst/>
          </a:prstGeom>
          <a:noFill/>
        </p:spPr>
        <p:txBody>
          <a:bodyPr vertOverflow="overflow" vert="horz" wrap="square" rtlCol="0" anchor="t">
            <a:spAutoFit/>
          </a:bodyPr>
          <a:lstStyle/>
          <a:p>
            <a:pPr algn="l"/>
            <a:r>
              <a:rPr lang="en-US" sz="1150" b="1">
                <a:solidFill>
                  <a:srgbClr val="1F2937"/>
                </a:solidFill>
              </a:rPr>
              <a:t>LU institutions</a:t>
            </a:r>
          </a:p>
        </p:txBody>
      </p:sp>
      <p:sp>
        <p:nvSpPr>
          <p:cNvPr id="305" name="Rectangle 304">
            <a:extLst>
              <a:ext uri="{FF2B5EF4-FFF2-40B4-BE49-F238E27FC236}">
                <a16:creationId xmlns:a16="http://schemas.microsoft.com/office/drawing/2014/main" id="{BAAFCB11-C728-4E84-9301-0E1DE8D43684}"/>
              </a:ext>
            </a:extLst>
          </p:cNvPr>
          <p:cNvSpPr/>
          <p:nvPr/>
        </p:nvSpPr>
        <p:spPr>
          <a:xfrm>
            <a:off x="8807084" y="5172861"/>
            <a:ext cx="1079500" cy="355600"/>
          </a:xfrm>
          <a:prstGeom prst="rect">
            <a:avLst/>
          </a:prstGeom>
          <a:solidFill>
            <a:srgbClr val="7B5EA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dirty="0">
                <a:solidFill>
                  <a:schemeClr val="bg1"/>
                </a:solidFill>
              </a:rPr>
              <a:t>Ring 2</a:t>
            </a:r>
          </a:p>
        </p:txBody>
      </p:sp>
      <p:sp>
        <p:nvSpPr>
          <p:cNvPr id="306" name="Arrow: Right 305">
            <a:extLst>
              <a:ext uri="{FF2B5EF4-FFF2-40B4-BE49-F238E27FC236}">
                <a16:creationId xmlns:a16="http://schemas.microsoft.com/office/drawing/2014/main" id="{873C0407-D91D-4695-BF1B-6475D67E384E}"/>
              </a:ext>
            </a:extLst>
          </p:cNvPr>
          <p:cNvSpPr/>
          <p:nvPr/>
        </p:nvSpPr>
        <p:spPr>
          <a:xfrm>
            <a:off x="9886584" y="5287161"/>
            <a:ext cx="152400" cy="127000"/>
          </a:xfrm>
          <a:prstGeom prst="rightArrow">
            <a:avLst/>
          </a:prstGeom>
          <a:solidFill>
            <a:srgbClr val="9B8B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150">
              <a:solidFill>
                <a:srgbClr val="1F2937"/>
              </a:solidFill>
            </a:endParaRPr>
          </a:p>
        </p:txBody>
      </p:sp>
      <p:sp>
        <p:nvSpPr>
          <p:cNvPr id="307" name="TextBox 306">
            <a:extLst>
              <a:ext uri="{FF2B5EF4-FFF2-40B4-BE49-F238E27FC236}">
                <a16:creationId xmlns:a16="http://schemas.microsoft.com/office/drawing/2014/main" id="{35BBF3E7-8069-4612-AB13-6ECF325D289C}"/>
              </a:ext>
            </a:extLst>
          </p:cNvPr>
          <p:cNvSpPr txBox="1"/>
          <p:nvPr/>
        </p:nvSpPr>
        <p:spPr>
          <a:xfrm>
            <a:off x="8807084" y="5566561"/>
            <a:ext cx="1079500" cy="279400"/>
          </a:xfrm>
          <a:prstGeom prst="rect">
            <a:avLst/>
          </a:prstGeom>
          <a:noFill/>
        </p:spPr>
        <p:txBody>
          <a:bodyPr vertOverflow="overflow" vert="horz" wrap="square" rtlCol="0" anchor="t">
            <a:spAutoFit/>
          </a:bodyPr>
          <a:lstStyle/>
          <a:p>
            <a:pPr algn="l"/>
            <a:r>
              <a:rPr lang="en-US" sz="1150" b="1">
                <a:solidFill>
                  <a:srgbClr val="1F2937"/>
                </a:solidFill>
              </a:rPr>
              <a:t>Communities &amp;
associations</a:t>
            </a:r>
          </a:p>
        </p:txBody>
      </p:sp>
      <p:sp>
        <p:nvSpPr>
          <p:cNvPr id="308" name="Rectangle 307">
            <a:extLst>
              <a:ext uri="{FF2B5EF4-FFF2-40B4-BE49-F238E27FC236}">
                <a16:creationId xmlns:a16="http://schemas.microsoft.com/office/drawing/2014/main" id="{A59EFAF0-7A71-4289-B360-811858CF1665}"/>
              </a:ext>
            </a:extLst>
          </p:cNvPr>
          <p:cNvSpPr/>
          <p:nvPr/>
        </p:nvSpPr>
        <p:spPr>
          <a:xfrm>
            <a:off x="10038984" y="5172861"/>
            <a:ext cx="1079500" cy="355600"/>
          </a:xfrm>
          <a:prstGeom prst="rect">
            <a:avLst/>
          </a:prstGeom>
          <a:solidFill>
            <a:srgbClr val="C039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dirty="0">
                <a:solidFill>
                  <a:schemeClr val="bg1"/>
                </a:solidFill>
              </a:rPr>
              <a:t>Ring 3</a:t>
            </a:r>
          </a:p>
        </p:txBody>
      </p:sp>
      <p:sp>
        <p:nvSpPr>
          <p:cNvPr id="309" name="TextBox 308">
            <a:extLst>
              <a:ext uri="{FF2B5EF4-FFF2-40B4-BE49-F238E27FC236}">
                <a16:creationId xmlns:a16="http://schemas.microsoft.com/office/drawing/2014/main" id="{49F02B64-06D4-4A0E-8523-834E20C1CEC7}"/>
              </a:ext>
            </a:extLst>
          </p:cNvPr>
          <p:cNvSpPr txBox="1"/>
          <p:nvPr/>
        </p:nvSpPr>
        <p:spPr>
          <a:xfrm>
            <a:off x="10038984" y="5566561"/>
            <a:ext cx="1079500" cy="279400"/>
          </a:xfrm>
          <a:prstGeom prst="rect">
            <a:avLst/>
          </a:prstGeom>
          <a:noFill/>
        </p:spPr>
        <p:txBody>
          <a:bodyPr vertOverflow="overflow" vert="horz" wrap="square" rtlCol="0" anchor="t">
            <a:spAutoFit/>
          </a:bodyPr>
          <a:lstStyle/>
          <a:p>
            <a:pPr algn="l"/>
            <a:r>
              <a:rPr lang="en-US" sz="1150" b="1">
                <a:solidFill>
                  <a:srgbClr val="1F2937"/>
                </a:solidFill>
              </a:rPr>
              <a:t>Home-country
orgs</a:t>
            </a:r>
          </a:p>
        </p:txBody>
      </p:sp>
    </p:spTree>
    <p:extLst>
      <p:ext uri="{BB962C8B-B14F-4D97-AF65-F5344CB8AC3E}">
        <p14:creationId xmlns:p14="http://schemas.microsoft.com/office/powerpoint/2010/main" val="3230874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C3B06266-548D-4BF3-94ED-3FCFE0CC0EF7}"/>
              </a:ext>
            </a:extLst>
          </p:cNvPr>
          <p:cNvSpPr/>
          <p:nvPr/>
        </p:nvSpPr>
        <p:spPr>
          <a:xfrm>
            <a:off x="0" y="0"/>
            <a:ext cx="12192000" cy="508000"/>
          </a:xfrm>
          <a:prstGeom prst="rect">
            <a:avLst/>
          </a:prstGeom>
          <a:solidFill>
            <a:srgbClr val="0F27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 0"/>
          <p:cNvSpPr/>
          <p:nvPr/>
        </p:nvSpPr>
        <p:spPr>
          <a:xfrm>
            <a:off x="406400" y="101600"/>
            <a:ext cx="11064240" cy="304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rPr>
              <a:t>Lead nationalities: Portuguese first, French second, Spanish third</a:t>
            </a:r>
            <a:endParaRPr lang="en-US" sz="2400" b="1" dirty="0">
              <a:solidFill>
                <a:srgbClr val="FFFFFF"/>
              </a:solidFill>
            </a:endParaRPr>
          </a:p>
        </p:txBody>
      </p:sp>
      <p:sp>
        <p:nvSpPr>
          <p:cNvPr id="3" name="Text 1"/>
          <p:cNvSpPr/>
          <p:nvPr/>
        </p:nvSpPr>
        <p:spPr>
          <a:xfrm>
            <a:off x="406400" y="622300"/>
            <a:ext cx="11064240" cy="203200"/>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rPr>
              <a:t>We focus on the three communities with the highest leverage, starting with the largest and adding Spanish — a fast-growing recent wave.</a:t>
            </a:r>
            <a:endParaRPr lang="en-US" sz="1050" dirty="0">
              <a:solidFill>
                <a:srgbClr val="6B7280"/>
              </a:solidFill>
            </a:endParaRPr>
          </a:p>
        </p:txBody>
      </p:sp>
      <p:sp>
        <p:nvSpPr>
          <p:cNvPr id="4" name="Shape 2"/>
          <p:cNvSpPr/>
          <p:nvPr/>
        </p:nvSpPr>
        <p:spPr>
          <a:xfrm>
            <a:off x="355600" y="914400"/>
            <a:ext cx="3670300" cy="5334000"/>
          </a:xfrm>
          <a:prstGeom prst="roundRect">
            <a:avLst>
              <a:gd name="adj" fmla="val 4000"/>
            </a:avLst>
          </a:prstGeom>
          <a:solidFill>
            <a:srgbClr val="EAF1FB"/>
          </a:solidFill>
          <a:ln w="12700">
            <a:solidFill>
              <a:srgbClr val="8A8A82"/>
            </a:solidFill>
            <a:prstDash val="solid"/>
          </a:ln>
          <a:effectLst>
            <a:outerShdw blurRad="19050" dist="12700" dir="2700000" algn="bl" rotWithShape="0">
              <a:srgbClr val="000000">
                <a:alpha val="12000"/>
              </a:srgbClr>
            </a:outerShdw>
          </a:effectLst>
        </p:spPr>
        <p:txBody>
          <a:bodyPr/>
          <a:lstStyle/>
          <a:p>
            <a:endParaRPr lang="en-US"/>
          </a:p>
        </p:txBody>
      </p:sp>
      <p:sp>
        <p:nvSpPr>
          <p:cNvPr id="6" name="Text 4"/>
          <p:cNvSpPr/>
          <p:nvPr/>
        </p:nvSpPr>
        <p:spPr>
          <a:xfrm>
            <a:off x="457200" y="965200"/>
            <a:ext cx="3467100" cy="406400"/>
          </a:xfrm>
          <a:prstGeom prst="rect">
            <a:avLst/>
          </a:prstGeom>
          <a:noFill/>
          <a:ln/>
        </p:spPr>
        <p:txBody>
          <a:bodyPr wrap="square" lIns="0" tIns="0" rIns="0" bIns="0" rtlCol="0" anchor="ctr"/>
          <a:lstStyle/>
          <a:p>
            <a:pPr marL="0" indent="0">
              <a:buNone/>
            </a:pPr>
            <a:r>
              <a:rPr lang="en-US" sz="900" b="1" kern="0" spc="100" dirty="0">
                <a:solidFill>
                  <a:srgbClr val="0F2747"/>
                </a:solidFill>
                <a:latin typeface="Calibri" pitchFamily="34" charset="0"/>
                <a:ea typeface="Calibri" pitchFamily="34" charset="-122"/>
                <a:cs typeface="Calibri" pitchFamily="34" charset="-120"/>
              </a:rPr>
              <a:t>PORTUGUESE — PRIORITY #1</a:t>
            </a:r>
            <a:endParaRPr lang="en-US" sz="900" b="1" dirty="0">
              <a:solidFill>
                <a:srgbClr val="0F2747"/>
              </a:solidFill>
            </a:endParaRPr>
          </a:p>
        </p:txBody>
      </p:sp>
      <p:sp>
        <p:nvSpPr>
          <p:cNvPr id="7" name="Text 5"/>
          <p:cNvSpPr/>
          <p:nvPr/>
        </p:nvSpPr>
        <p:spPr>
          <a:xfrm>
            <a:off x="457200" y="1498600"/>
            <a:ext cx="3467100" cy="736600"/>
          </a:xfrm>
          <a:prstGeom prst="rect">
            <a:avLst/>
          </a:prstGeom>
          <a:noFill/>
          <a:ln/>
        </p:spPr>
        <p:txBody>
          <a:bodyPr wrap="square" lIns="0" tIns="0" rIns="0" bIns="0" rtlCol="0" anchor="ctr"/>
          <a:lstStyle/>
          <a:p>
            <a:pPr marL="0" indent="0">
              <a:buNone/>
            </a:pPr>
            <a:r>
              <a:rPr lang="en-US" b="1" dirty="0">
                <a:solidFill>
                  <a:srgbClr val="0F2747"/>
                </a:solidFill>
                <a:latin typeface="Calibri" pitchFamily="34" charset="0"/>
                <a:ea typeface="Calibri" pitchFamily="34" charset="-122"/>
                <a:cs typeface="Calibri" pitchFamily="34" charset="-120"/>
              </a:rPr>
              <a:t>~92,000</a:t>
            </a:r>
            <a:endParaRPr lang="en-US" b="1" dirty="0">
              <a:solidFill>
                <a:srgbClr val="0F2747"/>
              </a:solidFill>
            </a:endParaRPr>
          </a:p>
        </p:txBody>
      </p:sp>
      <p:sp>
        <p:nvSpPr>
          <p:cNvPr id="8" name="Text 6"/>
          <p:cNvSpPr/>
          <p:nvPr/>
        </p:nvSpPr>
        <p:spPr>
          <a:xfrm>
            <a:off x="457200" y="2286000"/>
            <a:ext cx="3467100" cy="457200"/>
          </a:xfrm>
          <a:prstGeom prst="rect">
            <a:avLst/>
          </a:prstGeom>
          <a:noFill/>
          <a:ln/>
        </p:spPr>
        <p:txBody>
          <a:bodyPr wrap="square" lIns="0" tIns="0" rIns="0" bIns="0" rtlCol="0" anchor="ctr"/>
          <a:lstStyle/>
          <a:p>
            <a:pPr marL="0" indent="0">
              <a:buNone/>
            </a:pPr>
            <a:r>
              <a:rPr lang="en-US" sz="950" b="1" i="1" dirty="0">
                <a:solidFill>
                  <a:srgbClr val="6B7280"/>
                </a:solidFill>
                <a:latin typeface="Calibri" pitchFamily="34" charset="0"/>
                <a:ea typeface="Calibri" pitchFamily="34" charset="-122"/>
                <a:cs typeface="Calibri" pitchFamily="34" charset="-120"/>
              </a:rPr>
              <a:t>residents in Luxembourg — 13.1% of total population</a:t>
            </a:r>
            <a:endParaRPr lang="en-US" sz="1000" b="1" dirty="0">
              <a:solidFill>
                <a:srgbClr val="6B7280"/>
              </a:solidFill>
            </a:endParaRPr>
          </a:p>
        </p:txBody>
      </p:sp>
      <p:sp>
        <p:nvSpPr>
          <p:cNvPr id="9" name="Text 7"/>
          <p:cNvSpPr/>
          <p:nvPr/>
        </p:nvSpPr>
        <p:spPr>
          <a:xfrm>
            <a:off x="457200" y="2844800"/>
            <a:ext cx="3467100" cy="304800"/>
          </a:xfrm>
          <a:prstGeom prst="rect">
            <a:avLst/>
          </a:prstGeom>
          <a:noFill/>
          <a:ln/>
        </p:spPr>
        <p:txBody>
          <a:bodyPr wrap="square" lIns="0" tIns="0" rIns="0" bIns="0" rtlCol="0" anchor="ctr"/>
          <a:lstStyle/>
          <a:p>
            <a:pPr marL="0" indent="0">
              <a:buNone/>
            </a:pPr>
            <a:r>
              <a:rPr lang="en-US" sz="1000" b="1" dirty="0">
                <a:solidFill>
                  <a:srgbClr val="1F2937"/>
                </a:solidFill>
                <a:latin typeface="Calibri" pitchFamily="34" charset="0"/>
                <a:ea typeface="Calibri" pitchFamily="34" charset="-122"/>
                <a:cs typeface="Calibri" pitchFamily="34" charset="-120"/>
              </a:rPr>
              <a:t>Why first</a:t>
            </a:r>
            <a:endParaRPr lang="en-US" sz="1100" dirty="0">
              <a:solidFill>
                <a:srgbClr val="1F2937"/>
              </a:solidFill>
            </a:endParaRPr>
          </a:p>
        </p:txBody>
      </p:sp>
      <p:sp>
        <p:nvSpPr>
          <p:cNvPr id="10" name="Shape 8"/>
          <p:cNvSpPr/>
          <p:nvPr/>
        </p:nvSpPr>
        <p:spPr>
          <a:xfrm>
            <a:off x="482600" y="3302000"/>
            <a:ext cx="88900" cy="88900"/>
          </a:xfrm>
          <a:prstGeom prst="ellipse">
            <a:avLst/>
          </a:prstGeom>
          <a:solidFill>
            <a:srgbClr val="C89A2B"/>
          </a:solidFill>
          <a:ln w="12700">
            <a:noFill/>
            <a:prstDash val="solid"/>
          </a:ln>
        </p:spPr>
        <p:txBody>
          <a:bodyPr/>
          <a:lstStyle/>
          <a:p>
            <a:endParaRPr lang="en-US"/>
          </a:p>
        </p:txBody>
      </p:sp>
      <p:sp>
        <p:nvSpPr>
          <p:cNvPr id="11" name="Text 9"/>
          <p:cNvSpPr/>
          <p:nvPr/>
        </p:nvSpPr>
        <p:spPr>
          <a:xfrm>
            <a:off x="635000" y="32258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Largest foreign community in Luxembourg</a:t>
            </a:r>
            <a:endParaRPr lang="en-US" sz="1150" dirty="0">
              <a:solidFill>
                <a:srgbClr val="1F2937"/>
              </a:solidFill>
            </a:endParaRPr>
          </a:p>
        </p:txBody>
      </p:sp>
      <p:sp>
        <p:nvSpPr>
          <p:cNvPr id="12" name="Shape 10"/>
          <p:cNvSpPr/>
          <p:nvPr/>
        </p:nvSpPr>
        <p:spPr>
          <a:xfrm>
            <a:off x="482600" y="4038600"/>
            <a:ext cx="88900" cy="88900"/>
          </a:xfrm>
          <a:prstGeom prst="ellipse">
            <a:avLst/>
          </a:prstGeom>
          <a:solidFill>
            <a:srgbClr val="C89A2B"/>
          </a:solidFill>
          <a:ln w="12700">
            <a:noFill/>
            <a:prstDash val="solid"/>
          </a:ln>
        </p:spPr>
        <p:txBody>
          <a:bodyPr/>
          <a:lstStyle/>
          <a:p>
            <a:endParaRPr lang="en-US"/>
          </a:p>
        </p:txBody>
      </p:sp>
      <p:sp>
        <p:nvSpPr>
          <p:cNvPr id="13" name="Text 11"/>
          <p:cNvSpPr/>
          <p:nvPr/>
        </p:nvSpPr>
        <p:spPr>
          <a:xfrm>
            <a:off x="635000" y="39624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Strongest community infrastructure (Contacto, CLAE, CCIPL, ACEP)</a:t>
            </a:r>
            <a:endParaRPr lang="en-US" sz="1150" dirty="0">
              <a:solidFill>
                <a:srgbClr val="1F2937"/>
              </a:solidFill>
            </a:endParaRPr>
          </a:p>
        </p:txBody>
      </p:sp>
      <p:sp>
        <p:nvSpPr>
          <p:cNvPr id="14" name="Shape 12"/>
          <p:cNvSpPr/>
          <p:nvPr/>
        </p:nvSpPr>
        <p:spPr>
          <a:xfrm>
            <a:off x="482600" y="4775200"/>
            <a:ext cx="88900" cy="88900"/>
          </a:xfrm>
          <a:prstGeom prst="ellipse">
            <a:avLst/>
          </a:prstGeom>
          <a:solidFill>
            <a:srgbClr val="C89A2B"/>
          </a:solidFill>
          <a:ln w="12700">
            <a:noFill/>
            <a:prstDash val="solid"/>
          </a:ln>
        </p:spPr>
        <p:txBody>
          <a:bodyPr/>
          <a:lstStyle/>
          <a:p>
            <a:endParaRPr lang="en-US"/>
          </a:p>
        </p:txBody>
      </p:sp>
      <p:sp>
        <p:nvSpPr>
          <p:cNvPr id="15" name="Text 13"/>
          <p:cNvSpPr/>
          <p:nvPr/>
        </p:nvSpPr>
        <p:spPr>
          <a:xfrm>
            <a:off x="635000" y="46990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Highest emotional salience around pensions (return-migration)</a:t>
            </a:r>
            <a:endParaRPr lang="en-US" sz="1150" dirty="0">
              <a:solidFill>
                <a:srgbClr val="1F2937"/>
              </a:solidFill>
            </a:endParaRPr>
          </a:p>
        </p:txBody>
      </p:sp>
      <p:sp>
        <p:nvSpPr>
          <p:cNvPr id="16" name="Shape 14"/>
          <p:cNvSpPr/>
          <p:nvPr/>
        </p:nvSpPr>
        <p:spPr>
          <a:xfrm>
            <a:off x="482600" y="5511800"/>
            <a:ext cx="88900" cy="88900"/>
          </a:xfrm>
          <a:prstGeom prst="ellipse">
            <a:avLst/>
          </a:prstGeom>
          <a:solidFill>
            <a:srgbClr val="C89A2B"/>
          </a:solidFill>
          <a:ln w="12700">
            <a:noFill/>
            <a:prstDash val="solid"/>
          </a:ln>
        </p:spPr>
        <p:txBody>
          <a:bodyPr/>
          <a:lstStyle/>
          <a:p>
            <a:endParaRPr lang="en-US"/>
          </a:p>
        </p:txBody>
      </p:sp>
      <p:sp>
        <p:nvSpPr>
          <p:cNvPr id="17" name="Text 15"/>
          <p:cNvSpPr/>
          <p:nvPr/>
        </p:nvSpPr>
        <p:spPr>
          <a:xfrm>
            <a:off x="635000" y="54356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Becomes the bridge to Year 2 Portugal expansion</a:t>
            </a:r>
            <a:endParaRPr lang="en-US" sz="1150" dirty="0">
              <a:solidFill>
                <a:srgbClr val="1F2937"/>
              </a:solidFill>
            </a:endParaRPr>
          </a:p>
        </p:txBody>
      </p:sp>
      <p:sp>
        <p:nvSpPr>
          <p:cNvPr id="18" name="Shape 16"/>
          <p:cNvSpPr/>
          <p:nvPr/>
        </p:nvSpPr>
        <p:spPr>
          <a:xfrm>
            <a:off x="4254500" y="914400"/>
            <a:ext cx="3670300" cy="5334000"/>
          </a:xfrm>
          <a:prstGeom prst="roundRect">
            <a:avLst>
              <a:gd name="adj" fmla="val 4000"/>
            </a:avLst>
          </a:prstGeom>
          <a:solidFill>
            <a:srgbClr val="FBF6EA"/>
          </a:solidFill>
          <a:ln w="12700">
            <a:solidFill>
              <a:srgbClr val="8A8A82"/>
            </a:solidFill>
            <a:prstDash val="solid"/>
          </a:ln>
          <a:effectLst>
            <a:outerShdw blurRad="19050" dist="12700" dir="2700000" algn="bl" rotWithShape="0">
              <a:srgbClr val="000000">
                <a:alpha val="12000"/>
              </a:srgbClr>
            </a:outerShdw>
          </a:effectLst>
        </p:spPr>
        <p:txBody>
          <a:bodyPr/>
          <a:lstStyle/>
          <a:p>
            <a:endParaRPr lang="en-US"/>
          </a:p>
        </p:txBody>
      </p:sp>
      <p:sp>
        <p:nvSpPr>
          <p:cNvPr id="20" name="Text 18"/>
          <p:cNvSpPr/>
          <p:nvPr/>
        </p:nvSpPr>
        <p:spPr>
          <a:xfrm>
            <a:off x="4356100" y="965200"/>
            <a:ext cx="3467100" cy="406400"/>
          </a:xfrm>
          <a:prstGeom prst="rect">
            <a:avLst/>
          </a:prstGeom>
          <a:noFill/>
          <a:ln/>
        </p:spPr>
        <p:txBody>
          <a:bodyPr wrap="square" lIns="0" tIns="0" rIns="0" bIns="0" rtlCol="0" anchor="ctr"/>
          <a:lstStyle/>
          <a:p>
            <a:pPr marL="0" indent="0">
              <a:buNone/>
            </a:pPr>
            <a:r>
              <a:rPr lang="en-US" sz="900" b="1" kern="0" spc="100" dirty="0">
                <a:solidFill>
                  <a:srgbClr val="0F2747"/>
                </a:solidFill>
                <a:latin typeface="Calibri" pitchFamily="34" charset="0"/>
                <a:ea typeface="Calibri" pitchFamily="34" charset="-122"/>
                <a:cs typeface="Calibri" pitchFamily="34" charset="-120"/>
              </a:rPr>
              <a:t>FRENCH — PRIORITY #2</a:t>
            </a:r>
            <a:endParaRPr lang="en-US" sz="900" b="1" dirty="0">
              <a:solidFill>
                <a:srgbClr val="0F2747"/>
              </a:solidFill>
            </a:endParaRPr>
          </a:p>
        </p:txBody>
      </p:sp>
      <p:sp>
        <p:nvSpPr>
          <p:cNvPr id="21" name="Text 19"/>
          <p:cNvSpPr/>
          <p:nvPr/>
        </p:nvSpPr>
        <p:spPr>
          <a:xfrm>
            <a:off x="4356100" y="1498600"/>
            <a:ext cx="3467100" cy="736600"/>
          </a:xfrm>
          <a:prstGeom prst="rect">
            <a:avLst/>
          </a:prstGeom>
          <a:noFill/>
          <a:ln/>
        </p:spPr>
        <p:txBody>
          <a:bodyPr wrap="square" lIns="0" tIns="0" rIns="0" bIns="0" rtlCol="0" anchor="ctr"/>
          <a:lstStyle/>
          <a:p>
            <a:pPr marL="0" indent="0">
              <a:buNone/>
            </a:pPr>
            <a:r>
              <a:rPr lang="en-US" b="1" dirty="0">
                <a:solidFill>
                  <a:srgbClr val="0F2747"/>
                </a:solidFill>
                <a:latin typeface="Calibri" pitchFamily="34" charset="0"/>
                <a:ea typeface="Calibri" pitchFamily="34" charset="-122"/>
                <a:cs typeface="Calibri" pitchFamily="34" charset="-120"/>
              </a:rPr>
              <a:t>49K + 120K</a:t>
            </a:r>
            <a:endParaRPr lang="en-US" b="1" dirty="0">
              <a:solidFill>
                <a:srgbClr val="0F2747"/>
              </a:solidFill>
            </a:endParaRPr>
          </a:p>
        </p:txBody>
      </p:sp>
      <p:sp>
        <p:nvSpPr>
          <p:cNvPr id="22" name="Text 20"/>
          <p:cNvSpPr/>
          <p:nvPr/>
        </p:nvSpPr>
        <p:spPr>
          <a:xfrm>
            <a:off x="4356100" y="2286000"/>
            <a:ext cx="3467100" cy="457200"/>
          </a:xfrm>
          <a:prstGeom prst="rect">
            <a:avLst/>
          </a:prstGeom>
          <a:noFill/>
          <a:ln/>
        </p:spPr>
        <p:txBody>
          <a:bodyPr wrap="square" lIns="0" tIns="0" rIns="0" bIns="0" rtlCol="0" anchor="ctr"/>
          <a:lstStyle/>
          <a:p>
            <a:pPr marL="0" indent="0">
              <a:buNone/>
            </a:pPr>
            <a:r>
              <a:rPr lang="en-US" sz="950" b="1" i="1" dirty="0">
                <a:solidFill>
                  <a:srgbClr val="6B7280"/>
                </a:solidFill>
                <a:latin typeface="Calibri" pitchFamily="34" charset="0"/>
                <a:ea typeface="Calibri" pitchFamily="34" charset="-122"/>
                <a:cs typeface="Calibri" pitchFamily="34" charset="-120"/>
              </a:rPr>
              <a:t>residents + daily cross-border commuters from France</a:t>
            </a:r>
            <a:endParaRPr lang="en-US" sz="1000" b="1" dirty="0">
              <a:solidFill>
                <a:srgbClr val="6B7280"/>
              </a:solidFill>
            </a:endParaRPr>
          </a:p>
        </p:txBody>
      </p:sp>
      <p:sp>
        <p:nvSpPr>
          <p:cNvPr id="23" name="Text 21"/>
          <p:cNvSpPr/>
          <p:nvPr/>
        </p:nvSpPr>
        <p:spPr>
          <a:xfrm>
            <a:off x="4356100" y="2844800"/>
            <a:ext cx="3467100" cy="304800"/>
          </a:xfrm>
          <a:prstGeom prst="rect">
            <a:avLst/>
          </a:prstGeom>
          <a:noFill/>
          <a:ln/>
        </p:spPr>
        <p:txBody>
          <a:bodyPr wrap="square" lIns="0" tIns="0" rIns="0" bIns="0" rtlCol="0" anchor="ctr"/>
          <a:lstStyle/>
          <a:p>
            <a:pPr marL="0" indent="0">
              <a:buNone/>
            </a:pPr>
            <a:r>
              <a:rPr lang="en-US" sz="1000" b="1" dirty="0">
                <a:solidFill>
                  <a:srgbClr val="1F2937"/>
                </a:solidFill>
                <a:latin typeface="Calibri" pitchFamily="34" charset="0"/>
                <a:ea typeface="Calibri" pitchFamily="34" charset="-122"/>
                <a:cs typeface="Calibri" pitchFamily="34" charset="-120"/>
              </a:rPr>
              <a:t>Why second</a:t>
            </a:r>
            <a:endParaRPr lang="en-US" sz="1100" dirty="0">
              <a:solidFill>
                <a:srgbClr val="1F2937"/>
              </a:solidFill>
            </a:endParaRPr>
          </a:p>
        </p:txBody>
      </p:sp>
      <p:sp>
        <p:nvSpPr>
          <p:cNvPr id="24" name="Shape 22"/>
          <p:cNvSpPr/>
          <p:nvPr/>
        </p:nvSpPr>
        <p:spPr>
          <a:xfrm>
            <a:off x="4381500" y="3302000"/>
            <a:ext cx="88900" cy="88900"/>
          </a:xfrm>
          <a:prstGeom prst="ellipse">
            <a:avLst/>
          </a:prstGeom>
          <a:solidFill>
            <a:srgbClr val="C89A2B"/>
          </a:solidFill>
          <a:ln w="12700">
            <a:noFill/>
            <a:prstDash val="solid"/>
          </a:ln>
        </p:spPr>
        <p:txBody>
          <a:bodyPr/>
          <a:lstStyle/>
          <a:p>
            <a:endParaRPr lang="en-US"/>
          </a:p>
        </p:txBody>
      </p:sp>
      <p:sp>
        <p:nvSpPr>
          <p:cNvPr id="25" name="Text 23"/>
          <p:cNvSpPr/>
          <p:nvPr/>
        </p:nvSpPr>
        <p:spPr>
          <a:xfrm>
            <a:off x="4533900" y="32258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120K+ daily commuters = sheer volume nobody else has</a:t>
            </a:r>
            <a:endParaRPr lang="en-US" sz="1150" dirty="0">
              <a:solidFill>
                <a:srgbClr val="1F2937"/>
              </a:solidFill>
            </a:endParaRPr>
          </a:p>
        </p:txBody>
      </p:sp>
      <p:sp>
        <p:nvSpPr>
          <p:cNvPr id="26" name="Shape 24"/>
          <p:cNvSpPr/>
          <p:nvPr/>
        </p:nvSpPr>
        <p:spPr>
          <a:xfrm>
            <a:off x="4381500" y="4038600"/>
            <a:ext cx="88900" cy="88900"/>
          </a:xfrm>
          <a:prstGeom prst="ellipse">
            <a:avLst/>
          </a:prstGeom>
          <a:solidFill>
            <a:srgbClr val="C89A2B"/>
          </a:solidFill>
          <a:ln w="12700">
            <a:noFill/>
            <a:prstDash val="solid"/>
          </a:ln>
        </p:spPr>
        <p:txBody>
          <a:bodyPr/>
          <a:lstStyle/>
          <a:p>
            <a:endParaRPr lang="en-US"/>
          </a:p>
        </p:txBody>
      </p:sp>
      <p:sp>
        <p:nvSpPr>
          <p:cNvPr id="27" name="Text 25"/>
          <p:cNvSpPr/>
          <p:nvPr/>
        </p:nvSpPr>
        <p:spPr>
          <a:xfrm>
            <a:off x="4533900" y="39624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2023 pension reform raised pension anxiety to historic peak</a:t>
            </a:r>
            <a:endParaRPr lang="en-US" sz="1150" dirty="0">
              <a:solidFill>
                <a:srgbClr val="1F2937"/>
              </a:solidFill>
            </a:endParaRPr>
          </a:p>
        </p:txBody>
      </p:sp>
      <p:sp>
        <p:nvSpPr>
          <p:cNvPr id="28" name="Shape 26"/>
          <p:cNvSpPr/>
          <p:nvPr/>
        </p:nvSpPr>
        <p:spPr>
          <a:xfrm>
            <a:off x="4381500" y="4775200"/>
            <a:ext cx="88900" cy="88900"/>
          </a:xfrm>
          <a:prstGeom prst="ellipse">
            <a:avLst/>
          </a:prstGeom>
          <a:solidFill>
            <a:srgbClr val="C89A2B"/>
          </a:solidFill>
          <a:ln w="12700">
            <a:noFill/>
            <a:prstDash val="solid"/>
          </a:ln>
        </p:spPr>
        <p:txBody>
          <a:bodyPr/>
          <a:lstStyle/>
          <a:p>
            <a:endParaRPr lang="en-US"/>
          </a:p>
        </p:txBody>
      </p:sp>
      <p:sp>
        <p:nvSpPr>
          <p:cNvPr id="29" name="Text 27"/>
          <p:cNvSpPr/>
          <p:nvPr/>
        </p:nvSpPr>
        <p:spPr>
          <a:xfrm>
            <a:off x="4533900" y="46990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Frontaliers Grand Est is a ready-made distribution partner</a:t>
            </a:r>
            <a:endParaRPr lang="en-US" sz="1150" dirty="0">
              <a:solidFill>
                <a:srgbClr val="1F2937"/>
              </a:solidFill>
            </a:endParaRPr>
          </a:p>
        </p:txBody>
      </p:sp>
      <p:sp>
        <p:nvSpPr>
          <p:cNvPr id="30" name="Shape 28"/>
          <p:cNvSpPr/>
          <p:nvPr/>
        </p:nvSpPr>
        <p:spPr>
          <a:xfrm>
            <a:off x="4381500" y="5511800"/>
            <a:ext cx="88900" cy="88900"/>
          </a:xfrm>
          <a:prstGeom prst="ellipse">
            <a:avLst/>
          </a:prstGeom>
          <a:solidFill>
            <a:srgbClr val="C89A2B"/>
          </a:solidFill>
          <a:ln w="12700">
            <a:noFill/>
            <a:prstDash val="solid"/>
          </a:ln>
        </p:spPr>
        <p:txBody>
          <a:bodyPr/>
          <a:lstStyle/>
          <a:p>
            <a:endParaRPr lang="en-US"/>
          </a:p>
        </p:txBody>
      </p:sp>
      <p:sp>
        <p:nvSpPr>
          <p:cNvPr id="31" name="Text 29"/>
          <p:cNvSpPr/>
          <p:nvPr/>
        </p:nvSpPr>
        <p:spPr>
          <a:xfrm>
            <a:off x="4533900" y="5435600"/>
            <a:ext cx="3263900" cy="6604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Becomes the bridge to Year 2 France expansion</a:t>
            </a:r>
            <a:endParaRPr lang="en-US" sz="1150" dirty="0">
              <a:solidFill>
                <a:srgbClr val="1F2937"/>
              </a:solidFill>
            </a:endParaRPr>
          </a:p>
        </p:txBody>
      </p:sp>
      <p:sp>
        <p:nvSpPr>
          <p:cNvPr id="50" name="Sp_PanelBg"/>
          <p:cNvSpPr>
            <a:spLocks noGrp="1"/>
          </p:cNvSpPr>
          <p:nvPr/>
        </p:nvSpPr>
        <p:spPr>
          <a:xfrm>
            <a:off x="8102600" y="914400"/>
            <a:ext cx="3670300" cy="5334000"/>
          </a:xfrm>
          <a:prstGeom prst="roundRect">
            <a:avLst>
              <a:gd name="adj" fmla="val 4000"/>
            </a:avLst>
          </a:prstGeom>
          <a:solidFill>
            <a:srgbClr val="EDF7F0"/>
          </a:solidFill>
          <a:ln w="12700">
            <a:solidFill>
              <a:scrgbClr r="0" g="0" b="0"/>
            </a:solidFill>
            <a:prstDash val="solid"/>
          </a:ln>
          <a:effectLst>
            <a:outerShdw blurRad="19050" dist="12700" dir="2700000" algn="bl" rotWithShape="0">
              <a:srgbClr val="000000">
                <a:alpha val="12000"/>
              </a:srgbClr>
            </a:outerShdw>
          </a:effectLst>
        </p:spPr>
        <p:txBody>
          <a:bodyPr wrap="square" rtlCol="0"/>
          <a:lstStyle/>
          <a:p>
            <a:endParaRPr lang="en-US" dirty="0"/>
          </a:p>
        </p:txBody>
      </p:sp>
      <p:sp>
        <p:nvSpPr>
          <p:cNvPr id="52" name="Sp_HeaderTxt"/>
          <p:cNvSpPr>
            <a:spLocks noGrp="1"/>
          </p:cNvSpPr>
          <p:nvPr/>
        </p:nvSpPr>
        <p:spPr>
          <a:xfrm>
            <a:off x="8204200" y="965200"/>
            <a:ext cx="3467100" cy="406400"/>
          </a:xfrm>
          <a:prstGeom prst="rect">
            <a:avLst/>
          </a:prstGeom>
          <a:noFill/>
          <a:ln>
            <a:noFill/>
          </a:ln>
        </p:spPr>
        <p:txBody>
          <a:bodyPr wrap="square" rtlCol="0"/>
          <a:lstStyle/>
          <a:p>
            <a:pPr marL="0" indent="0">
              <a:buNone/>
            </a:pPr>
            <a:r>
              <a:rPr lang="en-US" sz="900" b="1" kern="0" spc="100" dirty="0">
                <a:solidFill>
                  <a:srgbClr val="0F2747"/>
                </a:solidFill>
                <a:latin typeface="Calibri" pitchFamily="34" charset="0"/>
              </a:rPr>
              <a:t>SPANISH — PRIORITY #3</a:t>
            </a:r>
            <a:endParaRPr lang="en-US" sz="900" b="1" dirty="0">
              <a:solidFill>
                <a:srgbClr val="0F2747"/>
              </a:solidFill>
            </a:endParaRPr>
          </a:p>
        </p:txBody>
      </p:sp>
      <p:sp>
        <p:nvSpPr>
          <p:cNvPr id="53" name="Sp_BigNum"/>
          <p:cNvSpPr>
            <a:spLocks noGrp="1"/>
          </p:cNvSpPr>
          <p:nvPr/>
        </p:nvSpPr>
        <p:spPr>
          <a:xfrm>
            <a:off x="8204200" y="1498600"/>
            <a:ext cx="3467100" cy="736600"/>
          </a:xfrm>
          <a:prstGeom prst="rect">
            <a:avLst/>
          </a:prstGeom>
          <a:noFill/>
          <a:ln>
            <a:noFill/>
          </a:ln>
        </p:spPr>
        <p:txBody>
          <a:bodyPr wrap="square" rtlCol="0"/>
          <a:lstStyle/>
          <a:p>
            <a:pPr marL="0" indent="0">
              <a:buNone/>
            </a:pPr>
            <a:r>
              <a:rPr lang="en-US" b="1" dirty="0">
                <a:solidFill>
                  <a:srgbClr val="0F2747"/>
                </a:solidFill>
                <a:latin typeface="Calibri" pitchFamily="34" charset="0"/>
              </a:rPr>
              <a:t>~9,600</a:t>
            </a:r>
            <a:endParaRPr lang="en-US" b="1" dirty="0">
              <a:solidFill>
                <a:srgbClr val="0F2747"/>
              </a:solidFill>
            </a:endParaRPr>
          </a:p>
        </p:txBody>
      </p:sp>
      <p:sp>
        <p:nvSpPr>
          <p:cNvPr id="54" name="Sp_SubTxt"/>
          <p:cNvSpPr>
            <a:spLocks noGrp="1"/>
          </p:cNvSpPr>
          <p:nvPr/>
        </p:nvSpPr>
        <p:spPr>
          <a:xfrm>
            <a:off x="8204200" y="2286000"/>
            <a:ext cx="3467100" cy="457200"/>
          </a:xfrm>
          <a:prstGeom prst="rect">
            <a:avLst/>
          </a:prstGeom>
          <a:noFill/>
          <a:ln>
            <a:noFill/>
          </a:ln>
        </p:spPr>
        <p:txBody>
          <a:bodyPr wrap="square" rtlCol="0"/>
          <a:lstStyle/>
          <a:p>
            <a:pPr marL="0" indent="0">
              <a:buNone/>
            </a:pPr>
            <a:r>
              <a:rPr lang="en-US" sz="950" b="1" i="1" dirty="0">
                <a:solidFill>
                  <a:srgbClr val="6B7280"/>
                </a:solidFill>
                <a:latin typeface="Calibri" pitchFamily="34" charset="0"/>
              </a:rPr>
              <a:t>residents in Luxembourg — ~1.4% of total population</a:t>
            </a:r>
            <a:endParaRPr lang="en-US" sz="1000" b="1" dirty="0">
              <a:solidFill>
                <a:srgbClr val="6B7280"/>
              </a:solidFill>
            </a:endParaRPr>
          </a:p>
        </p:txBody>
      </p:sp>
      <p:sp>
        <p:nvSpPr>
          <p:cNvPr id="55" name="Sp_WhyLbl"/>
          <p:cNvSpPr>
            <a:spLocks noGrp="1"/>
          </p:cNvSpPr>
          <p:nvPr/>
        </p:nvSpPr>
        <p:spPr>
          <a:xfrm>
            <a:off x="8204200" y="2844800"/>
            <a:ext cx="3467100" cy="304800"/>
          </a:xfrm>
          <a:prstGeom prst="rect">
            <a:avLst/>
          </a:prstGeom>
          <a:noFill/>
          <a:ln>
            <a:noFill/>
          </a:ln>
        </p:spPr>
        <p:txBody>
          <a:bodyPr wrap="square" rtlCol="0"/>
          <a:lstStyle/>
          <a:p>
            <a:pPr marL="0" indent="0">
              <a:buNone/>
            </a:pPr>
            <a:r>
              <a:rPr lang="en-US" sz="1000" b="1" dirty="0">
                <a:solidFill>
                  <a:srgbClr val="1F2937"/>
                </a:solidFill>
                <a:latin typeface="Calibri" pitchFamily="34" charset="0"/>
              </a:rPr>
              <a:t>Why third</a:t>
            </a:r>
            <a:endParaRPr lang="en-US" sz="1100" dirty="0">
              <a:solidFill>
                <a:srgbClr val="1F2937"/>
              </a:solidFill>
            </a:endParaRPr>
          </a:p>
        </p:txBody>
      </p:sp>
      <p:sp>
        <p:nvSpPr>
          <p:cNvPr id="56" name="Sp_Dot1"/>
          <p:cNvSpPr>
            <a:spLocks noGrp="1"/>
          </p:cNvSpPr>
          <p:nvPr/>
        </p:nvSpPr>
        <p:spPr>
          <a:xfrm>
            <a:off x="8229600" y="3302000"/>
            <a:ext cx="88900" cy="88900"/>
          </a:xfrm>
          <a:prstGeom prst="ellipse">
            <a:avLst/>
          </a:prstGeom>
          <a:solidFill>
            <a:srgbClr val="C89A2B"/>
          </a:solidFill>
          <a:ln>
            <a:noFill/>
          </a:ln>
        </p:spPr>
        <p:txBody>
          <a:bodyPr/>
          <a:lstStyle/>
          <a:p>
            <a:endParaRPr/>
          </a:p>
        </p:txBody>
      </p:sp>
      <p:sp>
        <p:nvSpPr>
          <p:cNvPr id="57" name="Sp_B1"/>
          <p:cNvSpPr>
            <a:spLocks noGrp="1"/>
          </p:cNvSpPr>
          <p:nvPr/>
        </p:nvSpPr>
        <p:spPr>
          <a:xfrm>
            <a:off x="8382000" y="3225800"/>
            <a:ext cx="3263900" cy="660400"/>
          </a:xfrm>
          <a:prstGeom prst="rect">
            <a:avLst/>
          </a:prstGeom>
          <a:noFill/>
          <a:ln>
            <a:noFill/>
          </a:ln>
        </p:spPr>
        <p:txBody>
          <a:bodyPr wrap="square" rtlCol="0"/>
          <a:lstStyle/>
          <a:p>
            <a:pPr marL="0" indent="0">
              <a:buNone/>
            </a:pPr>
            <a:r>
              <a:rPr lang="en-US" sz="1000" dirty="0">
                <a:solidFill>
                  <a:srgbClr val="1F2937"/>
                </a:solidFill>
                <a:latin typeface="Calibri" pitchFamily="34" charset="0"/>
              </a:rPr>
              <a:t>+472 new arrivals in 2024 — fastest net growth of any EU nationality</a:t>
            </a:r>
            <a:endParaRPr lang="en-US" sz="1150" dirty="0">
              <a:solidFill>
                <a:srgbClr val="1F2937"/>
              </a:solidFill>
            </a:endParaRPr>
          </a:p>
        </p:txBody>
      </p:sp>
      <p:sp>
        <p:nvSpPr>
          <p:cNvPr id="58" name="Sp_Dot2"/>
          <p:cNvSpPr>
            <a:spLocks noGrp="1"/>
          </p:cNvSpPr>
          <p:nvPr/>
        </p:nvSpPr>
        <p:spPr>
          <a:xfrm>
            <a:off x="8229600" y="4038600"/>
            <a:ext cx="88900" cy="88900"/>
          </a:xfrm>
          <a:prstGeom prst="ellipse">
            <a:avLst/>
          </a:prstGeom>
          <a:solidFill>
            <a:srgbClr val="C89A2B"/>
          </a:solidFill>
          <a:ln>
            <a:noFill/>
          </a:ln>
        </p:spPr>
        <p:txBody>
          <a:bodyPr/>
          <a:lstStyle/>
          <a:p>
            <a:endParaRPr/>
          </a:p>
        </p:txBody>
      </p:sp>
      <p:sp>
        <p:nvSpPr>
          <p:cNvPr id="59" name="Sp_B2"/>
          <p:cNvSpPr>
            <a:spLocks noGrp="1"/>
          </p:cNvSpPr>
          <p:nvPr/>
        </p:nvSpPr>
        <p:spPr>
          <a:xfrm>
            <a:off x="8382000" y="3962400"/>
            <a:ext cx="3263900" cy="660400"/>
          </a:xfrm>
          <a:prstGeom prst="rect">
            <a:avLst/>
          </a:prstGeom>
          <a:noFill/>
          <a:ln>
            <a:noFill/>
          </a:ln>
        </p:spPr>
        <p:txBody>
          <a:bodyPr wrap="square" rtlCol="0"/>
          <a:lstStyle/>
          <a:p>
            <a:pPr marL="0" indent="0">
              <a:buNone/>
            </a:pPr>
            <a:r>
              <a:rPr lang="en-US" sz="1000" dirty="0">
                <a:solidFill>
                  <a:srgbClr val="1F2937"/>
                </a:solidFill>
                <a:latin typeface="Calibri" pitchFamily="34" charset="0"/>
              </a:rPr>
              <a:t>Young, mobile workforce — high cross-border pension complexity</a:t>
            </a:r>
            <a:endParaRPr lang="en-US" sz="1150" dirty="0">
              <a:solidFill>
                <a:srgbClr val="1F2937"/>
              </a:solidFill>
            </a:endParaRPr>
          </a:p>
        </p:txBody>
      </p:sp>
      <p:sp>
        <p:nvSpPr>
          <p:cNvPr id="60" name="Sp_Dot3"/>
          <p:cNvSpPr>
            <a:spLocks noGrp="1"/>
          </p:cNvSpPr>
          <p:nvPr/>
        </p:nvSpPr>
        <p:spPr>
          <a:xfrm>
            <a:off x="8229600" y="4775200"/>
            <a:ext cx="88900" cy="88900"/>
          </a:xfrm>
          <a:prstGeom prst="ellipse">
            <a:avLst/>
          </a:prstGeom>
          <a:solidFill>
            <a:srgbClr val="C89A2B"/>
          </a:solidFill>
          <a:ln>
            <a:noFill/>
          </a:ln>
        </p:spPr>
        <p:txBody>
          <a:bodyPr/>
          <a:lstStyle/>
          <a:p>
            <a:endParaRPr/>
          </a:p>
        </p:txBody>
      </p:sp>
      <p:sp>
        <p:nvSpPr>
          <p:cNvPr id="61" name="Sp_B3"/>
          <p:cNvSpPr>
            <a:spLocks noGrp="1"/>
          </p:cNvSpPr>
          <p:nvPr/>
        </p:nvSpPr>
        <p:spPr>
          <a:xfrm>
            <a:off x="8382000" y="4699000"/>
            <a:ext cx="3263900" cy="660400"/>
          </a:xfrm>
          <a:prstGeom prst="rect">
            <a:avLst/>
          </a:prstGeom>
          <a:noFill/>
          <a:ln>
            <a:noFill/>
          </a:ln>
        </p:spPr>
        <p:txBody>
          <a:bodyPr wrap="square" rtlCol="0"/>
          <a:lstStyle/>
          <a:p>
            <a:pPr marL="0" indent="0">
              <a:buNone/>
            </a:pPr>
            <a:r>
              <a:rPr lang="en-US" sz="1000" dirty="0">
                <a:solidFill>
                  <a:srgbClr val="1F2937"/>
                </a:solidFill>
                <a:latin typeface="Calibri" pitchFamily="34" charset="0"/>
              </a:rPr>
              <a:t>Spanish content immediately reusable from Portuguese product track</a:t>
            </a:r>
            <a:endParaRPr lang="en-US" sz="1150" dirty="0">
              <a:solidFill>
                <a:srgbClr val="1F2937"/>
              </a:solidFill>
            </a:endParaRPr>
          </a:p>
        </p:txBody>
      </p:sp>
      <p:sp>
        <p:nvSpPr>
          <p:cNvPr id="62" name="Sp_Dot4"/>
          <p:cNvSpPr>
            <a:spLocks noGrp="1"/>
          </p:cNvSpPr>
          <p:nvPr/>
        </p:nvSpPr>
        <p:spPr>
          <a:xfrm>
            <a:off x="8229600" y="5511800"/>
            <a:ext cx="88900" cy="88900"/>
          </a:xfrm>
          <a:prstGeom prst="ellipse">
            <a:avLst/>
          </a:prstGeom>
          <a:solidFill>
            <a:srgbClr val="C89A2B"/>
          </a:solidFill>
          <a:ln>
            <a:noFill/>
          </a:ln>
        </p:spPr>
        <p:txBody>
          <a:bodyPr/>
          <a:lstStyle/>
          <a:p>
            <a:endParaRPr/>
          </a:p>
        </p:txBody>
      </p:sp>
      <p:sp>
        <p:nvSpPr>
          <p:cNvPr id="63" name="Sp_B4"/>
          <p:cNvSpPr>
            <a:spLocks noGrp="1"/>
          </p:cNvSpPr>
          <p:nvPr/>
        </p:nvSpPr>
        <p:spPr>
          <a:xfrm>
            <a:off x="8382000" y="5435600"/>
            <a:ext cx="3263900" cy="660400"/>
          </a:xfrm>
          <a:prstGeom prst="rect">
            <a:avLst/>
          </a:prstGeom>
          <a:noFill/>
          <a:ln>
            <a:noFill/>
          </a:ln>
        </p:spPr>
        <p:txBody>
          <a:bodyPr wrap="square" rtlCol="0"/>
          <a:lstStyle/>
          <a:p>
            <a:pPr marL="0" indent="0">
              <a:buNone/>
            </a:pPr>
            <a:r>
              <a:rPr lang="en-US" sz="1000" dirty="0">
                <a:solidFill>
                  <a:srgbClr val="1F2937"/>
                </a:solidFill>
                <a:latin typeface="Calibri" pitchFamily="34" charset="0"/>
              </a:rPr>
              <a:t>Becomes the bridge to Year 3 Spain expansion</a:t>
            </a:r>
            <a:endParaRPr lang="en-US" sz="1150" dirty="0">
              <a:solidFill>
                <a:srgbClr val="1F2937"/>
              </a:solidFill>
            </a:endParaRPr>
          </a:p>
        </p:txBody>
      </p:sp>
    </p:spTree>
    <p:extLst>
      <p:ext uri="{BB962C8B-B14F-4D97-AF65-F5344CB8AC3E}">
        <p14:creationId xmlns:p14="http://schemas.microsoft.com/office/powerpoint/2010/main" val="3599428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A900F76-B019-4A39-9021-8B2D98821E39}"/>
              </a:ext>
            </a:extLst>
          </p:cNvPr>
          <p:cNvSpPr/>
          <p:nvPr/>
        </p:nvSpPr>
        <p:spPr>
          <a:xfrm>
            <a:off x="0" y="0"/>
            <a:ext cx="12192000" cy="508000"/>
          </a:xfrm>
          <a:prstGeom prst="rect">
            <a:avLst/>
          </a:prstGeom>
          <a:solidFill>
            <a:srgbClr val="0F27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2B32B90F-654C-4A7B-80D1-2D435404A854}"/>
              </a:ext>
            </a:extLst>
          </p:cNvPr>
          <p:cNvSpPr txBox="1"/>
          <p:nvPr/>
        </p:nvSpPr>
        <p:spPr>
          <a:xfrm>
            <a:off x="406400" y="101600"/>
            <a:ext cx="11061700" cy="304800"/>
          </a:xfrm>
          <a:prstGeom prst="rect">
            <a:avLst/>
          </a:prstGeom>
          <a:noFill/>
        </p:spPr>
        <p:txBody>
          <a:bodyPr vertOverflow="overflow" vert="horz" wrap="square" rtlCol="0" anchor="t">
            <a:noAutofit/>
          </a:bodyPr>
          <a:lstStyle/>
          <a:p>
            <a:pPr algn="l"/>
            <a:r>
              <a:rPr lang="en-US" sz="2400" b="1">
                <a:solidFill>
                  <a:srgbClr val="FFFFFF"/>
                </a:solidFill>
                <a:latin typeface="Calibri"/>
                <a:ea typeface="Calibri"/>
                <a:cs typeface="Calibri"/>
              </a:rPr>
              <a:t>How we acquire the first users</a:t>
            </a:r>
          </a:p>
        </p:txBody>
      </p:sp>
      <p:sp>
        <p:nvSpPr>
          <p:cNvPr id="3" name="TextBox 2">
            <a:extLst>
              <a:ext uri="{FF2B5EF4-FFF2-40B4-BE49-F238E27FC236}">
                <a16:creationId xmlns:a16="http://schemas.microsoft.com/office/drawing/2014/main" id="{01C370CD-52A7-44AD-A943-FAB841B8EDEA}"/>
              </a:ext>
            </a:extLst>
          </p:cNvPr>
          <p:cNvSpPr txBox="1"/>
          <p:nvPr/>
        </p:nvSpPr>
        <p:spPr>
          <a:xfrm>
            <a:off x="406400" y="622300"/>
            <a:ext cx="11061700" cy="228600"/>
          </a:xfrm>
          <a:prstGeom prst="rect">
            <a:avLst/>
          </a:prstGeom>
          <a:noFill/>
        </p:spPr>
        <p:txBody>
          <a:bodyPr vertOverflow="overflow" vert="horz" wrap="square" rtlCol="0" anchor="t">
            <a:noAutofit/>
          </a:bodyPr>
          <a:lstStyle/>
          <a:p>
            <a:pPr>
              <a:buNone/>
            </a:pPr>
            <a:r>
              <a:rPr lang="en-US" sz="1050" i="0" dirty="0">
                <a:solidFill>
                  <a:srgbClr val="6B7280"/>
                </a:solidFill>
              </a:rPr>
              <a:t>Two focused channels — both grounded in trust and the Ring 1 + Ring 2 network already mapped.</a:t>
            </a:r>
          </a:p>
        </p:txBody>
      </p:sp>
      <p:sp>
        <p:nvSpPr>
          <p:cNvPr id="6" name="Rectangle 5">
            <a:extLst>
              <a:ext uri="{FF2B5EF4-FFF2-40B4-BE49-F238E27FC236}">
                <a16:creationId xmlns:a16="http://schemas.microsoft.com/office/drawing/2014/main" id="{6ABC5311-7026-41F7-8821-94E2DFBDED90}"/>
              </a:ext>
            </a:extLst>
          </p:cNvPr>
          <p:cNvSpPr/>
          <p:nvPr/>
        </p:nvSpPr>
        <p:spPr>
          <a:xfrm>
            <a:off x="355600" y="914400"/>
            <a:ext cx="5676900" cy="4775200"/>
          </a:xfrm>
          <a:prstGeom prst="roundRect">
            <a:avLst>
              <a:gd name="adj" fmla="val 4000"/>
            </a:avLst>
          </a:prstGeom>
          <a:solidFill>
            <a:srgbClr val="EAF1FB"/>
          </a:solidFill>
          <a:ln w="12700" cap="flat" cmpd="sng" algn="ctr">
            <a:solidFill>
              <a:scrgbClr r="0" g="0" b="0"/>
            </a:solidFill>
            <a:prstDash val="solid"/>
            <a:miter lim="800000"/>
          </a:ln>
          <a:effectLst>
            <a:outerShdw blurRad="19050" dist="12700" dir="2700000" algn="bl" rotWithShape="0">
              <a:srgbClr val="000000">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165C15E1-ED3D-4690-B6A5-1DB3A066468E}"/>
              </a:ext>
            </a:extLst>
          </p:cNvPr>
          <p:cNvSpPr txBox="1"/>
          <p:nvPr/>
        </p:nvSpPr>
        <p:spPr>
          <a:xfrm>
            <a:off x="355600" y="914400"/>
            <a:ext cx="5676900" cy="457200"/>
          </a:xfrm>
          <a:prstGeom prst="rect">
            <a:avLst/>
          </a:prstGeom>
          <a:noFill/>
        </p:spPr>
        <p:txBody>
          <a:bodyPr vertOverflow="overflow" vert="horz" wrap="square" rtlCol="0" anchor="t">
            <a:noAutofit/>
          </a:bodyPr>
          <a:lstStyle/>
          <a:p>
            <a:pPr algn="ctr">
              <a:buNone/>
            </a:pPr>
            <a:r>
              <a:rPr lang="en-US" sz="1050" b="1" dirty="0">
                <a:solidFill>
                  <a:srgbClr val="FFFFFF"/>
                </a:solidFill>
              </a:rPr>
              <a:t>CHANNEL 1 — INSTITUTIONAL &amp; COMMUNITY</a:t>
            </a:r>
          </a:p>
        </p:txBody>
      </p:sp>
      <p:sp>
        <p:nvSpPr>
          <p:cNvPr id="9" name="Oval 8">
            <a:extLst>
              <a:ext uri="{FF2B5EF4-FFF2-40B4-BE49-F238E27FC236}">
                <a16:creationId xmlns:a16="http://schemas.microsoft.com/office/drawing/2014/main" id="{5DCAC20A-C2D6-49F9-BCB9-68E26FB5F316}"/>
              </a:ext>
            </a:extLst>
          </p:cNvPr>
          <p:cNvSpPr/>
          <p:nvPr/>
        </p:nvSpPr>
        <p:spPr>
          <a:xfrm>
            <a:off x="533400" y="14859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DDBBCCE-3C8A-4E31-829D-1F31CA193134}"/>
              </a:ext>
            </a:extLst>
          </p:cNvPr>
          <p:cNvSpPr txBox="1"/>
          <p:nvPr/>
        </p:nvSpPr>
        <p:spPr>
          <a:xfrm>
            <a:off x="736600" y="1435100"/>
            <a:ext cx="5118100" cy="254000"/>
          </a:xfrm>
          <a:prstGeom prst="rect">
            <a:avLst/>
          </a:prstGeom>
          <a:noFill/>
        </p:spPr>
        <p:txBody>
          <a:bodyPr vertOverflow="overflow" vert="horz" wrap="square" rtlCol="0" anchor="t">
            <a:noAutofit/>
          </a:bodyPr>
          <a:lstStyle/>
          <a:p>
            <a:pPr algn="l"/>
            <a:r>
              <a:rPr lang="en-US" sz="1000" b="1">
                <a:solidFill>
                  <a:srgbClr val="6B7280"/>
                </a:solidFill>
                <a:latin typeface="Calibri"/>
                <a:ea typeface="Calibri"/>
                <a:cs typeface="Calibri"/>
              </a:rPr>
              <a:t>Ring 1 — LU institutions as the door-opener</a:t>
            </a:r>
          </a:p>
        </p:txBody>
      </p:sp>
      <p:sp>
        <p:nvSpPr>
          <p:cNvPr id="11" name="TextBox 10">
            <a:extLst>
              <a:ext uri="{FF2B5EF4-FFF2-40B4-BE49-F238E27FC236}">
                <a16:creationId xmlns:a16="http://schemas.microsoft.com/office/drawing/2014/main" id="{FD0A04BB-5E9D-45D7-8302-D43488D0260B}"/>
              </a:ext>
            </a:extLst>
          </p:cNvPr>
          <p:cNvSpPr txBox="1"/>
          <p:nvPr/>
        </p:nvSpPr>
        <p:spPr>
          <a:xfrm>
            <a:off x="736600" y="1727200"/>
            <a:ext cx="5118100" cy="609600"/>
          </a:xfrm>
          <a:prstGeom prst="rect">
            <a:avLst/>
          </a:prstGeom>
          <a:noFill/>
        </p:spPr>
        <p:txBody>
          <a:bodyPr vertOverflow="overflow" vert="horz" wrap="square" rtlCol="0" anchor="t">
            <a:noAutofit/>
          </a:bodyPr>
          <a:lstStyle/>
          <a:p>
            <a:pPr algn="l"/>
            <a:r>
              <a:rPr lang="en-US" sz="1150" dirty="0">
                <a:solidFill>
                  <a:srgbClr val="1F2937"/>
                </a:solidFill>
                <a:latin typeface="Calibri"/>
                <a:ea typeface="Calibri"/>
                <a:cs typeface="Calibri"/>
              </a:rPr>
              <a:t>Chambers, federations and HR departments introduce the app to members and new international hires at the moment of highest need.</a:t>
            </a:r>
          </a:p>
        </p:txBody>
      </p:sp>
      <p:sp>
        <p:nvSpPr>
          <p:cNvPr id="12" name="Oval 11">
            <a:extLst>
              <a:ext uri="{FF2B5EF4-FFF2-40B4-BE49-F238E27FC236}">
                <a16:creationId xmlns:a16="http://schemas.microsoft.com/office/drawing/2014/main" id="{170E09E2-0F9A-457A-893B-37E823603FE8}"/>
              </a:ext>
            </a:extLst>
          </p:cNvPr>
          <p:cNvSpPr/>
          <p:nvPr/>
        </p:nvSpPr>
        <p:spPr>
          <a:xfrm>
            <a:off x="533400" y="25273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CD44EF58-570A-42F2-BD61-3DE46E023E96}"/>
              </a:ext>
            </a:extLst>
          </p:cNvPr>
          <p:cNvSpPr txBox="1"/>
          <p:nvPr/>
        </p:nvSpPr>
        <p:spPr>
          <a:xfrm>
            <a:off x="736600" y="2476500"/>
            <a:ext cx="5118100" cy="254000"/>
          </a:xfrm>
          <a:prstGeom prst="rect">
            <a:avLst/>
          </a:prstGeom>
          <a:noFill/>
        </p:spPr>
        <p:txBody>
          <a:bodyPr vertOverflow="overflow" vert="horz" wrap="square" rtlCol="0" anchor="t">
            <a:noAutofit/>
          </a:bodyPr>
          <a:lstStyle/>
          <a:p>
            <a:pPr algn="l"/>
            <a:r>
              <a:rPr lang="en-US" sz="1000" b="1">
                <a:solidFill>
                  <a:srgbClr val="6B7280"/>
                </a:solidFill>
                <a:latin typeface="Calibri"/>
                <a:ea typeface="Calibri"/>
                <a:cs typeface="Calibri"/>
              </a:rPr>
              <a:t>Ring 2 — Communities validate and refer</a:t>
            </a:r>
          </a:p>
        </p:txBody>
      </p:sp>
      <p:sp>
        <p:nvSpPr>
          <p:cNvPr id="14" name="TextBox 13">
            <a:extLst>
              <a:ext uri="{FF2B5EF4-FFF2-40B4-BE49-F238E27FC236}">
                <a16:creationId xmlns:a16="http://schemas.microsoft.com/office/drawing/2014/main" id="{C87E0DC0-5AAB-41E6-B2F3-BFD95C33057C}"/>
              </a:ext>
            </a:extLst>
          </p:cNvPr>
          <p:cNvSpPr txBox="1"/>
          <p:nvPr/>
        </p:nvSpPr>
        <p:spPr>
          <a:xfrm>
            <a:off x="736600" y="2768600"/>
            <a:ext cx="5118100" cy="609600"/>
          </a:xfrm>
          <a:prstGeom prst="rect">
            <a:avLst/>
          </a:prstGeom>
          <a:noFill/>
        </p:spPr>
        <p:txBody>
          <a:bodyPr vertOverflow="overflow" vert="horz" wrap="square" rtlCol="0" anchor="t">
            <a:noAutofit/>
          </a:bodyPr>
          <a:lstStyle/>
          <a:p>
            <a:pPr algn="l"/>
            <a:r>
              <a:rPr lang="en-US" sz="1150" dirty="0">
                <a:solidFill>
                  <a:srgbClr val="1F2937"/>
                </a:solidFill>
                <a:latin typeface="Calibri"/>
                <a:ea typeface="Calibri"/>
                <a:cs typeface="Calibri"/>
              </a:rPr>
              <a:t>Trusted community messengers (example: PT, FR, IT, BE, DE, ES) pre-validate the product to their members.</a:t>
            </a:r>
          </a:p>
        </p:txBody>
      </p:sp>
      <p:sp>
        <p:nvSpPr>
          <p:cNvPr id="15" name="Oval 14">
            <a:extLst>
              <a:ext uri="{FF2B5EF4-FFF2-40B4-BE49-F238E27FC236}">
                <a16:creationId xmlns:a16="http://schemas.microsoft.com/office/drawing/2014/main" id="{08968BAB-8903-492B-9DCD-35BCF10A0B91}"/>
              </a:ext>
            </a:extLst>
          </p:cNvPr>
          <p:cNvSpPr/>
          <p:nvPr/>
        </p:nvSpPr>
        <p:spPr>
          <a:xfrm>
            <a:off x="533400" y="35687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469550DB-44C8-4517-B20C-2A2DA16C8330}"/>
              </a:ext>
            </a:extLst>
          </p:cNvPr>
          <p:cNvSpPr txBox="1"/>
          <p:nvPr/>
        </p:nvSpPr>
        <p:spPr>
          <a:xfrm>
            <a:off x="736600" y="3517900"/>
            <a:ext cx="5118100" cy="254000"/>
          </a:xfrm>
          <a:prstGeom prst="rect">
            <a:avLst/>
          </a:prstGeom>
          <a:noFill/>
        </p:spPr>
        <p:txBody>
          <a:bodyPr vertOverflow="overflow" vert="horz" wrap="square" rtlCol="0" anchor="t">
            <a:noAutofit/>
          </a:bodyPr>
          <a:lstStyle/>
          <a:p>
            <a:pPr algn="l"/>
            <a:r>
              <a:rPr lang="en-US" sz="1000" b="1" dirty="0">
                <a:solidFill>
                  <a:srgbClr val="6B7280"/>
                </a:solidFill>
                <a:latin typeface="Calibri"/>
                <a:ea typeface="Calibri"/>
                <a:cs typeface="Calibri"/>
              </a:rPr>
              <a:t>Expat media &amp; community hubs</a:t>
            </a:r>
          </a:p>
        </p:txBody>
      </p:sp>
      <p:sp>
        <p:nvSpPr>
          <p:cNvPr id="17" name="TextBox 16">
            <a:extLst>
              <a:ext uri="{FF2B5EF4-FFF2-40B4-BE49-F238E27FC236}">
                <a16:creationId xmlns:a16="http://schemas.microsoft.com/office/drawing/2014/main" id="{1F841305-A415-4C55-BCB3-2DB77586DC40}"/>
              </a:ext>
            </a:extLst>
          </p:cNvPr>
          <p:cNvSpPr txBox="1"/>
          <p:nvPr/>
        </p:nvSpPr>
        <p:spPr>
          <a:xfrm>
            <a:off x="736600" y="3810000"/>
            <a:ext cx="5118100" cy="609600"/>
          </a:xfrm>
          <a:prstGeom prst="rect">
            <a:avLst/>
          </a:prstGeom>
          <a:noFill/>
        </p:spPr>
        <p:txBody>
          <a:bodyPr vertOverflow="overflow" vert="horz" wrap="square" rtlCol="0" anchor="t">
            <a:noAutofit/>
          </a:bodyPr>
          <a:lstStyle/>
          <a:p>
            <a:pPr algn="l"/>
            <a:r>
              <a:rPr lang="en-US" sz="1150" dirty="0" err="1">
                <a:solidFill>
                  <a:srgbClr val="1F2937"/>
                </a:solidFill>
                <a:latin typeface="Calibri"/>
                <a:ea typeface="Calibri"/>
                <a:cs typeface="Calibri"/>
              </a:rPr>
              <a:t>PaperJam</a:t>
            </a:r>
            <a:r>
              <a:rPr lang="en-US" sz="1150" dirty="0">
                <a:solidFill>
                  <a:srgbClr val="1F2937"/>
                </a:solidFill>
                <a:latin typeface="Calibri"/>
                <a:ea typeface="Calibri"/>
                <a:cs typeface="Calibri"/>
              </a:rPr>
              <a:t>, </a:t>
            </a:r>
            <a:r>
              <a:rPr lang="en-US" sz="1150" dirty="0" err="1">
                <a:solidFill>
                  <a:srgbClr val="1F2937"/>
                </a:solidFill>
                <a:latin typeface="Calibri"/>
                <a:ea typeface="Calibri"/>
                <a:cs typeface="Calibri"/>
              </a:rPr>
              <a:t>L'Essentiel</a:t>
            </a:r>
            <a:r>
              <a:rPr lang="en-US" sz="1150" dirty="0">
                <a:solidFill>
                  <a:srgbClr val="1F2937"/>
                </a:solidFill>
                <a:latin typeface="Calibri"/>
                <a:ea typeface="Calibri"/>
                <a:cs typeface="Calibri"/>
              </a:rPr>
              <a:t>, </a:t>
            </a:r>
            <a:r>
              <a:rPr lang="en-US" sz="1150" dirty="0" err="1">
                <a:solidFill>
                  <a:srgbClr val="1F2937"/>
                </a:solidFill>
                <a:latin typeface="Calibri"/>
                <a:ea typeface="Calibri"/>
                <a:cs typeface="Calibri"/>
              </a:rPr>
              <a:t>LuxTimes</a:t>
            </a:r>
            <a:r>
              <a:rPr lang="en-US" sz="1150" dirty="0">
                <a:solidFill>
                  <a:srgbClr val="1F2937"/>
                </a:solidFill>
                <a:latin typeface="Calibri"/>
                <a:ea typeface="Calibri"/>
                <a:cs typeface="Calibri"/>
              </a:rPr>
              <a:t> features + newsletters drive inbound brand awareness at no cost.</a:t>
            </a:r>
          </a:p>
        </p:txBody>
      </p:sp>
      <p:sp>
        <p:nvSpPr>
          <p:cNvPr id="23" name="Rectangle 22">
            <a:extLst>
              <a:ext uri="{FF2B5EF4-FFF2-40B4-BE49-F238E27FC236}">
                <a16:creationId xmlns:a16="http://schemas.microsoft.com/office/drawing/2014/main" id="{A3806C73-8E9A-4ED9-9C57-FA1D8323A677}"/>
              </a:ext>
            </a:extLst>
          </p:cNvPr>
          <p:cNvSpPr/>
          <p:nvPr/>
        </p:nvSpPr>
        <p:spPr>
          <a:xfrm>
            <a:off x="6261100" y="914400"/>
            <a:ext cx="5676900" cy="4775200"/>
          </a:xfrm>
          <a:prstGeom prst="roundRect">
            <a:avLst>
              <a:gd name="adj" fmla="val 4000"/>
            </a:avLst>
          </a:prstGeom>
          <a:solidFill>
            <a:srgbClr val="EDF7F0"/>
          </a:solidFill>
          <a:ln w="12700" cap="flat" cmpd="sng" algn="ctr">
            <a:solidFill>
              <a:scrgbClr r="0" g="0" b="0"/>
            </a:solidFill>
            <a:prstDash val="solid"/>
            <a:miter lim="800000"/>
          </a:ln>
          <a:effectLst>
            <a:outerShdw blurRad="19050" dist="12700" dir="2700000" algn="bl" rotWithShape="0">
              <a:srgbClr val="000000">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673AAAE5-EF4C-4945-BAB9-8AE524A7B9C0}"/>
              </a:ext>
            </a:extLst>
          </p:cNvPr>
          <p:cNvSpPr txBox="1"/>
          <p:nvPr/>
        </p:nvSpPr>
        <p:spPr>
          <a:xfrm>
            <a:off x="6261100" y="914400"/>
            <a:ext cx="5676900" cy="457200"/>
          </a:xfrm>
          <a:prstGeom prst="rect">
            <a:avLst/>
          </a:prstGeom>
          <a:noFill/>
        </p:spPr>
        <p:txBody>
          <a:bodyPr vertOverflow="overflow" vert="horz" wrap="square" rtlCol="0" anchor="t">
            <a:noAutofit/>
          </a:bodyPr>
          <a:lstStyle/>
          <a:p>
            <a:pPr algn="ctr">
              <a:buNone/>
            </a:pPr>
            <a:r>
              <a:rPr lang="en-US" sz="1050" b="1" dirty="0">
                <a:solidFill>
                  <a:srgbClr val="FFFFFF"/>
                </a:solidFill>
              </a:rPr>
              <a:t>CHANNEL 2 — ONLINE PRESENCE &amp; DISCOVERY</a:t>
            </a:r>
          </a:p>
        </p:txBody>
      </p:sp>
      <p:sp>
        <p:nvSpPr>
          <p:cNvPr id="26" name="Oval 25">
            <a:extLst>
              <a:ext uri="{FF2B5EF4-FFF2-40B4-BE49-F238E27FC236}">
                <a16:creationId xmlns:a16="http://schemas.microsoft.com/office/drawing/2014/main" id="{A370EE4D-068F-400B-A514-43366D49B918}"/>
              </a:ext>
            </a:extLst>
          </p:cNvPr>
          <p:cNvSpPr/>
          <p:nvPr/>
        </p:nvSpPr>
        <p:spPr>
          <a:xfrm>
            <a:off x="6438900" y="14859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7448D943-90E8-4CDA-A082-C2C94B303DBC}"/>
              </a:ext>
            </a:extLst>
          </p:cNvPr>
          <p:cNvSpPr txBox="1"/>
          <p:nvPr/>
        </p:nvSpPr>
        <p:spPr>
          <a:xfrm>
            <a:off x="6642100" y="1435100"/>
            <a:ext cx="5118100" cy="254000"/>
          </a:xfrm>
          <a:prstGeom prst="rect">
            <a:avLst/>
          </a:prstGeom>
          <a:noFill/>
        </p:spPr>
        <p:txBody>
          <a:bodyPr vertOverflow="overflow" vert="horz" wrap="square" rtlCol="0" anchor="t">
            <a:noAutofit/>
          </a:bodyPr>
          <a:lstStyle/>
          <a:p>
            <a:pPr algn="l"/>
            <a:r>
              <a:rPr lang="en-US" sz="1000" b="1" dirty="0">
                <a:solidFill>
                  <a:srgbClr val="6B7280"/>
                </a:solidFill>
                <a:latin typeface="Calibri"/>
                <a:ea typeface="Calibri"/>
                <a:cs typeface="Calibri"/>
              </a:rPr>
              <a:t>LinkedIn — thought leadership &amp; expat groups</a:t>
            </a:r>
          </a:p>
        </p:txBody>
      </p:sp>
      <p:sp>
        <p:nvSpPr>
          <p:cNvPr id="28" name="TextBox 27">
            <a:extLst>
              <a:ext uri="{FF2B5EF4-FFF2-40B4-BE49-F238E27FC236}">
                <a16:creationId xmlns:a16="http://schemas.microsoft.com/office/drawing/2014/main" id="{614A2EDF-E1FF-4C14-8176-5494891C6EE7}"/>
              </a:ext>
            </a:extLst>
          </p:cNvPr>
          <p:cNvSpPr txBox="1"/>
          <p:nvPr/>
        </p:nvSpPr>
        <p:spPr>
          <a:xfrm>
            <a:off x="6642100" y="1727200"/>
            <a:ext cx="5118100" cy="609600"/>
          </a:xfrm>
          <a:prstGeom prst="rect">
            <a:avLst/>
          </a:prstGeom>
          <a:noFill/>
        </p:spPr>
        <p:txBody>
          <a:bodyPr vertOverflow="overflow" vert="horz" wrap="square" rtlCol="0" anchor="t">
            <a:noAutofit/>
          </a:bodyPr>
          <a:lstStyle/>
          <a:p>
            <a:pPr algn="l"/>
            <a:r>
              <a:rPr lang="en-US" sz="1150" dirty="0">
                <a:solidFill>
                  <a:srgbClr val="1F2937"/>
                </a:solidFill>
                <a:latin typeface="Calibri"/>
                <a:ea typeface="Calibri"/>
                <a:cs typeface="Calibri"/>
              </a:rPr>
              <a:t>Regular posts on cross-border pension rights, social security portability and expat admin. Target LU expat professional groups (28–45). Build credibility before asking for anything.</a:t>
            </a:r>
          </a:p>
        </p:txBody>
      </p:sp>
      <p:sp>
        <p:nvSpPr>
          <p:cNvPr id="29" name="Oval 28">
            <a:extLst>
              <a:ext uri="{FF2B5EF4-FFF2-40B4-BE49-F238E27FC236}">
                <a16:creationId xmlns:a16="http://schemas.microsoft.com/office/drawing/2014/main" id="{CA99B562-74B5-4074-8140-AD3C08D07CBD}"/>
              </a:ext>
            </a:extLst>
          </p:cNvPr>
          <p:cNvSpPr/>
          <p:nvPr/>
        </p:nvSpPr>
        <p:spPr>
          <a:xfrm>
            <a:off x="6438900" y="25273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3A9E860F-3C70-4E40-B05C-13B78AC813F2}"/>
              </a:ext>
            </a:extLst>
          </p:cNvPr>
          <p:cNvSpPr txBox="1"/>
          <p:nvPr/>
        </p:nvSpPr>
        <p:spPr>
          <a:xfrm>
            <a:off x="6642100" y="2476500"/>
            <a:ext cx="5118100" cy="254000"/>
          </a:xfrm>
          <a:prstGeom prst="rect">
            <a:avLst/>
          </a:prstGeom>
          <a:noFill/>
        </p:spPr>
        <p:txBody>
          <a:bodyPr vertOverflow="overflow" vert="horz" wrap="square" rtlCol="0" anchor="t">
            <a:noAutofit/>
          </a:bodyPr>
          <a:lstStyle/>
          <a:p>
            <a:pPr algn="l"/>
            <a:r>
              <a:rPr lang="en-US" sz="1000" b="1" dirty="0">
                <a:solidFill>
                  <a:srgbClr val="6B7280"/>
                </a:solidFill>
                <a:latin typeface="Calibri"/>
                <a:ea typeface="Calibri"/>
                <a:cs typeface="Calibri"/>
              </a:rPr>
              <a:t>Forums &amp; community spaces</a:t>
            </a:r>
          </a:p>
        </p:txBody>
      </p:sp>
      <p:sp>
        <p:nvSpPr>
          <p:cNvPr id="31" name="TextBox 30">
            <a:extLst>
              <a:ext uri="{FF2B5EF4-FFF2-40B4-BE49-F238E27FC236}">
                <a16:creationId xmlns:a16="http://schemas.microsoft.com/office/drawing/2014/main" id="{7A8DB79D-FF71-4BE8-811D-1A50CEEA995C}"/>
              </a:ext>
            </a:extLst>
          </p:cNvPr>
          <p:cNvSpPr txBox="1"/>
          <p:nvPr/>
        </p:nvSpPr>
        <p:spPr>
          <a:xfrm>
            <a:off x="6642100" y="2768600"/>
            <a:ext cx="5118100" cy="609600"/>
          </a:xfrm>
          <a:prstGeom prst="rect">
            <a:avLst/>
          </a:prstGeom>
          <a:noFill/>
        </p:spPr>
        <p:txBody>
          <a:bodyPr vertOverflow="overflow" vert="horz" wrap="square" rtlCol="0" anchor="t">
            <a:noAutofit/>
          </a:bodyPr>
          <a:lstStyle/>
          <a:p>
            <a:pPr algn="l"/>
            <a:r>
              <a:rPr lang="en-US" sz="1150" dirty="0">
                <a:solidFill>
                  <a:srgbClr val="1F2937"/>
                </a:solidFill>
                <a:latin typeface="Calibri"/>
                <a:ea typeface="Calibri"/>
                <a:cs typeface="Calibri"/>
              </a:rPr>
              <a:t>Active presence in LU expat Facebook groups, Reddit r/Luxembourg, </a:t>
            </a:r>
            <a:r>
              <a:rPr lang="en-US" sz="1150" dirty="0" err="1">
                <a:solidFill>
                  <a:srgbClr val="1F2937"/>
                </a:solidFill>
                <a:latin typeface="Calibri"/>
                <a:ea typeface="Calibri"/>
                <a:cs typeface="Calibri"/>
              </a:rPr>
              <a:t>Internations</a:t>
            </a:r>
            <a:r>
              <a:rPr lang="en-US" sz="1150" dirty="0">
                <a:solidFill>
                  <a:srgbClr val="1F2937"/>
                </a:solidFill>
                <a:latin typeface="Calibri"/>
                <a:ea typeface="Calibri"/>
                <a:cs typeface="Calibri"/>
              </a:rPr>
              <a:t>. Answer real questions — no hard sell. Link to app only when genuinely relevant.</a:t>
            </a:r>
          </a:p>
        </p:txBody>
      </p:sp>
      <p:sp>
        <p:nvSpPr>
          <p:cNvPr id="32" name="Oval 31">
            <a:extLst>
              <a:ext uri="{FF2B5EF4-FFF2-40B4-BE49-F238E27FC236}">
                <a16:creationId xmlns:a16="http://schemas.microsoft.com/office/drawing/2014/main" id="{C822B977-E4AE-4E2E-ACDF-E545D6AB6F0F}"/>
              </a:ext>
            </a:extLst>
          </p:cNvPr>
          <p:cNvSpPr/>
          <p:nvPr/>
        </p:nvSpPr>
        <p:spPr>
          <a:xfrm>
            <a:off x="6438900" y="35687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365B085C-D1C1-4042-8159-5C51EE36580F}"/>
              </a:ext>
            </a:extLst>
          </p:cNvPr>
          <p:cNvSpPr txBox="1"/>
          <p:nvPr/>
        </p:nvSpPr>
        <p:spPr>
          <a:xfrm>
            <a:off x="6642100" y="3517900"/>
            <a:ext cx="5118100" cy="254000"/>
          </a:xfrm>
          <a:prstGeom prst="rect">
            <a:avLst/>
          </a:prstGeom>
          <a:noFill/>
        </p:spPr>
        <p:txBody>
          <a:bodyPr vertOverflow="overflow" vert="horz" wrap="square" rtlCol="0" anchor="t">
            <a:noAutofit/>
          </a:bodyPr>
          <a:lstStyle/>
          <a:p>
            <a:pPr algn="l"/>
            <a:r>
              <a:rPr lang="en-US" sz="1000" b="1">
                <a:solidFill>
                  <a:srgbClr val="6B7280"/>
                </a:solidFill>
                <a:latin typeface="Calibri"/>
                <a:ea typeface="Calibri"/>
                <a:cs typeface="Calibri"/>
              </a:rPr>
              <a:t>Multilingual SEO — long-tail, low competition</a:t>
            </a:r>
          </a:p>
        </p:txBody>
      </p:sp>
      <p:sp>
        <p:nvSpPr>
          <p:cNvPr id="34" name="TextBox 33">
            <a:extLst>
              <a:ext uri="{FF2B5EF4-FFF2-40B4-BE49-F238E27FC236}">
                <a16:creationId xmlns:a16="http://schemas.microsoft.com/office/drawing/2014/main" id="{4D1E1D69-4861-406C-B636-BB14B7ADE34A}"/>
              </a:ext>
            </a:extLst>
          </p:cNvPr>
          <p:cNvSpPr txBox="1"/>
          <p:nvPr/>
        </p:nvSpPr>
        <p:spPr>
          <a:xfrm>
            <a:off x="6642100" y="3810000"/>
            <a:ext cx="5118100" cy="609600"/>
          </a:xfrm>
          <a:prstGeom prst="rect">
            <a:avLst/>
          </a:prstGeom>
          <a:noFill/>
        </p:spPr>
        <p:txBody>
          <a:bodyPr vertOverflow="overflow" vert="horz" wrap="square" rtlCol="0" anchor="t">
            <a:noAutofit/>
          </a:bodyPr>
          <a:lstStyle/>
          <a:p>
            <a:pPr algn="l"/>
            <a:r>
              <a:rPr lang="en-US" sz="1150">
                <a:solidFill>
                  <a:srgbClr val="1F2937"/>
                </a:solidFill>
                <a:latin typeface="Calibri"/>
                <a:ea typeface="Calibri"/>
                <a:cs typeface="Calibri"/>
              </a:rPr>
              <a:t>Targets high-intent queries: 'pension rights Luxembourg Portugal', 'rente expat France', 'seguridad social Luxembourg'. Content in PT, FR, ES, DE.</a:t>
            </a:r>
          </a:p>
        </p:txBody>
      </p:sp>
      <p:sp>
        <p:nvSpPr>
          <p:cNvPr id="35" name="Oval 34">
            <a:extLst>
              <a:ext uri="{FF2B5EF4-FFF2-40B4-BE49-F238E27FC236}">
                <a16:creationId xmlns:a16="http://schemas.microsoft.com/office/drawing/2014/main" id="{0B1E2DD6-51C5-45F4-A181-A380F01BA9E5}"/>
              </a:ext>
            </a:extLst>
          </p:cNvPr>
          <p:cNvSpPr/>
          <p:nvPr/>
        </p:nvSpPr>
        <p:spPr>
          <a:xfrm>
            <a:off x="6438900" y="4610100"/>
            <a:ext cx="127000" cy="127000"/>
          </a:xfrm>
          <a:prstGeom prst="ellipse">
            <a:avLst/>
          </a:prstGeom>
          <a:solidFill>
            <a:srgbClr val="C89A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AA0C9C12-449D-4198-9F4D-A5828B03F368}"/>
              </a:ext>
            </a:extLst>
          </p:cNvPr>
          <p:cNvSpPr txBox="1"/>
          <p:nvPr/>
        </p:nvSpPr>
        <p:spPr>
          <a:xfrm>
            <a:off x="6642100" y="4559300"/>
            <a:ext cx="5118100" cy="254000"/>
          </a:xfrm>
          <a:prstGeom prst="rect">
            <a:avLst/>
          </a:prstGeom>
          <a:noFill/>
        </p:spPr>
        <p:txBody>
          <a:bodyPr vertOverflow="overflow" vert="horz" wrap="square" rtlCol="0" anchor="t">
            <a:noAutofit/>
          </a:bodyPr>
          <a:lstStyle/>
          <a:p>
            <a:pPr algn="l"/>
            <a:r>
              <a:rPr lang="en-US" sz="1000" b="1">
                <a:solidFill>
                  <a:srgbClr val="6B7280"/>
                </a:solidFill>
                <a:latin typeface="Calibri"/>
                <a:ea typeface="Calibri"/>
                <a:cs typeface="Calibri"/>
              </a:rPr>
              <a:t>App store listings (Apple &amp; Google Play)</a:t>
            </a:r>
          </a:p>
        </p:txBody>
      </p:sp>
      <p:sp>
        <p:nvSpPr>
          <p:cNvPr id="37" name="TextBox 36">
            <a:extLst>
              <a:ext uri="{FF2B5EF4-FFF2-40B4-BE49-F238E27FC236}">
                <a16:creationId xmlns:a16="http://schemas.microsoft.com/office/drawing/2014/main" id="{A94C541E-A9CF-42CC-A8F6-A216F8188C34}"/>
              </a:ext>
            </a:extLst>
          </p:cNvPr>
          <p:cNvSpPr txBox="1"/>
          <p:nvPr/>
        </p:nvSpPr>
        <p:spPr>
          <a:xfrm>
            <a:off x="6642100" y="4851400"/>
            <a:ext cx="5118100" cy="609600"/>
          </a:xfrm>
          <a:prstGeom prst="rect">
            <a:avLst/>
          </a:prstGeom>
          <a:noFill/>
        </p:spPr>
        <p:txBody>
          <a:bodyPr vertOverflow="overflow" vert="horz" wrap="square" rtlCol="0" anchor="t">
            <a:noAutofit/>
          </a:bodyPr>
          <a:lstStyle/>
          <a:p>
            <a:pPr algn="l"/>
            <a:r>
              <a:rPr lang="en-US" sz="1150" dirty="0" err="1">
                <a:solidFill>
                  <a:srgbClr val="1F2937"/>
                </a:solidFill>
                <a:latin typeface="Calibri"/>
                <a:ea typeface="Calibri"/>
                <a:cs typeface="Calibri"/>
              </a:rPr>
              <a:t>Localised</a:t>
            </a:r>
            <a:r>
              <a:rPr lang="en-US" sz="1150" dirty="0">
                <a:solidFill>
                  <a:srgbClr val="1F2937"/>
                </a:solidFill>
                <a:latin typeface="Calibri"/>
                <a:ea typeface="Calibri"/>
                <a:cs typeface="Calibri"/>
              </a:rPr>
              <a:t> listings in PT, FR and ES with community-specific screenshots. Captures passive discovery from users already searching for solutions.</a:t>
            </a:r>
          </a:p>
        </p:txBody>
      </p:sp>
      <p:sp>
        <p:nvSpPr>
          <p:cNvPr id="21" name="Rectangle 20">
            <a:extLst>
              <a:ext uri="{FF2B5EF4-FFF2-40B4-BE49-F238E27FC236}">
                <a16:creationId xmlns:a16="http://schemas.microsoft.com/office/drawing/2014/main" id="{BC57ABC6-92E5-45C3-B13C-D16DE104AA4B}"/>
              </a:ext>
            </a:extLst>
          </p:cNvPr>
          <p:cNvSpPr/>
          <p:nvPr/>
        </p:nvSpPr>
        <p:spPr>
          <a:xfrm>
            <a:off x="355600" y="5765800"/>
            <a:ext cx="11480800" cy="12700"/>
          </a:xfrm>
          <a:prstGeom prst="rect">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A644849A-05BA-416D-91AC-D0A3B01B983E}"/>
              </a:ext>
            </a:extLst>
          </p:cNvPr>
          <p:cNvSpPr txBox="1"/>
          <p:nvPr/>
        </p:nvSpPr>
        <p:spPr>
          <a:xfrm>
            <a:off x="355600" y="5829300"/>
            <a:ext cx="11480800" cy="431800"/>
          </a:xfrm>
          <a:prstGeom prst="rect">
            <a:avLst/>
          </a:prstGeom>
          <a:noFill/>
        </p:spPr>
        <p:txBody>
          <a:bodyPr vertOverflow="overflow" vert="horz" wrap="square" rtlCol="0" anchor="t">
            <a:noAutofit/>
          </a:bodyPr>
          <a:lstStyle/>
          <a:p>
            <a:pPr algn="ctr">
              <a:buNone/>
            </a:pPr>
            <a:r>
              <a:rPr lang="en-US" sz="1100" i="1" dirty="0">
                <a:solidFill>
                  <a:srgbClr val="1F2937"/>
                </a:solidFill>
              </a:rPr>
              <a:t>Organic-first: we grow by earning trust before spending on acquisition — paid channels only once organic traction is proven.</a:t>
            </a:r>
          </a:p>
        </p:txBody>
      </p:sp>
      <p:sp>
        <p:nvSpPr>
          <p:cNvPr id="940" name="Dot4_CH1"/>
          <p:cNvSpPr>
            <a:spLocks noGrp="1"/>
          </p:cNvSpPr>
          <p:nvPr/>
        </p:nvSpPr>
        <p:spPr>
          <a:xfrm>
            <a:off x="533400" y="4610100"/>
            <a:ext cx="127000" cy="127000"/>
          </a:xfrm>
          <a:prstGeom prst="rect">
            <a:avLst/>
          </a:prstGeom>
          <a:solidFill>
            <a:srgbClr val="C89A2B"/>
          </a:solidFill>
          <a:ln>
            <a:noFill/>
          </a:ln>
        </p:spPr>
        <p:txBody>
          <a:bodyPr/>
          <a:lstStyle/>
          <a:p>
            <a:endParaRPr lang="en-US" dirty="0"/>
          </a:p>
        </p:txBody>
      </p:sp>
      <p:sp>
        <p:nvSpPr>
          <p:cNvPr id="941" name="Label4_CH1"/>
          <p:cNvSpPr/>
          <p:nvPr/>
        </p:nvSpPr>
        <p:spPr>
          <a:xfrm>
            <a:off x="736600" y="4559300"/>
            <a:ext cx="5118100" cy="254000"/>
          </a:xfrm>
          <a:prstGeom prst="rect">
            <a:avLst/>
          </a:prstGeom>
          <a:noFill/>
          <a:ln>
            <a:noFill/>
          </a:ln>
        </p:spPr>
        <p:txBody>
          <a:bodyPr/>
          <a:lstStyle/>
          <a:p>
            <a:pPr>
              <a:buNone/>
            </a:pPr>
            <a:r>
              <a:rPr lang="en-US" sz="1100" b="1" dirty="0">
                <a:solidFill>
                  <a:srgbClr val="0F2747"/>
                </a:solidFill>
              </a:rPr>
              <a:t>HR &amp; partner referrals</a:t>
            </a:r>
          </a:p>
        </p:txBody>
      </p:sp>
      <p:sp>
        <p:nvSpPr>
          <p:cNvPr id="942" name="Body4_CH1"/>
          <p:cNvSpPr/>
          <p:nvPr/>
        </p:nvSpPr>
        <p:spPr>
          <a:xfrm>
            <a:off x="736600" y="4851400"/>
            <a:ext cx="5118100" cy="609600"/>
          </a:xfrm>
          <a:prstGeom prst="rect">
            <a:avLst/>
          </a:prstGeom>
          <a:noFill/>
          <a:ln>
            <a:noFill/>
          </a:ln>
        </p:spPr>
        <p:txBody>
          <a:bodyPr/>
          <a:lstStyle/>
          <a:p>
            <a:pPr>
              <a:buNone/>
            </a:pPr>
            <a:r>
              <a:rPr lang="en-US" sz="1050" dirty="0">
                <a:solidFill>
                  <a:srgbClr val="1F2937"/>
                </a:solidFill>
              </a:rPr>
              <a:t>FEDIL HR, ArcelorMittal, BNP, EU Institutions refer app directly to new international hires during onboarding.</a:t>
            </a:r>
          </a:p>
        </p:txBody>
      </p:sp>
    </p:spTree>
    <p:extLst>
      <p:ext uri="{BB962C8B-B14F-4D97-AF65-F5344CB8AC3E}">
        <p14:creationId xmlns:p14="http://schemas.microsoft.com/office/powerpoint/2010/main" val="4174459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F2747"/>
          </a:solidFill>
          <a:ln w="12700">
            <a:solidFill>
              <a:srgbClr val="0F2747"/>
            </a:solidFill>
            <a:prstDash val="solid"/>
          </a:ln>
        </p:spPr>
        <p:txBody>
          <a:bodyPr/>
          <a:lstStyle/>
          <a:p>
            <a:endParaRPr lang="en-US"/>
          </a:p>
        </p:txBody>
      </p:sp>
      <p:sp>
        <p:nvSpPr>
          <p:cNvPr id="3" name="Text 1"/>
          <p:cNvSpPr/>
          <p:nvPr/>
        </p:nvSpPr>
        <p:spPr>
          <a:xfrm>
            <a:off x="411480" y="164592"/>
            <a:ext cx="8046720" cy="21945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Partnership Action Plan</a:t>
            </a:r>
            <a:endParaRPr lang="en-US" sz="2400" dirty="0"/>
          </a:p>
        </p:txBody>
      </p:sp>
      <p:sp>
        <p:nvSpPr>
          <p:cNvPr id="4" name="Text 2"/>
          <p:cNvSpPr/>
          <p:nvPr/>
        </p:nvSpPr>
        <p:spPr>
          <a:xfrm>
            <a:off x="411480" y="621792"/>
            <a:ext cx="10972800" cy="201168"/>
          </a:xfrm>
          <a:prstGeom prst="rect">
            <a:avLst/>
          </a:prstGeom>
          <a:noFill/>
          <a:ln/>
        </p:spPr>
        <p:txBody>
          <a:bodyPr wrap="square" lIns="0" tIns="0" rIns="0" bIns="0" rtlCol="0" anchor="ctr"/>
          <a:lstStyle/>
          <a:p>
            <a:pPr marL="0" indent="0">
              <a:buNone/>
            </a:pPr>
            <a:r>
              <a:rPr lang="en-US" sz="1050" dirty="0">
                <a:solidFill>
                  <a:srgbClr val="6B7280"/>
                </a:solidFill>
              </a:rPr>
              <a:t>Luxembourg-first sequencing: credibility anchors, community reach, and country expansion bridges</a:t>
            </a:r>
            <a:endParaRPr lang="en-US" sz="1050" dirty="0"/>
          </a:p>
        </p:txBody>
      </p:sp>
      <p:sp>
        <p:nvSpPr>
          <p:cNvPr id="5" name="Text 3"/>
          <p:cNvSpPr/>
          <p:nvPr/>
        </p:nvSpPr>
        <p:spPr>
          <a:xfrm>
            <a:off x="502920" y="1094706"/>
            <a:ext cx="3840480" cy="365760"/>
          </a:xfrm>
          <a:prstGeom prst="rect">
            <a:avLst/>
          </a:prstGeom>
          <a:noFill/>
          <a:ln/>
        </p:spPr>
        <p:txBody>
          <a:bodyPr wrap="square" lIns="0" tIns="0" rIns="0" bIns="0" rtlCol="0" anchor="ctr"/>
          <a:lstStyle/>
          <a:p>
            <a:pPr marL="0" indent="0">
              <a:buNone/>
            </a:pPr>
            <a:r>
              <a:rPr lang="en-US" sz="2000" b="1" dirty="0">
                <a:solidFill>
                  <a:srgbClr val="0F2747"/>
                </a:solidFill>
              </a:rPr>
              <a:t>How we sequence partnership outreach</a:t>
            </a:r>
            <a:endParaRPr lang="en-US" sz="2000" dirty="0"/>
          </a:p>
        </p:txBody>
      </p:sp>
      <p:sp>
        <p:nvSpPr>
          <p:cNvPr id="6" name="Text 4"/>
          <p:cNvSpPr/>
          <p:nvPr/>
        </p:nvSpPr>
        <p:spPr>
          <a:xfrm>
            <a:off x="566928" y="1643346"/>
            <a:ext cx="3749040" cy="731520"/>
          </a:xfrm>
          <a:prstGeom prst="rect">
            <a:avLst/>
          </a:prstGeom>
          <a:noFill/>
          <a:ln/>
        </p:spPr>
        <p:txBody>
          <a:bodyPr wrap="square" lIns="0" tIns="0" rIns="0" bIns="0" rtlCol="0" anchor="ctr"/>
          <a:lstStyle/>
          <a:p>
            <a:pPr marL="0" indent="0">
              <a:buNone/>
            </a:pPr>
            <a:r>
              <a:rPr lang="en-US" sz="1250" b="1" dirty="0">
                <a:solidFill>
                  <a:srgbClr val="C89A2B"/>
                </a:solidFill>
              </a:rPr>
              <a:t>1. </a:t>
            </a:r>
            <a:r>
              <a:rPr lang="en-US" sz="1250" dirty="0">
                <a:solidFill>
                  <a:srgbClr val="1F2937"/>
                </a:solidFill>
              </a:rPr>
              <a:t>Launch support first — Luxembourg institutions + France/Switzerland-linked partners for trust, visibility, and warm intros.</a:t>
            </a:r>
            <a:endParaRPr lang="en-US" sz="1250" dirty="0"/>
          </a:p>
        </p:txBody>
      </p:sp>
      <p:sp>
        <p:nvSpPr>
          <p:cNvPr id="7" name="Text 5"/>
          <p:cNvSpPr/>
          <p:nvPr/>
        </p:nvSpPr>
        <p:spPr>
          <a:xfrm>
            <a:off x="566928" y="2420586"/>
            <a:ext cx="3749040" cy="822960"/>
          </a:xfrm>
          <a:prstGeom prst="rect">
            <a:avLst/>
          </a:prstGeom>
          <a:noFill/>
          <a:ln/>
        </p:spPr>
        <p:txBody>
          <a:bodyPr wrap="square" lIns="0" tIns="0" rIns="0" bIns="0" rtlCol="0" anchor="ctr"/>
          <a:lstStyle/>
          <a:p>
            <a:pPr marL="0" indent="0">
              <a:buNone/>
            </a:pPr>
            <a:r>
              <a:rPr lang="en-US" sz="1250" b="1" dirty="0">
                <a:solidFill>
                  <a:srgbClr val="C89A2B"/>
                </a:solidFill>
              </a:rPr>
              <a:t>2. </a:t>
            </a:r>
            <a:r>
              <a:rPr lang="en-US" sz="1250" dirty="0">
                <a:solidFill>
                  <a:srgbClr val="1F2937"/>
                </a:solidFill>
              </a:rPr>
              <a:t>Customer reach second — use bilateral chambers, communities, and HR/startup channels to access target users in Luxembourg.</a:t>
            </a:r>
            <a:endParaRPr lang="en-US" sz="1250" dirty="0"/>
          </a:p>
        </p:txBody>
      </p:sp>
      <p:sp>
        <p:nvSpPr>
          <p:cNvPr id="8" name="Text 6"/>
          <p:cNvSpPr/>
          <p:nvPr/>
        </p:nvSpPr>
        <p:spPr>
          <a:xfrm>
            <a:off x="566928" y="3243546"/>
            <a:ext cx="3749040" cy="822960"/>
          </a:xfrm>
          <a:prstGeom prst="rect">
            <a:avLst/>
          </a:prstGeom>
          <a:noFill/>
          <a:ln/>
        </p:spPr>
        <p:txBody>
          <a:bodyPr wrap="square" lIns="0" tIns="0" rIns="0" bIns="0" rtlCol="0" anchor="ctr"/>
          <a:lstStyle/>
          <a:p>
            <a:pPr marL="0" indent="0">
              <a:buNone/>
            </a:pPr>
            <a:r>
              <a:rPr lang="en-US" sz="1250" b="1" dirty="0">
                <a:solidFill>
                  <a:srgbClr val="C89A2B"/>
                </a:solidFill>
              </a:rPr>
              <a:t>3. </a:t>
            </a:r>
            <a:r>
              <a:rPr lang="en-US" sz="1250" dirty="0">
                <a:solidFill>
                  <a:srgbClr val="1F2937"/>
                </a:solidFill>
              </a:rPr>
              <a:t>Expansion bridges last — country associations are activated only when aligned with the product rollout timeline.</a:t>
            </a:r>
            <a:endParaRPr lang="en-US" sz="1250" dirty="0"/>
          </a:p>
        </p:txBody>
      </p:sp>
      <p:sp>
        <p:nvSpPr>
          <p:cNvPr id="9" name="Shape 7"/>
          <p:cNvSpPr/>
          <p:nvPr/>
        </p:nvSpPr>
        <p:spPr>
          <a:xfrm>
            <a:off x="4526280" y="1051560"/>
            <a:ext cx="2331720" cy="4480560"/>
          </a:xfrm>
          <a:prstGeom prst="roundRect">
            <a:avLst>
              <a:gd name="adj" fmla="val 3922"/>
            </a:avLst>
          </a:prstGeom>
          <a:solidFill>
            <a:srgbClr val="EAF1FB"/>
          </a:solidFill>
          <a:ln w="12700">
            <a:solidFill>
              <a:srgbClr val="D9DEE7"/>
            </a:solidFill>
            <a:prstDash val="solid"/>
          </a:ln>
          <a:effectLst>
            <a:outerShdw blurRad="19050" dist="12700" dir="2700000" algn="bl" rotWithShape="0">
              <a:srgbClr val="000000">
                <a:alpha val="12000"/>
              </a:srgbClr>
            </a:outerShdw>
          </a:effectLst>
        </p:spPr>
        <p:txBody>
          <a:bodyPr/>
          <a:lstStyle/>
          <a:p>
            <a:endParaRPr lang="en-US" dirty="0"/>
          </a:p>
        </p:txBody>
      </p:sp>
      <p:sp>
        <p:nvSpPr>
          <p:cNvPr id="10" name="Shape 8"/>
          <p:cNvSpPr/>
          <p:nvPr/>
        </p:nvSpPr>
        <p:spPr>
          <a:xfrm>
            <a:off x="4663440" y="1216152"/>
            <a:ext cx="2057400" cy="256032"/>
          </a:xfrm>
          <a:prstGeom prst="roundRect">
            <a:avLst>
              <a:gd name="adj" fmla="val 28571"/>
            </a:avLst>
          </a:prstGeom>
          <a:solidFill>
            <a:srgbClr val="DCE8FA"/>
          </a:solidFill>
          <a:ln w="12700">
            <a:solidFill>
              <a:srgbClr val="DCE8FA"/>
            </a:solidFill>
            <a:prstDash val="solid"/>
          </a:ln>
        </p:spPr>
        <p:txBody>
          <a:bodyPr/>
          <a:lstStyle/>
          <a:p>
            <a:endParaRPr lang="en-US"/>
          </a:p>
        </p:txBody>
      </p:sp>
      <p:sp>
        <p:nvSpPr>
          <p:cNvPr id="11" name="Text 9"/>
          <p:cNvSpPr/>
          <p:nvPr/>
        </p:nvSpPr>
        <p:spPr>
          <a:xfrm>
            <a:off x="4736592" y="1271016"/>
            <a:ext cx="1911096" cy="128016"/>
          </a:xfrm>
          <a:prstGeom prst="rect">
            <a:avLst/>
          </a:prstGeom>
          <a:noFill/>
          <a:ln/>
        </p:spPr>
        <p:txBody>
          <a:bodyPr wrap="square" lIns="0" tIns="0" rIns="0" bIns="0" rtlCol="0" anchor="ctr"/>
          <a:lstStyle/>
          <a:p>
            <a:pPr marL="0" indent="0" algn="ctr">
              <a:buNone/>
            </a:pPr>
            <a:r>
              <a:rPr lang="en-US" sz="900" b="1" dirty="0">
                <a:solidFill>
                  <a:srgbClr val="0F2747"/>
                </a:solidFill>
              </a:rPr>
              <a:t>Logo power / trust</a:t>
            </a:r>
            <a:endParaRPr lang="en-US" sz="900" dirty="0"/>
          </a:p>
        </p:txBody>
      </p:sp>
      <p:sp>
        <p:nvSpPr>
          <p:cNvPr id="12" name="Text 10"/>
          <p:cNvSpPr/>
          <p:nvPr/>
        </p:nvSpPr>
        <p:spPr>
          <a:xfrm>
            <a:off x="4690872" y="1600200"/>
            <a:ext cx="2002536" cy="310896"/>
          </a:xfrm>
          <a:prstGeom prst="rect">
            <a:avLst/>
          </a:prstGeom>
          <a:noFill/>
          <a:ln/>
        </p:spPr>
        <p:txBody>
          <a:bodyPr wrap="square" lIns="0" tIns="0" rIns="0" bIns="0" rtlCol="0" anchor="ctr"/>
          <a:lstStyle/>
          <a:p>
            <a:pPr marL="0" indent="0" algn="ctr">
              <a:buNone/>
            </a:pPr>
            <a:r>
              <a:rPr lang="en-US" sz="1800" b="1" dirty="0">
                <a:solidFill>
                  <a:srgbClr val="0F2747"/>
                </a:solidFill>
              </a:rPr>
              <a:t>Credibility first</a:t>
            </a:r>
            <a:endParaRPr lang="en-US" sz="1800" dirty="0"/>
          </a:p>
        </p:txBody>
      </p:sp>
      <p:sp>
        <p:nvSpPr>
          <p:cNvPr id="13" name="Shape 11"/>
          <p:cNvSpPr/>
          <p:nvPr/>
        </p:nvSpPr>
        <p:spPr>
          <a:xfrm>
            <a:off x="4690872" y="2167128"/>
            <a:ext cx="73152" cy="73152"/>
          </a:xfrm>
          <a:prstGeom prst="ellipse">
            <a:avLst/>
          </a:prstGeom>
          <a:solidFill>
            <a:srgbClr val="C89A2B"/>
          </a:solidFill>
          <a:ln w="12700">
            <a:solidFill>
              <a:srgbClr val="C89A2B"/>
            </a:solidFill>
            <a:prstDash val="solid"/>
          </a:ln>
        </p:spPr>
        <p:txBody>
          <a:bodyPr/>
          <a:lstStyle/>
          <a:p>
            <a:endParaRPr lang="en-US"/>
          </a:p>
        </p:txBody>
      </p:sp>
      <p:sp>
        <p:nvSpPr>
          <p:cNvPr id="14" name="Text 12"/>
          <p:cNvSpPr/>
          <p:nvPr/>
        </p:nvSpPr>
        <p:spPr>
          <a:xfrm>
            <a:off x="4818888" y="2103120"/>
            <a:ext cx="1874520" cy="201168"/>
          </a:xfrm>
          <a:prstGeom prst="rect">
            <a:avLst/>
          </a:prstGeom>
          <a:noFill/>
          <a:ln/>
        </p:spPr>
        <p:txBody>
          <a:bodyPr wrap="square" lIns="0" tIns="0" rIns="0" bIns="0" rtlCol="0" anchor="ctr"/>
          <a:lstStyle/>
          <a:p>
            <a:pPr marL="0" indent="0">
              <a:buNone/>
            </a:pPr>
            <a:r>
              <a:rPr lang="en-US" sz="1150" dirty="0">
                <a:solidFill>
                  <a:srgbClr val="1F2937"/>
                </a:solidFill>
              </a:rPr>
              <a:t>Luxembourg institutions</a:t>
            </a:r>
            <a:endParaRPr lang="en-US" sz="1150" dirty="0"/>
          </a:p>
        </p:txBody>
      </p:sp>
      <p:sp>
        <p:nvSpPr>
          <p:cNvPr id="15" name="Shape 13"/>
          <p:cNvSpPr/>
          <p:nvPr/>
        </p:nvSpPr>
        <p:spPr>
          <a:xfrm>
            <a:off x="4690872" y="2578608"/>
            <a:ext cx="73152" cy="73152"/>
          </a:xfrm>
          <a:prstGeom prst="ellipse">
            <a:avLst/>
          </a:prstGeom>
          <a:solidFill>
            <a:srgbClr val="C89A2B"/>
          </a:solidFill>
          <a:ln w="12700">
            <a:solidFill>
              <a:srgbClr val="C89A2B"/>
            </a:solidFill>
            <a:prstDash val="solid"/>
          </a:ln>
        </p:spPr>
        <p:txBody>
          <a:bodyPr/>
          <a:lstStyle/>
          <a:p>
            <a:endParaRPr lang="en-US"/>
          </a:p>
        </p:txBody>
      </p:sp>
      <p:sp>
        <p:nvSpPr>
          <p:cNvPr id="16" name="Text 14"/>
          <p:cNvSpPr/>
          <p:nvPr/>
        </p:nvSpPr>
        <p:spPr>
          <a:xfrm>
            <a:off x="4818888" y="2514600"/>
            <a:ext cx="1874520" cy="201168"/>
          </a:xfrm>
          <a:prstGeom prst="rect">
            <a:avLst/>
          </a:prstGeom>
          <a:noFill/>
          <a:ln/>
        </p:spPr>
        <p:txBody>
          <a:bodyPr wrap="square" lIns="0" tIns="0" rIns="0" bIns="0" rtlCol="0" anchor="ctr"/>
          <a:lstStyle/>
          <a:p>
            <a:pPr marL="0" indent="0">
              <a:buNone/>
            </a:pPr>
            <a:r>
              <a:rPr lang="en-US" sz="1150" dirty="0">
                <a:solidFill>
                  <a:srgbClr val="1F2937"/>
                </a:solidFill>
              </a:rPr>
              <a:t>Major chambers &amp; hubs</a:t>
            </a:r>
            <a:endParaRPr lang="en-US" sz="1150" dirty="0"/>
          </a:p>
        </p:txBody>
      </p:sp>
      <p:sp>
        <p:nvSpPr>
          <p:cNvPr id="17" name="Shape 15"/>
          <p:cNvSpPr/>
          <p:nvPr/>
        </p:nvSpPr>
        <p:spPr>
          <a:xfrm>
            <a:off x="4690872" y="2990088"/>
            <a:ext cx="73152" cy="73152"/>
          </a:xfrm>
          <a:prstGeom prst="ellipse">
            <a:avLst/>
          </a:prstGeom>
          <a:solidFill>
            <a:srgbClr val="C89A2B"/>
          </a:solidFill>
          <a:ln w="12700">
            <a:solidFill>
              <a:srgbClr val="C89A2B"/>
            </a:solidFill>
            <a:prstDash val="solid"/>
          </a:ln>
        </p:spPr>
        <p:txBody>
          <a:bodyPr/>
          <a:lstStyle/>
          <a:p>
            <a:endParaRPr lang="en-US"/>
          </a:p>
        </p:txBody>
      </p:sp>
      <p:sp>
        <p:nvSpPr>
          <p:cNvPr id="18" name="Text 16"/>
          <p:cNvSpPr/>
          <p:nvPr/>
        </p:nvSpPr>
        <p:spPr>
          <a:xfrm>
            <a:off x="4818888" y="2926080"/>
            <a:ext cx="1874520" cy="201168"/>
          </a:xfrm>
          <a:prstGeom prst="rect">
            <a:avLst/>
          </a:prstGeom>
          <a:noFill/>
          <a:ln/>
        </p:spPr>
        <p:txBody>
          <a:bodyPr wrap="square" lIns="0" tIns="0" rIns="0" bIns="0" rtlCol="0" anchor="ctr"/>
          <a:lstStyle/>
          <a:p>
            <a:pPr marL="0" indent="0">
              <a:buNone/>
            </a:pPr>
            <a:r>
              <a:rPr lang="en-US" sz="1150" dirty="0">
                <a:solidFill>
                  <a:srgbClr val="1F2937"/>
                </a:solidFill>
              </a:rPr>
              <a:t>Media and ecosystem anchors</a:t>
            </a:r>
            <a:endParaRPr lang="en-US" sz="1150" dirty="0"/>
          </a:p>
        </p:txBody>
      </p:sp>
      <p:sp>
        <p:nvSpPr>
          <p:cNvPr id="19" name="Shape 17"/>
          <p:cNvSpPr/>
          <p:nvPr/>
        </p:nvSpPr>
        <p:spPr>
          <a:xfrm>
            <a:off x="4690872" y="3794760"/>
            <a:ext cx="2002536" cy="0"/>
          </a:xfrm>
          <a:prstGeom prst="line">
            <a:avLst/>
          </a:prstGeom>
          <a:noFill/>
          <a:ln w="12700">
            <a:solidFill>
              <a:srgbClr val="D9DEE7"/>
            </a:solidFill>
            <a:prstDash val="solid"/>
          </a:ln>
        </p:spPr>
        <p:txBody>
          <a:bodyPr/>
          <a:lstStyle/>
          <a:p>
            <a:endParaRPr lang="en-US"/>
          </a:p>
        </p:txBody>
      </p:sp>
      <p:sp>
        <p:nvSpPr>
          <p:cNvPr id="20" name="Text 18"/>
          <p:cNvSpPr/>
          <p:nvPr/>
        </p:nvSpPr>
        <p:spPr>
          <a:xfrm>
            <a:off x="4690872" y="3904488"/>
            <a:ext cx="2002536" cy="182880"/>
          </a:xfrm>
          <a:prstGeom prst="rect">
            <a:avLst/>
          </a:prstGeom>
          <a:noFill/>
          <a:ln/>
        </p:spPr>
        <p:txBody>
          <a:bodyPr wrap="square" lIns="0" tIns="0" rIns="0" bIns="0" rtlCol="0" anchor="ctr"/>
          <a:lstStyle/>
          <a:p>
            <a:pPr marL="0" indent="0">
              <a:buNone/>
            </a:pPr>
            <a:r>
              <a:rPr lang="en-US" sz="1000" b="1" dirty="0">
                <a:solidFill>
                  <a:srgbClr val="6B7280"/>
                </a:solidFill>
              </a:rPr>
              <a:t>Examples</a:t>
            </a:r>
            <a:endParaRPr lang="en-US" sz="1000" dirty="0"/>
          </a:p>
        </p:txBody>
      </p:sp>
      <p:sp>
        <p:nvSpPr>
          <p:cNvPr id="21" name="Text 19"/>
          <p:cNvSpPr/>
          <p:nvPr/>
        </p:nvSpPr>
        <p:spPr>
          <a:xfrm>
            <a:off x="4690872" y="4114800"/>
            <a:ext cx="2002536" cy="1005840"/>
          </a:xfrm>
          <a:prstGeom prst="rect">
            <a:avLst/>
          </a:prstGeom>
          <a:noFill/>
          <a:ln/>
        </p:spPr>
        <p:txBody>
          <a:bodyPr wrap="square" lIns="0" tIns="0" rIns="0" bIns="0" rtlCol="0" anchor="ctr">
            <a:normAutofit/>
          </a:bodyPr>
          <a:lstStyle/>
          <a:p>
            <a:pPr marL="0" indent="0">
              <a:buNone/>
            </a:pPr>
            <a:r>
              <a:rPr lang="en-US" sz="1080" dirty="0">
                <a:solidFill>
                  <a:srgbClr val="1F2937"/>
                </a:solidFill>
              </a:rPr>
              <a:t>Chambers, </a:t>
            </a:r>
            <a:r>
              <a:rPr lang="en-US" sz="1080" dirty="0" err="1">
                <a:solidFill>
                  <a:srgbClr val="1F2937"/>
                </a:solidFill>
              </a:rPr>
              <a:t>HoE</a:t>
            </a:r>
            <a:r>
              <a:rPr lang="en-US" sz="1080" dirty="0">
                <a:solidFill>
                  <a:srgbClr val="1F2937"/>
                </a:solidFill>
              </a:rPr>
              <a:t>, UEL, </a:t>
            </a:r>
            <a:r>
              <a:rPr lang="en-US" sz="1080" dirty="0" err="1">
                <a:solidFill>
                  <a:srgbClr val="1F2937"/>
                </a:solidFill>
              </a:rPr>
              <a:t>LHoFT</a:t>
            </a:r>
            <a:r>
              <a:rPr lang="en-US" sz="1080" dirty="0">
                <a:solidFill>
                  <a:srgbClr val="1F2937"/>
                </a:solidFill>
              </a:rPr>
              <a:t>, ABBL etc. </a:t>
            </a:r>
            <a:endParaRPr lang="en-US" sz="1080" dirty="0"/>
          </a:p>
        </p:txBody>
      </p:sp>
      <p:sp>
        <p:nvSpPr>
          <p:cNvPr id="22" name="Shape 20"/>
          <p:cNvSpPr/>
          <p:nvPr/>
        </p:nvSpPr>
        <p:spPr>
          <a:xfrm>
            <a:off x="7040880" y="1051560"/>
            <a:ext cx="2331720" cy="4480560"/>
          </a:xfrm>
          <a:prstGeom prst="roundRect">
            <a:avLst>
              <a:gd name="adj" fmla="val 3922"/>
            </a:avLst>
          </a:prstGeom>
          <a:solidFill>
            <a:srgbClr val="FBF6EA"/>
          </a:solidFill>
          <a:ln w="12700">
            <a:solidFill>
              <a:srgbClr val="D9DEE7"/>
            </a:solidFill>
            <a:prstDash val="solid"/>
          </a:ln>
          <a:effectLst>
            <a:outerShdw blurRad="19050" dist="12700" dir="2700000" algn="bl" rotWithShape="0">
              <a:srgbClr val="000000">
                <a:alpha val="12000"/>
              </a:srgbClr>
            </a:outerShdw>
          </a:effectLst>
        </p:spPr>
        <p:txBody>
          <a:bodyPr/>
          <a:lstStyle/>
          <a:p>
            <a:endParaRPr lang="en-US"/>
          </a:p>
        </p:txBody>
      </p:sp>
      <p:sp>
        <p:nvSpPr>
          <p:cNvPr id="23" name="Shape 21"/>
          <p:cNvSpPr/>
          <p:nvPr/>
        </p:nvSpPr>
        <p:spPr>
          <a:xfrm>
            <a:off x="7178040" y="1216152"/>
            <a:ext cx="2057400" cy="256032"/>
          </a:xfrm>
          <a:prstGeom prst="roundRect">
            <a:avLst>
              <a:gd name="adj" fmla="val 28571"/>
            </a:avLst>
          </a:prstGeom>
          <a:solidFill>
            <a:srgbClr val="F5E7BF"/>
          </a:solidFill>
          <a:ln w="12700">
            <a:solidFill>
              <a:srgbClr val="F5E7BF"/>
            </a:solidFill>
            <a:prstDash val="solid"/>
          </a:ln>
        </p:spPr>
        <p:txBody>
          <a:bodyPr/>
          <a:lstStyle/>
          <a:p>
            <a:endParaRPr lang="en-US"/>
          </a:p>
        </p:txBody>
      </p:sp>
      <p:sp>
        <p:nvSpPr>
          <p:cNvPr id="24" name="Text 22"/>
          <p:cNvSpPr/>
          <p:nvPr/>
        </p:nvSpPr>
        <p:spPr>
          <a:xfrm>
            <a:off x="7251192" y="1271016"/>
            <a:ext cx="1911096" cy="128016"/>
          </a:xfrm>
          <a:prstGeom prst="rect">
            <a:avLst/>
          </a:prstGeom>
          <a:noFill/>
          <a:ln/>
        </p:spPr>
        <p:txBody>
          <a:bodyPr wrap="square" lIns="0" tIns="0" rIns="0" bIns="0" rtlCol="0" anchor="ctr"/>
          <a:lstStyle/>
          <a:p>
            <a:pPr marL="0" indent="0" algn="ctr">
              <a:buNone/>
            </a:pPr>
            <a:r>
              <a:rPr lang="en-US" sz="900" b="1" dirty="0">
                <a:solidFill>
                  <a:srgbClr val="0F2747"/>
                </a:solidFill>
              </a:rPr>
              <a:t>Audience access</a:t>
            </a:r>
            <a:endParaRPr lang="en-US" sz="900" dirty="0"/>
          </a:p>
        </p:txBody>
      </p:sp>
      <p:sp>
        <p:nvSpPr>
          <p:cNvPr id="25" name="Text 23"/>
          <p:cNvSpPr/>
          <p:nvPr/>
        </p:nvSpPr>
        <p:spPr>
          <a:xfrm>
            <a:off x="7205472" y="1600200"/>
            <a:ext cx="2002536" cy="310896"/>
          </a:xfrm>
          <a:prstGeom prst="rect">
            <a:avLst/>
          </a:prstGeom>
          <a:noFill/>
          <a:ln/>
        </p:spPr>
        <p:txBody>
          <a:bodyPr wrap="square" lIns="0" tIns="0" rIns="0" bIns="0" rtlCol="0" anchor="ctr"/>
          <a:lstStyle/>
          <a:p>
            <a:pPr marL="0" indent="0" algn="ctr">
              <a:buNone/>
            </a:pPr>
            <a:r>
              <a:rPr lang="en-US" sz="1800" b="1" dirty="0">
                <a:solidFill>
                  <a:srgbClr val="0F2747"/>
                </a:solidFill>
              </a:rPr>
              <a:t>Customer reach</a:t>
            </a:r>
            <a:endParaRPr lang="en-US" sz="1800" dirty="0"/>
          </a:p>
        </p:txBody>
      </p:sp>
      <p:sp>
        <p:nvSpPr>
          <p:cNvPr id="26" name="Shape 24"/>
          <p:cNvSpPr/>
          <p:nvPr/>
        </p:nvSpPr>
        <p:spPr>
          <a:xfrm>
            <a:off x="7205472" y="2167128"/>
            <a:ext cx="73152" cy="73152"/>
          </a:xfrm>
          <a:prstGeom prst="ellipse">
            <a:avLst/>
          </a:prstGeom>
          <a:solidFill>
            <a:srgbClr val="C89A2B"/>
          </a:solidFill>
          <a:ln w="12700">
            <a:solidFill>
              <a:srgbClr val="C89A2B"/>
            </a:solidFill>
            <a:prstDash val="solid"/>
          </a:ln>
        </p:spPr>
        <p:txBody>
          <a:bodyPr/>
          <a:lstStyle/>
          <a:p>
            <a:endParaRPr lang="en-US"/>
          </a:p>
        </p:txBody>
      </p:sp>
      <p:sp>
        <p:nvSpPr>
          <p:cNvPr id="27" name="Text 25"/>
          <p:cNvSpPr/>
          <p:nvPr/>
        </p:nvSpPr>
        <p:spPr>
          <a:xfrm>
            <a:off x="7333488" y="2103120"/>
            <a:ext cx="1874520" cy="201168"/>
          </a:xfrm>
          <a:prstGeom prst="rect">
            <a:avLst/>
          </a:prstGeom>
          <a:noFill/>
          <a:ln/>
        </p:spPr>
        <p:txBody>
          <a:bodyPr wrap="square" lIns="0" tIns="0" rIns="0" bIns="0" rtlCol="0" anchor="ctr"/>
          <a:lstStyle/>
          <a:p>
            <a:pPr marL="0" indent="0">
              <a:buNone/>
            </a:pPr>
            <a:r>
              <a:rPr lang="en-US" sz="1150" dirty="0">
                <a:solidFill>
                  <a:srgbClr val="1F2937"/>
                </a:solidFill>
              </a:rPr>
              <a:t>Country communities in LU</a:t>
            </a:r>
            <a:endParaRPr lang="en-US" sz="1150" dirty="0"/>
          </a:p>
        </p:txBody>
      </p:sp>
      <p:sp>
        <p:nvSpPr>
          <p:cNvPr id="28" name="Shape 26"/>
          <p:cNvSpPr/>
          <p:nvPr/>
        </p:nvSpPr>
        <p:spPr>
          <a:xfrm>
            <a:off x="7205472" y="2578608"/>
            <a:ext cx="73152" cy="73152"/>
          </a:xfrm>
          <a:prstGeom prst="ellipse">
            <a:avLst/>
          </a:prstGeom>
          <a:solidFill>
            <a:srgbClr val="C89A2B"/>
          </a:solidFill>
          <a:ln w="12700">
            <a:solidFill>
              <a:srgbClr val="C89A2B"/>
            </a:solidFill>
            <a:prstDash val="solid"/>
          </a:ln>
        </p:spPr>
        <p:txBody>
          <a:bodyPr/>
          <a:lstStyle/>
          <a:p>
            <a:endParaRPr lang="en-US"/>
          </a:p>
        </p:txBody>
      </p:sp>
      <p:sp>
        <p:nvSpPr>
          <p:cNvPr id="29" name="Text 27"/>
          <p:cNvSpPr/>
          <p:nvPr/>
        </p:nvSpPr>
        <p:spPr>
          <a:xfrm>
            <a:off x="7333488" y="2514600"/>
            <a:ext cx="1874520" cy="201168"/>
          </a:xfrm>
          <a:prstGeom prst="rect">
            <a:avLst/>
          </a:prstGeom>
          <a:noFill/>
          <a:ln/>
        </p:spPr>
        <p:txBody>
          <a:bodyPr wrap="square" lIns="0" tIns="0" rIns="0" bIns="0" rtlCol="0" anchor="ctr"/>
          <a:lstStyle/>
          <a:p>
            <a:pPr marL="0" indent="0">
              <a:buNone/>
            </a:pPr>
            <a:r>
              <a:rPr lang="en-US" sz="1150" dirty="0">
                <a:solidFill>
                  <a:srgbClr val="1F2937"/>
                </a:solidFill>
              </a:rPr>
              <a:t>Bilateral chambers</a:t>
            </a:r>
            <a:endParaRPr lang="en-US" sz="1150" dirty="0"/>
          </a:p>
        </p:txBody>
      </p:sp>
      <p:sp>
        <p:nvSpPr>
          <p:cNvPr id="30" name="Shape 28"/>
          <p:cNvSpPr/>
          <p:nvPr/>
        </p:nvSpPr>
        <p:spPr>
          <a:xfrm>
            <a:off x="7205472" y="2990088"/>
            <a:ext cx="73152" cy="73152"/>
          </a:xfrm>
          <a:prstGeom prst="ellipse">
            <a:avLst/>
          </a:prstGeom>
          <a:solidFill>
            <a:srgbClr val="C89A2B"/>
          </a:solidFill>
          <a:ln w="12700">
            <a:solidFill>
              <a:srgbClr val="C89A2B"/>
            </a:solidFill>
            <a:prstDash val="solid"/>
          </a:ln>
        </p:spPr>
        <p:txBody>
          <a:bodyPr/>
          <a:lstStyle/>
          <a:p>
            <a:endParaRPr lang="en-US"/>
          </a:p>
        </p:txBody>
      </p:sp>
      <p:sp>
        <p:nvSpPr>
          <p:cNvPr id="31" name="Text 29"/>
          <p:cNvSpPr/>
          <p:nvPr/>
        </p:nvSpPr>
        <p:spPr>
          <a:xfrm>
            <a:off x="7333488" y="2926080"/>
            <a:ext cx="1874520" cy="201168"/>
          </a:xfrm>
          <a:prstGeom prst="rect">
            <a:avLst/>
          </a:prstGeom>
          <a:noFill/>
          <a:ln/>
        </p:spPr>
        <p:txBody>
          <a:bodyPr wrap="square" lIns="0" tIns="0" rIns="0" bIns="0" rtlCol="0" anchor="ctr"/>
          <a:lstStyle/>
          <a:p>
            <a:pPr marL="0" indent="0">
              <a:buNone/>
            </a:pPr>
            <a:r>
              <a:rPr lang="en-US" sz="1150" dirty="0">
                <a:solidFill>
                  <a:srgbClr val="1F2937"/>
                </a:solidFill>
              </a:rPr>
              <a:t>HR / startup / expat networks</a:t>
            </a:r>
            <a:endParaRPr lang="en-US" sz="1150" dirty="0"/>
          </a:p>
        </p:txBody>
      </p:sp>
      <p:sp>
        <p:nvSpPr>
          <p:cNvPr id="32" name="Shape 30"/>
          <p:cNvSpPr/>
          <p:nvPr/>
        </p:nvSpPr>
        <p:spPr>
          <a:xfrm>
            <a:off x="7205472" y="3794760"/>
            <a:ext cx="2002536" cy="0"/>
          </a:xfrm>
          <a:prstGeom prst="line">
            <a:avLst/>
          </a:prstGeom>
          <a:noFill/>
          <a:ln w="12700">
            <a:solidFill>
              <a:srgbClr val="D9DEE7"/>
            </a:solidFill>
            <a:prstDash val="solid"/>
          </a:ln>
        </p:spPr>
        <p:txBody>
          <a:bodyPr/>
          <a:lstStyle/>
          <a:p>
            <a:endParaRPr lang="en-US"/>
          </a:p>
        </p:txBody>
      </p:sp>
      <p:sp>
        <p:nvSpPr>
          <p:cNvPr id="33" name="Text 31"/>
          <p:cNvSpPr/>
          <p:nvPr/>
        </p:nvSpPr>
        <p:spPr>
          <a:xfrm>
            <a:off x="7205472" y="3904488"/>
            <a:ext cx="2002536" cy="182880"/>
          </a:xfrm>
          <a:prstGeom prst="rect">
            <a:avLst/>
          </a:prstGeom>
          <a:noFill/>
          <a:ln/>
        </p:spPr>
        <p:txBody>
          <a:bodyPr wrap="square" lIns="0" tIns="0" rIns="0" bIns="0" rtlCol="0" anchor="ctr"/>
          <a:lstStyle/>
          <a:p>
            <a:pPr marL="0" indent="0">
              <a:buNone/>
            </a:pPr>
            <a:r>
              <a:rPr lang="en-US" sz="1000" b="1" dirty="0">
                <a:solidFill>
                  <a:srgbClr val="6B7280"/>
                </a:solidFill>
              </a:rPr>
              <a:t>Examples</a:t>
            </a:r>
            <a:endParaRPr lang="en-US" sz="1000" dirty="0"/>
          </a:p>
        </p:txBody>
      </p:sp>
      <p:sp>
        <p:nvSpPr>
          <p:cNvPr id="34" name="Text 32"/>
          <p:cNvSpPr/>
          <p:nvPr/>
        </p:nvSpPr>
        <p:spPr>
          <a:xfrm>
            <a:off x="7205472" y="4114800"/>
            <a:ext cx="2002536" cy="1005840"/>
          </a:xfrm>
          <a:prstGeom prst="rect">
            <a:avLst/>
          </a:prstGeom>
          <a:noFill/>
          <a:ln/>
        </p:spPr>
        <p:txBody>
          <a:bodyPr wrap="square" lIns="0" tIns="0" rIns="0" bIns="0" rtlCol="0" anchor="ctr">
            <a:normAutofit/>
          </a:bodyPr>
          <a:lstStyle/>
          <a:p>
            <a:pPr marL="0" indent="0">
              <a:buNone/>
            </a:pPr>
            <a:r>
              <a:rPr lang="en-US" sz="1080" dirty="0">
                <a:solidFill>
                  <a:srgbClr val="1F2937"/>
                </a:solidFill>
              </a:rPr>
              <a:t>FR, CH Chamber, </a:t>
            </a:r>
            <a:r>
              <a:rPr lang="en-US" sz="1080" dirty="0" err="1">
                <a:solidFill>
                  <a:srgbClr val="1F2937"/>
                </a:solidFill>
              </a:rPr>
              <a:t>HRCommunity</a:t>
            </a:r>
            <a:r>
              <a:rPr lang="en-US" sz="1080" dirty="0">
                <a:solidFill>
                  <a:srgbClr val="1F2937"/>
                </a:solidFill>
              </a:rPr>
              <a:t>, FEDIL, </a:t>
            </a:r>
            <a:r>
              <a:rPr lang="en-US" sz="1080" dirty="0" err="1">
                <a:solidFill>
                  <a:srgbClr val="1F2937"/>
                </a:solidFill>
              </a:rPr>
              <a:t>HoST</a:t>
            </a:r>
            <a:r>
              <a:rPr lang="en-US" sz="1080" dirty="0">
                <a:solidFill>
                  <a:srgbClr val="1F2937"/>
                </a:solidFill>
              </a:rPr>
              <a:t>, ACA, CFA etc.</a:t>
            </a:r>
            <a:endParaRPr lang="en-US" sz="1080" dirty="0"/>
          </a:p>
        </p:txBody>
      </p:sp>
      <p:sp>
        <p:nvSpPr>
          <p:cNvPr id="35" name="Shape 33"/>
          <p:cNvSpPr/>
          <p:nvPr/>
        </p:nvSpPr>
        <p:spPr>
          <a:xfrm>
            <a:off x="9555480" y="1051560"/>
            <a:ext cx="2148840" cy="4480560"/>
          </a:xfrm>
          <a:prstGeom prst="roundRect">
            <a:avLst>
              <a:gd name="adj" fmla="val 4255"/>
            </a:avLst>
          </a:prstGeom>
          <a:solidFill>
            <a:srgbClr val="EDF7F0"/>
          </a:solidFill>
          <a:ln w="12700">
            <a:solidFill>
              <a:srgbClr val="D9DEE7"/>
            </a:solidFill>
            <a:prstDash val="solid"/>
          </a:ln>
          <a:effectLst>
            <a:outerShdw blurRad="19050" dist="12700" dir="2700000" algn="bl" rotWithShape="0">
              <a:srgbClr val="000000">
                <a:alpha val="12000"/>
              </a:srgbClr>
            </a:outerShdw>
          </a:effectLst>
        </p:spPr>
        <p:txBody>
          <a:bodyPr/>
          <a:lstStyle/>
          <a:p>
            <a:endParaRPr lang="en-US"/>
          </a:p>
        </p:txBody>
      </p:sp>
      <p:sp>
        <p:nvSpPr>
          <p:cNvPr id="36" name="Shape 34"/>
          <p:cNvSpPr/>
          <p:nvPr/>
        </p:nvSpPr>
        <p:spPr>
          <a:xfrm>
            <a:off x="9692640" y="1216152"/>
            <a:ext cx="1874520" cy="256032"/>
          </a:xfrm>
          <a:prstGeom prst="roundRect">
            <a:avLst>
              <a:gd name="adj" fmla="val 28571"/>
            </a:avLst>
          </a:prstGeom>
          <a:solidFill>
            <a:srgbClr val="D9F0DE"/>
          </a:solidFill>
          <a:ln w="12700">
            <a:solidFill>
              <a:srgbClr val="D9F0DE"/>
            </a:solidFill>
            <a:prstDash val="solid"/>
          </a:ln>
        </p:spPr>
        <p:txBody>
          <a:bodyPr/>
          <a:lstStyle/>
          <a:p>
            <a:endParaRPr lang="en-US"/>
          </a:p>
        </p:txBody>
      </p:sp>
      <p:sp>
        <p:nvSpPr>
          <p:cNvPr id="37" name="Text 35"/>
          <p:cNvSpPr/>
          <p:nvPr/>
        </p:nvSpPr>
        <p:spPr>
          <a:xfrm>
            <a:off x="9765792" y="1271016"/>
            <a:ext cx="1728216" cy="128016"/>
          </a:xfrm>
          <a:prstGeom prst="rect">
            <a:avLst/>
          </a:prstGeom>
          <a:noFill/>
          <a:ln/>
        </p:spPr>
        <p:txBody>
          <a:bodyPr wrap="square" lIns="0" tIns="0" rIns="0" bIns="0" rtlCol="0" anchor="ctr"/>
          <a:lstStyle/>
          <a:p>
            <a:pPr marL="0" indent="0" algn="ctr">
              <a:buNone/>
            </a:pPr>
            <a:r>
              <a:rPr lang="en-US" sz="900" b="1" dirty="0">
                <a:solidFill>
                  <a:srgbClr val="0F2747"/>
                </a:solidFill>
              </a:rPr>
              <a:t>Country timing</a:t>
            </a:r>
            <a:endParaRPr lang="en-US" sz="900" dirty="0"/>
          </a:p>
        </p:txBody>
      </p:sp>
      <p:sp>
        <p:nvSpPr>
          <p:cNvPr id="38" name="Text 36"/>
          <p:cNvSpPr/>
          <p:nvPr/>
        </p:nvSpPr>
        <p:spPr>
          <a:xfrm>
            <a:off x="9720072" y="1600200"/>
            <a:ext cx="1819656" cy="310896"/>
          </a:xfrm>
          <a:prstGeom prst="rect">
            <a:avLst/>
          </a:prstGeom>
          <a:noFill/>
          <a:ln/>
        </p:spPr>
        <p:txBody>
          <a:bodyPr wrap="square" lIns="0" tIns="0" rIns="0" bIns="0" rtlCol="0" anchor="ctr"/>
          <a:lstStyle/>
          <a:p>
            <a:pPr marL="0" indent="0" algn="ctr">
              <a:buNone/>
            </a:pPr>
            <a:r>
              <a:rPr lang="en-US" sz="1800" b="1" dirty="0">
                <a:solidFill>
                  <a:srgbClr val="0F2747"/>
                </a:solidFill>
              </a:rPr>
              <a:t>Expansion bridges</a:t>
            </a:r>
            <a:endParaRPr lang="en-US" sz="1800" dirty="0"/>
          </a:p>
        </p:txBody>
      </p:sp>
      <p:sp>
        <p:nvSpPr>
          <p:cNvPr id="39" name="Shape 37"/>
          <p:cNvSpPr/>
          <p:nvPr/>
        </p:nvSpPr>
        <p:spPr>
          <a:xfrm>
            <a:off x="9720072" y="2167128"/>
            <a:ext cx="73152" cy="73152"/>
          </a:xfrm>
          <a:prstGeom prst="ellipse">
            <a:avLst/>
          </a:prstGeom>
          <a:solidFill>
            <a:srgbClr val="C89A2B"/>
          </a:solidFill>
          <a:ln w="12700">
            <a:solidFill>
              <a:srgbClr val="C89A2B"/>
            </a:solidFill>
            <a:prstDash val="solid"/>
          </a:ln>
        </p:spPr>
        <p:txBody>
          <a:bodyPr/>
          <a:lstStyle/>
          <a:p>
            <a:endParaRPr lang="en-US"/>
          </a:p>
        </p:txBody>
      </p:sp>
      <p:sp>
        <p:nvSpPr>
          <p:cNvPr id="40" name="Text 38"/>
          <p:cNvSpPr/>
          <p:nvPr/>
        </p:nvSpPr>
        <p:spPr>
          <a:xfrm>
            <a:off x="9848088" y="2103120"/>
            <a:ext cx="1691640" cy="201168"/>
          </a:xfrm>
          <a:prstGeom prst="rect">
            <a:avLst/>
          </a:prstGeom>
          <a:noFill/>
          <a:ln/>
        </p:spPr>
        <p:txBody>
          <a:bodyPr wrap="square" lIns="0" tIns="0" rIns="0" bIns="0" rtlCol="0" anchor="ctr"/>
          <a:lstStyle/>
          <a:p>
            <a:pPr marL="0" indent="0">
              <a:buNone/>
            </a:pPr>
            <a:r>
              <a:rPr lang="en-US" sz="1150" dirty="0">
                <a:solidFill>
                  <a:srgbClr val="1F2937"/>
                </a:solidFill>
              </a:rPr>
              <a:t>Only when corridor is live</a:t>
            </a:r>
            <a:endParaRPr lang="en-US" sz="1150" dirty="0"/>
          </a:p>
        </p:txBody>
      </p:sp>
      <p:sp>
        <p:nvSpPr>
          <p:cNvPr id="41" name="Shape 39"/>
          <p:cNvSpPr/>
          <p:nvPr/>
        </p:nvSpPr>
        <p:spPr>
          <a:xfrm>
            <a:off x="9720072" y="2578608"/>
            <a:ext cx="73152" cy="73152"/>
          </a:xfrm>
          <a:prstGeom prst="ellipse">
            <a:avLst/>
          </a:prstGeom>
          <a:solidFill>
            <a:srgbClr val="C89A2B"/>
          </a:solidFill>
          <a:ln w="12700">
            <a:solidFill>
              <a:srgbClr val="C89A2B"/>
            </a:solidFill>
            <a:prstDash val="solid"/>
          </a:ln>
        </p:spPr>
        <p:txBody>
          <a:bodyPr/>
          <a:lstStyle/>
          <a:p>
            <a:endParaRPr lang="en-US"/>
          </a:p>
        </p:txBody>
      </p:sp>
      <p:sp>
        <p:nvSpPr>
          <p:cNvPr id="42" name="Text 40"/>
          <p:cNvSpPr/>
          <p:nvPr/>
        </p:nvSpPr>
        <p:spPr>
          <a:xfrm>
            <a:off x="9848088" y="2514600"/>
            <a:ext cx="1691640" cy="201168"/>
          </a:xfrm>
          <a:prstGeom prst="rect">
            <a:avLst/>
          </a:prstGeom>
          <a:noFill/>
          <a:ln/>
        </p:spPr>
        <p:txBody>
          <a:bodyPr wrap="square" lIns="0" tIns="0" rIns="0" bIns="0" rtlCol="0" anchor="ctr"/>
          <a:lstStyle/>
          <a:p>
            <a:pPr marL="0" indent="0">
              <a:buNone/>
            </a:pPr>
            <a:r>
              <a:rPr lang="en-US" sz="1150" dirty="0">
                <a:solidFill>
                  <a:srgbClr val="1F2937"/>
                </a:solidFill>
              </a:rPr>
              <a:t>Priority countries before backlog</a:t>
            </a:r>
            <a:endParaRPr lang="en-US" sz="1150" dirty="0"/>
          </a:p>
        </p:txBody>
      </p:sp>
      <p:sp>
        <p:nvSpPr>
          <p:cNvPr id="43" name="Shape 41"/>
          <p:cNvSpPr/>
          <p:nvPr/>
        </p:nvSpPr>
        <p:spPr>
          <a:xfrm>
            <a:off x="9720072" y="2990088"/>
            <a:ext cx="73152" cy="73152"/>
          </a:xfrm>
          <a:prstGeom prst="ellipse">
            <a:avLst/>
          </a:prstGeom>
          <a:solidFill>
            <a:srgbClr val="C89A2B"/>
          </a:solidFill>
          <a:ln w="12700">
            <a:solidFill>
              <a:srgbClr val="C89A2B"/>
            </a:solidFill>
            <a:prstDash val="solid"/>
          </a:ln>
        </p:spPr>
        <p:txBody>
          <a:bodyPr/>
          <a:lstStyle/>
          <a:p>
            <a:endParaRPr lang="en-US"/>
          </a:p>
        </p:txBody>
      </p:sp>
      <p:sp>
        <p:nvSpPr>
          <p:cNvPr id="44" name="Text 42"/>
          <p:cNvSpPr/>
          <p:nvPr/>
        </p:nvSpPr>
        <p:spPr>
          <a:xfrm>
            <a:off x="9848088" y="2926080"/>
            <a:ext cx="1691640" cy="201168"/>
          </a:xfrm>
          <a:prstGeom prst="rect">
            <a:avLst/>
          </a:prstGeom>
          <a:noFill/>
          <a:ln/>
        </p:spPr>
        <p:txBody>
          <a:bodyPr wrap="square" lIns="0" tIns="0" rIns="0" bIns="0" rtlCol="0" anchor="ctr"/>
          <a:lstStyle/>
          <a:p>
            <a:pPr marL="0" indent="0">
              <a:buNone/>
            </a:pPr>
            <a:r>
              <a:rPr lang="en-US" sz="1150" dirty="0">
                <a:solidFill>
                  <a:srgbClr val="1F2937"/>
                </a:solidFill>
              </a:rPr>
              <a:t>Defer lower-value logos</a:t>
            </a:r>
            <a:endParaRPr lang="en-US" sz="1150" dirty="0"/>
          </a:p>
        </p:txBody>
      </p:sp>
      <p:sp>
        <p:nvSpPr>
          <p:cNvPr id="45" name="Shape 43"/>
          <p:cNvSpPr/>
          <p:nvPr/>
        </p:nvSpPr>
        <p:spPr>
          <a:xfrm>
            <a:off x="9720072" y="3794760"/>
            <a:ext cx="1819656" cy="0"/>
          </a:xfrm>
          <a:prstGeom prst="line">
            <a:avLst/>
          </a:prstGeom>
          <a:noFill/>
          <a:ln w="12700">
            <a:solidFill>
              <a:srgbClr val="D9DEE7"/>
            </a:solidFill>
            <a:prstDash val="solid"/>
          </a:ln>
        </p:spPr>
        <p:txBody>
          <a:bodyPr/>
          <a:lstStyle/>
          <a:p>
            <a:endParaRPr lang="en-US"/>
          </a:p>
        </p:txBody>
      </p:sp>
      <p:sp>
        <p:nvSpPr>
          <p:cNvPr id="46" name="Text 44"/>
          <p:cNvSpPr/>
          <p:nvPr/>
        </p:nvSpPr>
        <p:spPr>
          <a:xfrm>
            <a:off x="9720072" y="3904488"/>
            <a:ext cx="1819656" cy="182880"/>
          </a:xfrm>
          <a:prstGeom prst="rect">
            <a:avLst/>
          </a:prstGeom>
          <a:noFill/>
          <a:ln/>
        </p:spPr>
        <p:txBody>
          <a:bodyPr wrap="square" lIns="0" tIns="0" rIns="0" bIns="0" rtlCol="0" anchor="ctr"/>
          <a:lstStyle/>
          <a:p>
            <a:pPr marL="0" indent="0">
              <a:buNone/>
            </a:pPr>
            <a:r>
              <a:rPr lang="en-US" sz="1000" b="1" dirty="0">
                <a:solidFill>
                  <a:srgbClr val="6B7280"/>
                </a:solidFill>
              </a:rPr>
              <a:t>Examples</a:t>
            </a:r>
            <a:endParaRPr lang="en-US" sz="1000" dirty="0"/>
          </a:p>
        </p:txBody>
      </p:sp>
      <p:sp>
        <p:nvSpPr>
          <p:cNvPr id="47" name="Text 45"/>
          <p:cNvSpPr/>
          <p:nvPr/>
        </p:nvSpPr>
        <p:spPr>
          <a:xfrm>
            <a:off x="9720072" y="4114800"/>
            <a:ext cx="1819656" cy="1005840"/>
          </a:xfrm>
          <a:prstGeom prst="rect">
            <a:avLst/>
          </a:prstGeom>
          <a:noFill/>
          <a:ln/>
        </p:spPr>
        <p:txBody>
          <a:bodyPr wrap="square" lIns="0" tIns="0" rIns="0" bIns="0" rtlCol="0" anchor="ctr">
            <a:normAutofit/>
          </a:bodyPr>
          <a:lstStyle/>
          <a:p>
            <a:pPr marL="0" indent="0">
              <a:buNone/>
            </a:pPr>
            <a:r>
              <a:rPr lang="en-US" sz="1080" dirty="0">
                <a:solidFill>
                  <a:srgbClr val="1F2937"/>
                </a:solidFill>
              </a:rPr>
              <a:t>PT,ES, UK, IT chambers of commerce </a:t>
            </a:r>
          </a:p>
        </p:txBody>
      </p:sp>
      <p:sp>
        <p:nvSpPr>
          <p:cNvPr id="48" name="Text 46"/>
          <p:cNvSpPr/>
          <p:nvPr/>
        </p:nvSpPr>
        <p:spPr>
          <a:xfrm>
            <a:off x="548640" y="5806440"/>
            <a:ext cx="11064240" cy="320040"/>
          </a:xfrm>
          <a:prstGeom prst="rect">
            <a:avLst/>
          </a:prstGeom>
          <a:noFill/>
          <a:ln/>
        </p:spPr>
        <p:txBody>
          <a:bodyPr wrap="square" lIns="0" tIns="0" rIns="0" bIns="0" rtlCol="0" anchor="ctr"/>
          <a:lstStyle/>
          <a:p>
            <a:pPr marL="0" indent="0" algn="ctr">
              <a:buNone/>
            </a:pPr>
            <a:r>
              <a:rPr lang="en-US" sz="1200" b="1" dirty="0">
                <a:solidFill>
                  <a:srgbClr val="0F2747"/>
                </a:solidFill>
              </a:rPr>
              <a:t>Decision rule: we contact partners in the order that maximizes launch credibility first, customer acquisition second, and corridor expansion only when timed to the roadmap.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F2747"/>
          </a:solidFill>
          <a:ln w="12700">
            <a:solidFill>
              <a:srgbClr val="0F2747"/>
            </a:solidFill>
            <a:prstDash val="solid"/>
          </a:ln>
        </p:spPr>
        <p:txBody>
          <a:bodyPr/>
          <a:lstStyle/>
          <a:p>
            <a:endParaRPr lang="en-US"/>
          </a:p>
        </p:txBody>
      </p:sp>
      <p:sp>
        <p:nvSpPr>
          <p:cNvPr id="3" name="Text 1"/>
          <p:cNvSpPr/>
          <p:nvPr/>
        </p:nvSpPr>
        <p:spPr>
          <a:xfrm>
            <a:off x="411480" y="164592"/>
            <a:ext cx="8046720" cy="21945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Partnership Rollout Timeline</a:t>
            </a:r>
            <a:endParaRPr lang="en-US" sz="2400" dirty="0"/>
          </a:p>
        </p:txBody>
      </p:sp>
      <p:sp>
        <p:nvSpPr>
          <p:cNvPr id="4" name="Text 2"/>
          <p:cNvSpPr/>
          <p:nvPr/>
        </p:nvSpPr>
        <p:spPr>
          <a:xfrm>
            <a:off x="411480" y="621792"/>
            <a:ext cx="10972800" cy="201168"/>
          </a:xfrm>
          <a:prstGeom prst="rect">
            <a:avLst/>
          </a:prstGeom>
          <a:noFill/>
          <a:ln/>
        </p:spPr>
        <p:txBody>
          <a:bodyPr wrap="square" lIns="0" tIns="0" rIns="0" bIns="0" rtlCol="0" anchor="ctr"/>
          <a:lstStyle/>
          <a:p>
            <a:pPr marL="0" indent="0">
              <a:buNone/>
            </a:pPr>
            <a:r>
              <a:rPr lang="en-US" sz="1050" dirty="0">
                <a:solidFill>
                  <a:srgbClr val="6B7280"/>
                </a:solidFill>
              </a:rPr>
              <a:t>Use the tracker as the working database; this slide shows only the execution sequence</a:t>
            </a:r>
            <a:endParaRPr lang="en-US" sz="1050" dirty="0"/>
          </a:p>
        </p:txBody>
      </p:sp>
      <p:sp>
        <p:nvSpPr>
          <p:cNvPr id="5" name="Shape 3"/>
          <p:cNvSpPr/>
          <p:nvPr/>
        </p:nvSpPr>
        <p:spPr>
          <a:xfrm>
            <a:off x="822960" y="3474720"/>
            <a:ext cx="10469880" cy="0"/>
          </a:xfrm>
          <a:prstGeom prst="line">
            <a:avLst/>
          </a:prstGeom>
          <a:noFill/>
          <a:ln w="12700">
            <a:solidFill>
              <a:srgbClr val="0F2747"/>
            </a:solidFill>
            <a:prstDash val="solid"/>
          </a:ln>
        </p:spPr>
        <p:txBody>
          <a:bodyPr/>
          <a:lstStyle/>
          <a:p>
            <a:endParaRPr lang="en-US"/>
          </a:p>
        </p:txBody>
      </p:sp>
      <p:sp>
        <p:nvSpPr>
          <p:cNvPr id="6" name="Shape 4"/>
          <p:cNvSpPr/>
          <p:nvPr/>
        </p:nvSpPr>
        <p:spPr>
          <a:xfrm>
            <a:off x="1371600" y="3474720"/>
            <a:ext cx="0" cy="0"/>
          </a:xfrm>
          <a:prstGeom prst="line">
            <a:avLst/>
          </a:prstGeom>
          <a:noFill/>
          <a:ln w="12700">
            <a:solidFill>
              <a:srgbClr val="0F2747"/>
            </a:solidFill>
            <a:prstDash val="solid"/>
          </a:ln>
        </p:spPr>
        <p:txBody>
          <a:bodyPr/>
          <a:lstStyle/>
          <a:p>
            <a:endParaRPr lang="en-US"/>
          </a:p>
        </p:txBody>
      </p:sp>
      <p:sp>
        <p:nvSpPr>
          <p:cNvPr id="7" name="Shape 5"/>
          <p:cNvSpPr/>
          <p:nvPr/>
        </p:nvSpPr>
        <p:spPr>
          <a:xfrm>
            <a:off x="1280160" y="3355848"/>
            <a:ext cx="182880" cy="182880"/>
          </a:xfrm>
          <a:prstGeom prst="ellipse">
            <a:avLst/>
          </a:prstGeom>
          <a:solidFill>
            <a:srgbClr val="C89A2B"/>
          </a:solidFill>
          <a:ln w="12700">
            <a:solidFill>
              <a:srgbClr val="0F2747"/>
            </a:solidFill>
            <a:prstDash val="solid"/>
          </a:ln>
        </p:spPr>
        <p:txBody>
          <a:bodyPr/>
          <a:lstStyle/>
          <a:p>
            <a:endParaRPr lang="en-US"/>
          </a:p>
        </p:txBody>
      </p:sp>
      <p:sp>
        <p:nvSpPr>
          <p:cNvPr id="8" name="Shape 6"/>
          <p:cNvSpPr/>
          <p:nvPr/>
        </p:nvSpPr>
        <p:spPr>
          <a:xfrm>
            <a:off x="914400" y="1417320"/>
            <a:ext cx="1920240" cy="1600200"/>
          </a:xfrm>
          <a:prstGeom prst="roundRect">
            <a:avLst>
              <a:gd name="adj" fmla="val 4571"/>
            </a:avLst>
          </a:prstGeom>
          <a:solidFill>
            <a:srgbClr val="EAF1FB"/>
          </a:solidFill>
          <a:ln w="12700">
            <a:solidFill>
              <a:srgbClr val="D9DEE7"/>
            </a:solidFill>
            <a:prstDash val="solid"/>
          </a:ln>
          <a:effectLst>
            <a:outerShdw blurRad="12700" dist="12700" dir="2700000" algn="bl" rotWithShape="0">
              <a:srgbClr val="000000">
                <a:alpha val="10000"/>
              </a:srgbClr>
            </a:outerShdw>
          </a:effectLst>
        </p:spPr>
        <p:txBody>
          <a:bodyPr/>
          <a:lstStyle/>
          <a:p>
            <a:endParaRPr lang="en-US"/>
          </a:p>
        </p:txBody>
      </p:sp>
      <p:sp>
        <p:nvSpPr>
          <p:cNvPr id="9" name="Shape 7"/>
          <p:cNvSpPr/>
          <p:nvPr/>
        </p:nvSpPr>
        <p:spPr>
          <a:xfrm>
            <a:off x="1042416" y="1554480"/>
            <a:ext cx="1664208" cy="256032"/>
          </a:xfrm>
          <a:prstGeom prst="roundRect">
            <a:avLst>
              <a:gd name="adj" fmla="val 28571"/>
            </a:avLst>
          </a:prstGeom>
          <a:solidFill>
            <a:srgbClr val="EAF1FB"/>
          </a:solidFill>
          <a:ln w="12700">
            <a:solidFill>
              <a:srgbClr val="EAF1FB"/>
            </a:solidFill>
            <a:prstDash val="solid"/>
          </a:ln>
        </p:spPr>
        <p:txBody>
          <a:bodyPr/>
          <a:lstStyle/>
          <a:p>
            <a:endParaRPr lang="en-US" dirty="0"/>
          </a:p>
        </p:txBody>
      </p:sp>
      <p:sp>
        <p:nvSpPr>
          <p:cNvPr id="10" name="Text 8"/>
          <p:cNvSpPr/>
          <p:nvPr/>
        </p:nvSpPr>
        <p:spPr>
          <a:xfrm>
            <a:off x="1115568" y="1609344"/>
            <a:ext cx="1517904" cy="128016"/>
          </a:xfrm>
          <a:prstGeom prst="rect">
            <a:avLst/>
          </a:prstGeom>
          <a:noFill/>
          <a:ln/>
        </p:spPr>
        <p:txBody>
          <a:bodyPr wrap="square" lIns="0" tIns="0" rIns="0" bIns="0" rtlCol="0" anchor="ctr"/>
          <a:lstStyle/>
          <a:p>
            <a:pPr marL="0" indent="0" algn="ctr">
              <a:buNone/>
            </a:pPr>
            <a:r>
              <a:rPr lang="en-US" sz="900" b="1" dirty="0">
                <a:solidFill>
                  <a:srgbClr val="0F2747"/>
                </a:solidFill>
              </a:rPr>
              <a:t>Weeks 1–4</a:t>
            </a:r>
            <a:endParaRPr lang="en-US" sz="900" dirty="0"/>
          </a:p>
        </p:txBody>
      </p:sp>
      <p:sp>
        <p:nvSpPr>
          <p:cNvPr id="11" name="Text 9"/>
          <p:cNvSpPr/>
          <p:nvPr/>
        </p:nvSpPr>
        <p:spPr>
          <a:xfrm>
            <a:off x="1051560" y="1874520"/>
            <a:ext cx="1645920" cy="256032"/>
          </a:xfrm>
          <a:prstGeom prst="rect">
            <a:avLst/>
          </a:prstGeom>
          <a:noFill/>
          <a:ln/>
        </p:spPr>
        <p:txBody>
          <a:bodyPr wrap="square" lIns="0" tIns="0" rIns="0" bIns="0" rtlCol="0" anchor="ctr"/>
          <a:lstStyle/>
          <a:p>
            <a:pPr marL="0" indent="0" algn="ctr">
              <a:buNone/>
            </a:pPr>
            <a:r>
              <a:rPr lang="en-US" sz="1600" b="1" dirty="0">
                <a:solidFill>
                  <a:srgbClr val="0F2747"/>
                </a:solidFill>
              </a:rPr>
              <a:t>Launch support</a:t>
            </a:r>
            <a:endParaRPr lang="en-US" sz="1600" dirty="0"/>
          </a:p>
        </p:txBody>
      </p:sp>
      <p:sp>
        <p:nvSpPr>
          <p:cNvPr id="12" name="Text 10"/>
          <p:cNvSpPr/>
          <p:nvPr/>
        </p:nvSpPr>
        <p:spPr>
          <a:xfrm>
            <a:off x="1051560" y="2157984"/>
            <a:ext cx="1645920" cy="182880"/>
          </a:xfrm>
          <a:prstGeom prst="rect">
            <a:avLst/>
          </a:prstGeom>
          <a:noFill/>
          <a:ln/>
        </p:spPr>
        <p:txBody>
          <a:bodyPr wrap="square" lIns="0" tIns="0" rIns="0" bIns="0" rtlCol="0" anchor="ctr"/>
          <a:lstStyle/>
          <a:p>
            <a:pPr marL="0" indent="0" algn="ctr">
              <a:buNone/>
            </a:pPr>
            <a:r>
              <a:rPr lang="en-US" sz="1050" b="1" dirty="0">
                <a:solidFill>
                  <a:srgbClr val="C89A2B"/>
                </a:solidFill>
              </a:rPr>
              <a:t>LU + FR + CH</a:t>
            </a:r>
            <a:endParaRPr lang="en-US" sz="1050" dirty="0"/>
          </a:p>
        </p:txBody>
      </p:sp>
      <p:sp>
        <p:nvSpPr>
          <p:cNvPr id="13" name="Text 11"/>
          <p:cNvSpPr/>
          <p:nvPr/>
        </p:nvSpPr>
        <p:spPr>
          <a:xfrm>
            <a:off x="1060704" y="2404872"/>
            <a:ext cx="1627632" cy="502920"/>
          </a:xfrm>
          <a:prstGeom prst="rect">
            <a:avLst/>
          </a:prstGeom>
          <a:noFill/>
          <a:ln/>
        </p:spPr>
        <p:txBody>
          <a:bodyPr wrap="square" lIns="0" tIns="0" rIns="0" bIns="0" rtlCol="0" anchor="ctr">
            <a:normAutofit fontScale="92500" lnSpcReduction="10000"/>
          </a:bodyPr>
          <a:lstStyle/>
          <a:p>
            <a:pPr marL="0" indent="0" algn="ctr">
              <a:buNone/>
            </a:pPr>
            <a:r>
              <a:rPr lang="en-US" sz="960" dirty="0">
                <a:solidFill>
                  <a:srgbClr val="1F2937"/>
                </a:solidFill>
              </a:rPr>
              <a:t>Luxembourg institutions</a:t>
            </a:r>
            <a:endParaRPr lang="en-US" sz="960" dirty="0"/>
          </a:p>
          <a:p>
            <a:pPr marL="0" indent="0" algn="ctr">
              <a:buNone/>
            </a:pPr>
            <a:r>
              <a:rPr lang="en-US" sz="960" dirty="0">
                <a:solidFill>
                  <a:srgbClr val="1F2937"/>
                </a:solidFill>
              </a:rPr>
              <a:t>France &amp; Switzerland-linked partners</a:t>
            </a:r>
            <a:endParaRPr lang="en-US" sz="960" dirty="0"/>
          </a:p>
          <a:p>
            <a:pPr marL="0" indent="0" algn="ctr">
              <a:buNone/>
            </a:pPr>
            <a:r>
              <a:rPr lang="en-US" sz="960" dirty="0">
                <a:solidFill>
                  <a:srgbClr val="1F2937"/>
                </a:solidFill>
              </a:rPr>
              <a:t>Goal: trust, visibility, warm intros</a:t>
            </a:r>
            <a:endParaRPr lang="en-US" sz="960" dirty="0"/>
          </a:p>
        </p:txBody>
      </p:sp>
      <p:sp>
        <p:nvSpPr>
          <p:cNvPr id="14" name="Shape 12"/>
          <p:cNvSpPr/>
          <p:nvPr/>
        </p:nvSpPr>
        <p:spPr>
          <a:xfrm>
            <a:off x="3520440" y="3474720"/>
            <a:ext cx="0" cy="0"/>
          </a:xfrm>
          <a:prstGeom prst="line">
            <a:avLst/>
          </a:prstGeom>
          <a:noFill/>
          <a:ln w="12700">
            <a:solidFill>
              <a:srgbClr val="0F2747"/>
            </a:solidFill>
            <a:prstDash val="solid"/>
          </a:ln>
        </p:spPr>
        <p:txBody>
          <a:bodyPr/>
          <a:lstStyle/>
          <a:p>
            <a:endParaRPr lang="en-US"/>
          </a:p>
        </p:txBody>
      </p:sp>
      <p:sp>
        <p:nvSpPr>
          <p:cNvPr id="15" name="Shape 13"/>
          <p:cNvSpPr/>
          <p:nvPr/>
        </p:nvSpPr>
        <p:spPr>
          <a:xfrm>
            <a:off x="3429000" y="3355848"/>
            <a:ext cx="182880" cy="182880"/>
          </a:xfrm>
          <a:prstGeom prst="ellipse">
            <a:avLst/>
          </a:prstGeom>
          <a:solidFill>
            <a:srgbClr val="C89A2B"/>
          </a:solidFill>
          <a:ln w="12700">
            <a:solidFill>
              <a:srgbClr val="0F2747"/>
            </a:solidFill>
            <a:prstDash val="solid"/>
          </a:ln>
        </p:spPr>
        <p:txBody>
          <a:bodyPr/>
          <a:lstStyle/>
          <a:p>
            <a:endParaRPr lang="en-US"/>
          </a:p>
        </p:txBody>
      </p:sp>
      <p:sp>
        <p:nvSpPr>
          <p:cNvPr id="16" name="Shape 14"/>
          <p:cNvSpPr/>
          <p:nvPr/>
        </p:nvSpPr>
        <p:spPr>
          <a:xfrm>
            <a:off x="3063240" y="1417320"/>
            <a:ext cx="1920240" cy="1600200"/>
          </a:xfrm>
          <a:prstGeom prst="roundRect">
            <a:avLst>
              <a:gd name="adj" fmla="val 4571"/>
            </a:avLst>
          </a:prstGeom>
          <a:solidFill>
            <a:srgbClr val="FBF6EA"/>
          </a:solidFill>
          <a:ln w="12700">
            <a:solidFill>
              <a:srgbClr val="D9DEE7"/>
            </a:solidFill>
            <a:prstDash val="solid"/>
          </a:ln>
          <a:effectLst>
            <a:outerShdw blurRad="12700" dist="12700" dir="2700000" algn="bl" rotWithShape="0">
              <a:srgbClr val="000000">
                <a:alpha val="10000"/>
              </a:srgbClr>
            </a:outerShdw>
          </a:effectLst>
        </p:spPr>
        <p:txBody>
          <a:bodyPr/>
          <a:lstStyle/>
          <a:p>
            <a:endParaRPr lang="en-US"/>
          </a:p>
        </p:txBody>
      </p:sp>
      <p:sp>
        <p:nvSpPr>
          <p:cNvPr id="17" name="Shape 15"/>
          <p:cNvSpPr/>
          <p:nvPr/>
        </p:nvSpPr>
        <p:spPr>
          <a:xfrm>
            <a:off x="3191256" y="1554480"/>
            <a:ext cx="1664208" cy="256032"/>
          </a:xfrm>
          <a:prstGeom prst="roundRect">
            <a:avLst>
              <a:gd name="adj" fmla="val 28571"/>
            </a:avLst>
          </a:prstGeom>
          <a:solidFill>
            <a:srgbClr val="FBF6EA"/>
          </a:solidFill>
          <a:ln w="12700">
            <a:solidFill>
              <a:srgbClr val="FBF6EA"/>
            </a:solidFill>
            <a:prstDash val="solid"/>
          </a:ln>
        </p:spPr>
        <p:txBody>
          <a:bodyPr/>
          <a:lstStyle/>
          <a:p>
            <a:endParaRPr lang="en-US"/>
          </a:p>
        </p:txBody>
      </p:sp>
      <p:sp>
        <p:nvSpPr>
          <p:cNvPr id="18" name="Text 16"/>
          <p:cNvSpPr/>
          <p:nvPr/>
        </p:nvSpPr>
        <p:spPr>
          <a:xfrm>
            <a:off x="3264408" y="1609344"/>
            <a:ext cx="1517904" cy="128016"/>
          </a:xfrm>
          <a:prstGeom prst="rect">
            <a:avLst/>
          </a:prstGeom>
          <a:noFill/>
          <a:ln/>
        </p:spPr>
        <p:txBody>
          <a:bodyPr wrap="square" lIns="0" tIns="0" rIns="0" bIns="0" rtlCol="0" anchor="ctr"/>
          <a:lstStyle/>
          <a:p>
            <a:pPr algn="ctr"/>
            <a:r>
              <a:rPr lang="en-US" sz="900" b="1" dirty="0">
                <a:solidFill>
                  <a:srgbClr val="0F2747"/>
                </a:solidFill>
              </a:rPr>
              <a:t>Weeks 11–12</a:t>
            </a:r>
            <a:endParaRPr lang="en-US" sz="900" dirty="0"/>
          </a:p>
        </p:txBody>
      </p:sp>
      <p:sp>
        <p:nvSpPr>
          <p:cNvPr id="19" name="Text 17"/>
          <p:cNvSpPr/>
          <p:nvPr/>
        </p:nvSpPr>
        <p:spPr>
          <a:xfrm>
            <a:off x="3200400" y="1874520"/>
            <a:ext cx="1645920" cy="256032"/>
          </a:xfrm>
          <a:prstGeom prst="rect">
            <a:avLst/>
          </a:prstGeom>
          <a:noFill/>
          <a:ln/>
        </p:spPr>
        <p:txBody>
          <a:bodyPr wrap="square" lIns="0" tIns="0" rIns="0" bIns="0" rtlCol="0" anchor="ctr"/>
          <a:lstStyle/>
          <a:p>
            <a:pPr algn="ctr"/>
            <a:r>
              <a:rPr lang="en-US" sz="1600" b="1" dirty="0">
                <a:solidFill>
                  <a:srgbClr val="0F2747"/>
                </a:solidFill>
              </a:rPr>
              <a:t>Portugal wave</a:t>
            </a:r>
            <a:endParaRPr lang="en-US" sz="1600" dirty="0"/>
          </a:p>
        </p:txBody>
      </p:sp>
      <p:sp>
        <p:nvSpPr>
          <p:cNvPr id="20" name="Text 18"/>
          <p:cNvSpPr/>
          <p:nvPr/>
        </p:nvSpPr>
        <p:spPr>
          <a:xfrm>
            <a:off x="3200400" y="2157984"/>
            <a:ext cx="1645920" cy="182880"/>
          </a:xfrm>
          <a:prstGeom prst="rect">
            <a:avLst/>
          </a:prstGeom>
          <a:noFill/>
          <a:ln/>
        </p:spPr>
        <p:txBody>
          <a:bodyPr wrap="square" lIns="0" tIns="0" rIns="0" bIns="0" rtlCol="0" anchor="ctr"/>
          <a:lstStyle/>
          <a:p>
            <a:pPr algn="ctr"/>
            <a:r>
              <a:rPr lang="en-US" sz="1050" b="1" dirty="0">
                <a:solidFill>
                  <a:srgbClr val="C89A2B"/>
                </a:solidFill>
              </a:rPr>
              <a:t>PT · Y1</a:t>
            </a:r>
            <a:endParaRPr lang="en-US" sz="1050" dirty="0"/>
          </a:p>
        </p:txBody>
      </p:sp>
      <p:sp>
        <p:nvSpPr>
          <p:cNvPr id="21" name="Text 19"/>
          <p:cNvSpPr/>
          <p:nvPr/>
        </p:nvSpPr>
        <p:spPr>
          <a:xfrm>
            <a:off x="3209544" y="2404872"/>
            <a:ext cx="1627632" cy="502920"/>
          </a:xfrm>
          <a:prstGeom prst="rect">
            <a:avLst/>
          </a:prstGeom>
          <a:noFill/>
          <a:ln/>
        </p:spPr>
        <p:txBody>
          <a:bodyPr wrap="square" lIns="0" tIns="0" rIns="0" bIns="0" rtlCol="0" anchor="ctr">
            <a:normAutofit/>
          </a:bodyPr>
          <a:lstStyle/>
          <a:p>
            <a:pPr algn="ctr"/>
            <a:r>
              <a:rPr lang="en-US" sz="960" dirty="0">
                <a:solidFill>
                  <a:srgbClr val="1F2937"/>
                </a:solidFill>
              </a:rPr>
              <a:t>Portugal-linked partners</a:t>
            </a:r>
            <a:endParaRPr lang="en-US" sz="960" dirty="0"/>
          </a:p>
          <a:p>
            <a:pPr algn="ctr"/>
            <a:r>
              <a:rPr lang="en-US" sz="960" dirty="0">
                <a:solidFill>
                  <a:srgbClr val="1F2937"/>
                </a:solidFill>
              </a:rPr>
              <a:t>Prepare first external corridor</a:t>
            </a:r>
            <a:endParaRPr lang="en-US" sz="960" dirty="0"/>
          </a:p>
          <a:p>
            <a:pPr algn="ctr"/>
            <a:r>
              <a:rPr lang="en-US" sz="960" dirty="0">
                <a:solidFill>
                  <a:srgbClr val="1F2937"/>
                </a:solidFill>
              </a:rPr>
              <a:t>Goal: PT community activation</a:t>
            </a:r>
            <a:endParaRPr lang="en-US" sz="960" dirty="0"/>
          </a:p>
        </p:txBody>
      </p:sp>
      <p:sp>
        <p:nvSpPr>
          <p:cNvPr id="22" name="Shape 20"/>
          <p:cNvSpPr/>
          <p:nvPr/>
        </p:nvSpPr>
        <p:spPr>
          <a:xfrm>
            <a:off x="5669280" y="3474720"/>
            <a:ext cx="0" cy="0"/>
          </a:xfrm>
          <a:prstGeom prst="line">
            <a:avLst/>
          </a:prstGeom>
          <a:noFill/>
          <a:ln w="12700">
            <a:solidFill>
              <a:srgbClr val="0F2747"/>
            </a:solidFill>
            <a:prstDash val="solid"/>
          </a:ln>
        </p:spPr>
        <p:txBody>
          <a:bodyPr/>
          <a:lstStyle/>
          <a:p>
            <a:endParaRPr lang="en-US"/>
          </a:p>
        </p:txBody>
      </p:sp>
      <p:sp>
        <p:nvSpPr>
          <p:cNvPr id="23" name="Shape 21"/>
          <p:cNvSpPr/>
          <p:nvPr/>
        </p:nvSpPr>
        <p:spPr>
          <a:xfrm>
            <a:off x="5577840" y="3355848"/>
            <a:ext cx="182880" cy="182880"/>
          </a:xfrm>
          <a:prstGeom prst="ellipse">
            <a:avLst/>
          </a:prstGeom>
          <a:solidFill>
            <a:srgbClr val="C89A2B"/>
          </a:solidFill>
          <a:ln w="12700">
            <a:solidFill>
              <a:srgbClr val="0F2747"/>
            </a:solidFill>
            <a:prstDash val="solid"/>
          </a:ln>
        </p:spPr>
        <p:txBody>
          <a:bodyPr/>
          <a:lstStyle/>
          <a:p>
            <a:endParaRPr lang="en-US"/>
          </a:p>
        </p:txBody>
      </p:sp>
      <p:sp>
        <p:nvSpPr>
          <p:cNvPr id="24" name="Shape 22"/>
          <p:cNvSpPr/>
          <p:nvPr/>
        </p:nvSpPr>
        <p:spPr>
          <a:xfrm>
            <a:off x="5212080" y="1417320"/>
            <a:ext cx="2011680" cy="1600200"/>
          </a:xfrm>
          <a:prstGeom prst="roundRect">
            <a:avLst>
              <a:gd name="adj" fmla="val 4571"/>
            </a:avLst>
          </a:prstGeom>
          <a:solidFill>
            <a:srgbClr val="FCE8E6"/>
          </a:solidFill>
          <a:ln w="12700">
            <a:solidFill>
              <a:srgbClr val="D9DEE7"/>
            </a:solidFill>
            <a:prstDash val="solid"/>
          </a:ln>
          <a:effectLst>
            <a:outerShdw blurRad="12700" dist="12700" dir="2700000" algn="bl" rotWithShape="0">
              <a:srgbClr val="000000">
                <a:alpha val="10000"/>
              </a:srgbClr>
            </a:outerShdw>
          </a:effectLst>
        </p:spPr>
        <p:txBody>
          <a:bodyPr/>
          <a:lstStyle/>
          <a:p>
            <a:endParaRPr lang="en-US" dirty="0"/>
          </a:p>
        </p:txBody>
      </p:sp>
      <p:sp>
        <p:nvSpPr>
          <p:cNvPr id="25" name="Shape 23"/>
          <p:cNvSpPr/>
          <p:nvPr/>
        </p:nvSpPr>
        <p:spPr>
          <a:xfrm>
            <a:off x="5340096" y="1554480"/>
            <a:ext cx="1755648" cy="256032"/>
          </a:xfrm>
          <a:prstGeom prst="roundRect">
            <a:avLst>
              <a:gd name="adj" fmla="val 28571"/>
            </a:avLst>
          </a:prstGeom>
          <a:solidFill>
            <a:srgbClr val="FCE8E6"/>
          </a:solidFill>
          <a:ln w="12700">
            <a:solidFill>
              <a:srgbClr val="FCE8E6"/>
            </a:solidFill>
            <a:prstDash val="solid"/>
          </a:ln>
        </p:spPr>
        <p:txBody>
          <a:bodyPr/>
          <a:lstStyle/>
          <a:p>
            <a:endParaRPr lang="en-US" dirty="0"/>
          </a:p>
        </p:txBody>
      </p:sp>
      <p:sp>
        <p:nvSpPr>
          <p:cNvPr id="26" name="Text 24"/>
          <p:cNvSpPr/>
          <p:nvPr/>
        </p:nvSpPr>
        <p:spPr>
          <a:xfrm>
            <a:off x="5413248" y="1609344"/>
            <a:ext cx="1609344" cy="128016"/>
          </a:xfrm>
          <a:prstGeom prst="rect">
            <a:avLst/>
          </a:prstGeom>
          <a:noFill/>
          <a:ln/>
        </p:spPr>
        <p:txBody>
          <a:bodyPr wrap="square" lIns="0" tIns="0" rIns="0" bIns="0" rtlCol="0" anchor="ctr"/>
          <a:lstStyle/>
          <a:p>
            <a:pPr marL="0" indent="0" algn="ctr">
              <a:buNone/>
            </a:pPr>
            <a:r>
              <a:rPr lang="en-US" sz="900" b="1" dirty="0">
                <a:solidFill>
                  <a:srgbClr val="0F2747"/>
                </a:solidFill>
              </a:rPr>
              <a:t>Weeks 19–20</a:t>
            </a:r>
            <a:endParaRPr lang="en-US" sz="900" dirty="0"/>
          </a:p>
        </p:txBody>
      </p:sp>
      <p:sp>
        <p:nvSpPr>
          <p:cNvPr id="27" name="Text 25"/>
          <p:cNvSpPr/>
          <p:nvPr/>
        </p:nvSpPr>
        <p:spPr>
          <a:xfrm>
            <a:off x="5349240" y="1874520"/>
            <a:ext cx="1737360" cy="256032"/>
          </a:xfrm>
          <a:prstGeom prst="rect">
            <a:avLst/>
          </a:prstGeom>
          <a:noFill/>
          <a:ln/>
        </p:spPr>
        <p:txBody>
          <a:bodyPr wrap="square" lIns="0" tIns="0" rIns="0" bIns="0" rtlCol="0" anchor="ctr"/>
          <a:lstStyle/>
          <a:p>
            <a:pPr algn="ctr"/>
            <a:r>
              <a:rPr lang="en-US" sz="1600" b="1" dirty="0">
                <a:solidFill>
                  <a:srgbClr val="0F2747"/>
                </a:solidFill>
              </a:rPr>
              <a:t>Spain wave</a:t>
            </a:r>
            <a:endParaRPr lang="en-US" sz="1600" dirty="0"/>
          </a:p>
        </p:txBody>
      </p:sp>
      <p:sp>
        <p:nvSpPr>
          <p:cNvPr id="28" name="Text 26"/>
          <p:cNvSpPr/>
          <p:nvPr/>
        </p:nvSpPr>
        <p:spPr>
          <a:xfrm>
            <a:off x="5349240" y="2157984"/>
            <a:ext cx="1737360" cy="182880"/>
          </a:xfrm>
          <a:prstGeom prst="rect">
            <a:avLst/>
          </a:prstGeom>
          <a:noFill/>
          <a:ln/>
        </p:spPr>
        <p:txBody>
          <a:bodyPr wrap="square" lIns="0" tIns="0" rIns="0" bIns="0" rtlCol="0" anchor="ctr"/>
          <a:lstStyle/>
          <a:p>
            <a:pPr algn="ctr"/>
            <a:r>
              <a:rPr lang="en-US" sz="1050" b="1" dirty="0">
                <a:solidFill>
                  <a:srgbClr val="C89A2B"/>
                </a:solidFill>
              </a:rPr>
              <a:t> ES  · Y1</a:t>
            </a:r>
            <a:endParaRPr lang="en-US" sz="1050" dirty="0"/>
          </a:p>
        </p:txBody>
      </p:sp>
      <p:sp>
        <p:nvSpPr>
          <p:cNvPr id="29" name="Text 27"/>
          <p:cNvSpPr/>
          <p:nvPr/>
        </p:nvSpPr>
        <p:spPr>
          <a:xfrm>
            <a:off x="5358384" y="2404872"/>
            <a:ext cx="1719072" cy="502920"/>
          </a:xfrm>
          <a:prstGeom prst="rect">
            <a:avLst/>
          </a:prstGeom>
          <a:noFill/>
          <a:ln/>
        </p:spPr>
        <p:txBody>
          <a:bodyPr wrap="square" lIns="0" tIns="0" rIns="0" bIns="0" rtlCol="0" anchor="ctr">
            <a:normAutofit/>
          </a:bodyPr>
          <a:lstStyle/>
          <a:p>
            <a:pPr marL="0" indent="0" algn="ctr">
              <a:buNone/>
            </a:pPr>
            <a:r>
              <a:rPr lang="en-US" sz="960" dirty="0">
                <a:solidFill>
                  <a:srgbClr val="1F2937"/>
                </a:solidFill>
              </a:rPr>
              <a:t>Spain-linked partners</a:t>
            </a:r>
            <a:endParaRPr lang="en-US" sz="960" dirty="0"/>
          </a:p>
          <a:p>
            <a:pPr algn="ctr"/>
            <a:r>
              <a:rPr lang="en-US" sz="960" dirty="0">
                <a:solidFill>
                  <a:srgbClr val="1F2937"/>
                </a:solidFill>
              </a:rPr>
              <a:t>Prepare next corridor</a:t>
            </a:r>
            <a:endParaRPr lang="en-US" sz="960" dirty="0"/>
          </a:p>
          <a:p>
            <a:pPr marL="0" indent="0" algn="ctr">
              <a:buNone/>
            </a:pPr>
            <a:r>
              <a:rPr lang="en-US" sz="960" dirty="0">
                <a:solidFill>
                  <a:srgbClr val="1F2937"/>
                </a:solidFill>
              </a:rPr>
              <a:t>Goal: ES community activation</a:t>
            </a:r>
            <a:endParaRPr lang="en-US" sz="960" dirty="0"/>
          </a:p>
        </p:txBody>
      </p:sp>
      <p:sp>
        <p:nvSpPr>
          <p:cNvPr id="30" name="Shape 28"/>
          <p:cNvSpPr/>
          <p:nvPr/>
        </p:nvSpPr>
        <p:spPr>
          <a:xfrm>
            <a:off x="7863840" y="3474720"/>
            <a:ext cx="0" cy="0"/>
          </a:xfrm>
          <a:prstGeom prst="line">
            <a:avLst/>
          </a:prstGeom>
          <a:noFill/>
          <a:ln w="12700">
            <a:solidFill>
              <a:srgbClr val="0F2747"/>
            </a:solidFill>
            <a:prstDash val="solid"/>
          </a:ln>
        </p:spPr>
        <p:txBody>
          <a:bodyPr/>
          <a:lstStyle/>
          <a:p>
            <a:endParaRPr lang="en-US"/>
          </a:p>
        </p:txBody>
      </p:sp>
      <p:sp>
        <p:nvSpPr>
          <p:cNvPr id="31" name="Shape 29"/>
          <p:cNvSpPr/>
          <p:nvPr/>
        </p:nvSpPr>
        <p:spPr>
          <a:xfrm>
            <a:off x="7772400" y="3355848"/>
            <a:ext cx="182880" cy="182880"/>
          </a:xfrm>
          <a:prstGeom prst="ellipse">
            <a:avLst/>
          </a:prstGeom>
          <a:solidFill>
            <a:srgbClr val="C89A2B"/>
          </a:solidFill>
          <a:ln w="12700">
            <a:solidFill>
              <a:srgbClr val="0F2747"/>
            </a:solidFill>
            <a:prstDash val="solid"/>
          </a:ln>
        </p:spPr>
        <p:txBody>
          <a:bodyPr/>
          <a:lstStyle/>
          <a:p>
            <a:endParaRPr lang="en-US"/>
          </a:p>
        </p:txBody>
      </p:sp>
      <p:sp>
        <p:nvSpPr>
          <p:cNvPr id="32" name="Shape 30"/>
          <p:cNvSpPr/>
          <p:nvPr/>
        </p:nvSpPr>
        <p:spPr>
          <a:xfrm>
            <a:off x="7406640" y="1417320"/>
            <a:ext cx="1828800" cy="1600200"/>
          </a:xfrm>
          <a:prstGeom prst="roundRect">
            <a:avLst>
              <a:gd name="adj" fmla="val 4571"/>
            </a:avLst>
          </a:prstGeom>
          <a:solidFill>
            <a:srgbClr val="EFE8FB"/>
          </a:solidFill>
          <a:ln w="12700">
            <a:solidFill>
              <a:srgbClr val="D9DEE7"/>
            </a:solidFill>
            <a:prstDash val="solid"/>
          </a:ln>
          <a:effectLst>
            <a:outerShdw blurRad="12700" dist="12700" dir="2700000" algn="bl" rotWithShape="0">
              <a:srgbClr val="000000">
                <a:alpha val="10000"/>
              </a:srgbClr>
            </a:outerShdw>
          </a:effectLst>
        </p:spPr>
        <p:txBody>
          <a:bodyPr/>
          <a:lstStyle/>
          <a:p>
            <a:endParaRPr lang="en-US"/>
          </a:p>
        </p:txBody>
      </p:sp>
      <p:sp>
        <p:nvSpPr>
          <p:cNvPr id="33" name="Shape 31"/>
          <p:cNvSpPr/>
          <p:nvPr/>
        </p:nvSpPr>
        <p:spPr>
          <a:xfrm>
            <a:off x="7534656" y="1554480"/>
            <a:ext cx="1572768" cy="256032"/>
          </a:xfrm>
          <a:prstGeom prst="roundRect">
            <a:avLst>
              <a:gd name="adj" fmla="val 28571"/>
            </a:avLst>
          </a:prstGeom>
          <a:solidFill>
            <a:srgbClr val="EFE8FB"/>
          </a:solidFill>
          <a:ln w="12700">
            <a:solidFill>
              <a:srgbClr val="EFE8FB"/>
            </a:solidFill>
            <a:prstDash val="solid"/>
          </a:ln>
        </p:spPr>
        <p:txBody>
          <a:bodyPr/>
          <a:lstStyle/>
          <a:p>
            <a:endParaRPr lang="en-US"/>
          </a:p>
        </p:txBody>
      </p:sp>
      <p:sp>
        <p:nvSpPr>
          <p:cNvPr id="34" name="Text 32"/>
          <p:cNvSpPr/>
          <p:nvPr/>
        </p:nvSpPr>
        <p:spPr>
          <a:xfrm>
            <a:off x="7607808" y="1609344"/>
            <a:ext cx="1426464" cy="128016"/>
          </a:xfrm>
          <a:prstGeom prst="rect">
            <a:avLst/>
          </a:prstGeom>
          <a:noFill/>
          <a:ln/>
        </p:spPr>
        <p:txBody>
          <a:bodyPr wrap="square" lIns="0" tIns="0" rIns="0" bIns="0" rtlCol="0" anchor="ctr"/>
          <a:lstStyle/>
          <a:p>
            <a:pPr marL="0" indent="0" algn="ctr">
              <a:buNone/>
            </a:pPr>
            <a:r>
              <a:rPr lang="en-US" sz="900" b="1" dirty="0">
                <a:solidFill>
                  <a:srgbClr val="0F2747"/>
                </a:solidFill>
              </a:rPr>
              <a:t>Weeks 27–28</a:t>
            </a:r>
            <a:endParaRPr lang="en-US" sz="900" dirty="0"/>
          </a:p>
        </p:txBody>
      </p:sp>
      <p:sp>
        <p:nvSpPr>
          <p:cNvPr id="35" name="Text 33"/>
          <p:cNvSpPr/>
          <p:nvPr/>
        </p:nvSpPr>
        <p:spPr>
          <a:xfrm>
            <a:off x="7543800" y="1874520"/>
            <a:ext cx="1554480" cy="256032"/>
          </a:xfrm>
          <a:prstGeom prst="rect">
            <a:avLst/>
          </a:prstGeom>
          <a:noFill/>
          <a:ln/>
        </p:spPr>
        <p:txBody>
          <a:bodyPr wrap="square" lIns="0" tIns="0" rIns="0" bIns="0" rtlCol="0" anchor="ctr"/>
          <a:lstStyle/>
          <a:p>
            <a:pPr marL="0" indent="0" algn="ctr">
              <a:buNone/>
            </a:pPr>
            <a:r>
              <a:rPr lang="en-US" sz="1600" b="1" dirty="0">
                <a:solidFill>
                  <a:srgbClr val="0F2747"/>
                </a:solidFill>
              </a:rPr>
              <a:t>UK wave</a:t>
            </a:r>
            <a:endParaRPr lang="en-US" sz="1600" dirty="0"/>
          </a:p>
        </p:txBody>
      </p:sp>
      <p:sp>
        <p:nvSpPr>
          <p:cNvPr id="36" name="Text 34"/>
          <p:cNvSpPr/>
          <p:nvPr/>
        </p:nvSpPr>
        <p:spPr>
          <a:xfrm>
            <a:off x="7543800" y="2157984"/>
            <a:ext cx="1554480" cy="182880"/>
          </a:xfrm>
          <a:prstGeom prst="rect">
            <a:avLst/>
          </a:prstGeom>
          <a:noFill/>
          <a:ln/>
        </p:spPr>
        <p:txBody>
          <a:bodyPr wrap="square" lIns="0" tIns="0" rIns="0" bIns="0" rtlCol="0" anchor="ctr"/>
          <a:lstStyle/>
          <a:p>
            <a:pPr marL="0" indent="0" algn="ctr">
              <a:buNone/>
            </a:pPr>
            <a:r>
              <a:rPr lang="en-US" sz="1050" b="1" dirty="0">
                <a:solidFill>
                  <a:srgbClr val="C89A2B"/>
                </a:solidFill>
              </a:rPr>
              <a:t>UK · Y1</a:t>
            </a:r>
            <a:endParaRPr lang="en-US" sz="1050" dirty="0"/>
          </a:p>
        </p:txBody>
      </p:sp>
      <p:sp>
        <p:nvSpPr>
          <p:cNvPr id="37" name="Text 35"/>
          <p:cNvSpPr/>
          <p:nvPr/>
        </p:nvSpPr>
        <p:spPr>
          <a:xfrm>
            <a:off x="7552944" y="2404872"/>
            <a:ext cx="1536192" cy="502920"/>
          </a:xfrm>
          <a:prstGeom prst="rect">
            <a:avLst/>
          </a:prstGeom>
          <a:noFill/>
          <a:ln/>
        </p:spPr>
        <p:txBody>
          <a:bodyPr wrap="square" lIns="0" tIns="0" rIns="0" bIns="0" rtlCol="0" anchor="ctr">
            <a:normAutofit/>
          </a:bodyPr>
          <a:lstStyle/>
          <a:p>
            <a:pPr marL="0" indent="0" algn="ctr">
              <a:buNone/>
            </a:pPr>
            <a:r>
              <a:rPr lang="en-US" sz="960" dirty="0">
                <a:solidFill>
                  <a:srgbClr val="1F2937"/>
                </a:solidFill>
              </a:rPr>
              <a:t>British Chamber</a:t>
            </a:r>
            <a:endParaRPr lang="en-US" sz="960" dirty="0"/>
          </a:p>
          <a:p>
            <a:pPr algn="ctr"/>
            <a:r>
              <a:rPr lang="en-US" sz="960" dirty="0">
                <a:solidFill>
                  <a:srgbClr val="1F2937"/>
                </a:solidFill>
              </a:rPr>
              <a:t>Prepare next corridor</a:t>
            </a:r>
            <a:endParaRPr lang="en-US" sz="960" dirty="0"/>
          </a:p>
          <a:p>
            <a:pPr algn="ctr"/>
            <a:r>
              <a:rPr lang="en-US" sz="960" dirty="0">
                <a:solidFill>
                  <a:srgbClr val="1F2937"/>
                </a:solidFill>
              </a:rPr>
              <a:t>Goal: market-entry bridge</a:t>
            </a:r>
            <a:endParaRPr lang="en-US" sz="960" dirty="0"/>
          </a:p>
        </p:txBody>
      </p:sp>
      <p:sp>
        <p:nvSpPr>
          <p:cNvPr id="38" name="Shape 36"/>
          <p:cNvSpPr/>
          <p:nvPr/>
        </p:nvSpPr>
        <p:spPr>
          <a:xfrm>
            <a:off x="9875520" y="3474720"/>
            <a:ext cx="0" cy="0"/>
          </a:xfrm>
          <a:prstGeom prst="line">
            <a:avLst/>
          </a:prstGeom>
          <a:noFill/>
          <a:ln w="12700">
            <a:solidFill>
              <a:srgbClr val="0F2747"/>
            </a:solidFill>
            <a:prstDash val="solid"/>
          </a:ln>
        </p:spPr>
        <p:txBody>
          <a:bodyPr/>
          <a:lstStyle/>
          <a:p>
            <a:endParaRPr lang="en-US"/>
          </a:p>
        </p:txBody>
      </p:sp>
      <p:sp>
        <p:nvSpPr>
          <p:cNvPr id="39" name="Shape 37"/>
          <p:cNvSpPr/>
          <p:nvPr/>
        </p:nvSpPr>
        <p:spPr>
          <a:xfrm>
            <a:off x="9784080" y="3355848"/>
            <a:ext cx="182880" cy="182880"/>
          </a:xfrm>
          <a:prstGeom prst="ellipse">
            <a:avLst/>
          </a:prstGeom>
          <a:solidFill>
            <a:srgbClr val="C89A2B"/>
          </a:solidFill>
          <a:ln w="12700">
            <a:solidFill>
              <a:srgbClr val="0F2747"/>
            </a:solidFill>
            <a:prstDash val="solid"/>
          </a:ln>
        </p:spPr>
        <p:txBody>
          <a:bodyPr/>
          <a:lstStyle/>
          <a:p>
            <a:endParaRPr lang="en-US"/>
          </a:p>
        </p:txBody>
      </p:sp>
      <p:sp>
        <p:nvSpPr>
          <p:cNvPr id="40" name="Shape 38"/>
          <p:cNvSpPr/>
          <p:nvPr/>
        </p:nvSpPr>
        <p:spPr>
          <a:xfrm>
            <a:off x="9418320" y="1417320"/>
            <a:ext cx="1828800" cy="1600200"/>
          </a:xfrm>
          <a:prstGeom prst="roundRect">
            <a:avLst>
              <a:gd name="adj" fmla="val 4571"/>
            </a:avLst>
          </a:prstGeom>
          <a:solidFill>
            <a:srgbClr val="EDF7F0"/>
          </a:solidFill>
          <a:ln w="12700">
            <a:solidFill>
              <a:srgbClr val="D9DEE7"/>
            </a:solidFill>
            <a:prstDash val="solid"/>
          </a:ln>
          <a:effectLst>
            <a:outerShdw blurRad="12700" dist="12700" dir="2700000" algn="bl" rotWithShape="0">
              <a:srgbClr val="000000">
                <a:alpha val="10000"/>
              </a:srgbClr>
            </a:outerShdw>
          </a:effectLst>
        </p:spPr>
        <p:txBody>
          <a:bodyPr/>
          <a:lstStyle/>
          <a:p>
            <a:endParaRPr lang="en-US"/>
          </a:p>
        </p:txBody>
      </p:sp>
      <p:sp>
        <p:nvSpPr>
          <p:cNvPr id="41" name="Shape 39"/>
          <p:cNvSpPr/>
          <p:nvPr/>
        </p:nvSpPr>
        <p:spPr>
          <a:xfrm>
            <a:off x="9546336" y="1554480"/>
            <a:ext cx="1572768" cy="256032"/>
          </a:xfrm>
          <a:prstGeom prst="roundRect">
            <a:avLst>
              <a:gd name="adj" fmla="val 28571"/>
            </a:avLst>
          </a:prstGeom>
          <a:solidFill>
            <a:srgbClr val="EDF7F0"/>
          </a:solidFill>
          <a:ln w="12700">
            <a:solidFill>
              <a:srgbClr val="EDF7F0"/>
            </a:solidFill>
            <a:prstDash val="solid"/>
          </a:ln>
        </p:spPr>
        <p:txBody>
          <a:bodyPr/>
          <a:lstStyle/>
          <a:p>
            <a:endParaRPr lang="en-US"/>
          </a:p>
        </p:txBody>
      </p:sp>
      <p:sp>
        <p:nvSpPr>
          <p:cNvPr id="42" name="Text 40"/>
          <p:cNvSpPr/>
          <p:nvPr/>
        </p:nvSpPr>
        <p:spPr>
          <a:xfrm>
            <a:off x="9619488" y="1609344"/>
            <a:ext cx="1426464" cy="128016"/>
          </a:xfrm>
          <a:prstGeom prst="rect">
            <a:avLst/>
          </a:prstGeom>
          <a:noFill/>
          <a:ln/>
        </p:spPr>
        <p:txBody>
          <a:bodyPr wrap="square" lIns="0" tIns="0" rIns="0" bIns="0" rtlCol="0" anchor="ctr"/>
          <a:lstStyle/>
          <a:p>
            <a:pPr marL="0" indent="0" algn="ctr">
              <a:buNone/>
            </a:pPr>
            <a:r>
              <a:rPr lang="en-US" sz="900" b="1" dirty="0">
                <a:solidFill>
                  <a:srgbClr val="0F2747"/>
                </a:solidFill>
              </a:rPr>
              <a:t>Weeks 35–36</a:t>
            </a:r>
            <a:endParaRPr lang="en-US" sz="900" dirty="0"/>
          </a:p>
        </p:txBody>
      </p:sp>
      <p:sp>
        <p:nvSpPr>
          <p:cNvPr id="43" name="Text 41"/>
          <p:cNvSpPr/>
          <p:nvPr/>
        </p:nvSpPr>
        <p:spPr>
          <a:xfrm>
            <a:off x="9555480" y="1874520"/>
            <a:ext cx="1554480" cy="256032"/>
          </a:xfrm>
          <a:prstGeom prst="rect">
            <a:avLst/>
          </a:prstGeom>
          <a:noFill/>
          <a:ln/>
        </p:spPr>
        <p:txBody>
          <a:bodyPr wrap="square" lIns="0" tIns="0" rIns="0" bIns="0" rtlCol="0" anchor="ctr"/>
          <a:lstStyle/>
          <a:p>
            <a:pPr marL="0" indent="0" algn="ctr">
              <a:buNone/>
            </a:pPr>
            <a:r>
              <a:rPr lang="en-US" sz="1600" b="1" dirty="0">
                <a:solidFill>
                  <a:srgbClr val="0F2747"/>
                </a:solidFill>
              </a:rPr>
              <a:t>Italy wave</a:t>
            </a:r>
            <a:endParaRPr lang="en-US" sz="1600" dirty="0"/>
          </a:p>
        </p:txBody>
      </p:sp>
      <p:sp>
        <p:nvSpPr>
          <p:cNvPr id="44" name="Text 42"/>
          <p:cNvSpPr/>
          <p:nvPr/>
        </p:nvSpPr>
        <p:spPr>
          <a:xfrm>
            <a:off x="9555480" y="2157984"/>
            <a:ext cx="1554480" cy="182880"/>
          </a:xfrm>
          <a:prstGeom prst="rect">
            <a:avLst/>
          </a:prstGeom>
          <a:noFill/>
          <a:ln/>
        </p:spPr>
        <p:txBody>
          <a:bodyPr wrap="square" lIns="0" tIns="0" rIns="0" bIns="0" rtlCol="0" anchor="ctr"/>
          <a:lstStyle/>
          <a:p>
            <a:pPr marL="0" indent="0" algn="ctr">
              <a:buNone/>
            </a:pPr>
            <a:r>
              <a:rPr lang="en-US" sz="1050" b="1" dirty="0">
                <a:solidFill>
                  <a:srgbClr val="C89A2B"/>
                </a:solidFill>
              </a:rPr>
              <a:t>IT · Y1</a:t>
            </a:r>
            <a:endParaRPr lang="en-US" sz="1050" dirty="0"/>
          </a:p>
        </p:txBody>
      </p:sp>
      <p:sp>
        <p:nvSpPr>
          <p:cNvPr id="45" name="Text 43"/>
          <p:cNvSpPr/>
          <p:nvPr/>
        </p:nvSpPr>
        <p:spPr>
          <a:xfrm>
            <a:off x="9564624" y="2404872"/>
            <a:ext cx="1536192" cy="502920"/>
          </a:xfrm>
          <a:prstGeom prst="rect">
            <a:avLst/>
          </a:prstGeom>
          <a:noFill/>
          <a:ln/>
        </p:spPr>
        <p:txBody>
          <a:bodyPr wrap="square" lIns="0" tIns="0" rIns="0" bIns="0" rtlCol="0" anchor="ctr">
            <a:normAutofit/>
          </a:bodyPr>
          <a:lstStyle/>
          <a:p>
            <a:pPr marL="0" indent="0" algn="ctr">
              <a:buNone/>
            </a:pPr>
            <a:r>
              <a:rPr lang="en-US" sz="960" dirty="0">
                <a:solidFill>
                  <a:srgbClr val="1F2937"/>
                </a:solidFill>
              </a:rPr>
              <a:t>Italy-linked partners</a:t>
            </a:r>
            <a:endParaRPr lang="en-US" sz="960" dirty="0"/>
          </a:p>
          <a:p>
            <a:pPr marL="0" indent="0" algn="ctr">
              <a:buNone/>
            </a:pPr>
            <a:r>
              <a:rPr lang="en-US" sz="960" dirty="0">
                <a:solidFill>
                  <a:srgbClr val="1F2937"/>
                </a:solidFill>
              </a:rPr>
              <a:t>Prepare next corridor</a:t>
            </a:r>
            <a:endParaRPr lang="en-US" sz="960" dirty="0"/>
          </a:p>
          <a:p>
            <a:pPr marL="0" indent="0" algn="ctr">
              <a:buNone/>
            </a:pPr>
            <a:r>
              <a:rPr lang="en-US" sz="960" dirty="0">
                <a:solidFill>
                  <a:srgbClr val="1F2937"/>
                </a:solidFill>
              </a:rPr>
              <a:t>Goal: market-entry bridge</a:t>
            </a:r>
            <a:endParaRPr lang="en-US" sz="960" dirty="0"/>
          </a:p>
        </p:txBody>
      </p:sp>
      <p:sp>
        <p:nvSpPr>
          <p:cNvPr id="46" name="Shape 44"/>
          <p:cNvSpPr/>
          <p:nvPr/>
        </p:nvSpPr>
        <p:spPr>
          <a:xfrm>
            <a:off x="868680" y="4572000"/>
            <a:ext cx="5120640" cy="1051560"/>
          </a:xfrm>
          <a:prstGeom prst="roundRect">
            <a:avLst>
              <a:gd name="adj" fmla="val 5217"/>
            </a:avLst>
          </a:prstGeom>
          <a:solidFill>
            <a:srgbClr val="F8FAFC"/>
          </a:solidFill>
          <a:ln w="12700">
            <a:solidFill>
              <a:srgbClr val="D9DEE7"/>
            </a:solidFill>
            <a:prstDash val="solid"/>
          </a:ln>
        </p:spPr>
        <p:txBody>
          <a:bodyPr/>
          <a:lstStyle/>
          <a:p>
            <a:endParaRPr lang="en-US"/>
          </a:p>
        </p:txBody>
      </p:sp>
      <p:sp>
        <p:nvSpPr>
          <p:cNvPr id="47" name="Text 45"/>
          <p:cNvSpPr/>
          <p:nvPr/>
        </p:nvSpPr>
        <p:spPr>
          <a:xfrm>
            <a:off x="1051560" y="4773168"/>
            <a:ext cx="1828800" cy="201168"/>
          </a:xfrm>
          <a:prstGeom prst="rect">
            <a:avLst/>
          </a:prstGeom>
          <a:noFill/>
          <a:ln/>
        </p:spPr>
        <p:txBody>
          <a:bodyPr wrap="square" lIns="0" tIns="0" rIns="0" bIns="0" rtlCol="0" anchor="ctr"/>
          <a:lstStyle/>
          <a:p>
            <a:pPr marL="0" indent="0">
              <a:buNone/>
            </a:pPr>
            <a:r>
              <a:rPr lang="en-US" sz="1400" b="1" dirty="0">
                <a:solidFill>
                  <a:srgbClr val="0F2747"/>
                </a:solidFill>
              </a:rPr>
              <a:t>Key sequencing rule</a:t>
            </a:r>
            <a:endParaRPr lang="en-US" sz="1400" dirty="0"/>
          </a:p>
        </p:txBody>
      </p:sp>
      <p:sp>
        <p:nvSpPr>
          <p:cNvPr id="48" name="Text 46"/>
          <p:cNvSpPr/>
          <p:nvPr/>
        </p:nvSpPr>
        <p:spPr>
          <a:xfrm>
            <a:off x="1051560" y="5029200"/>
            <a:ext cx="4663440" cy="411480"/>
          </a:xfrm>
          <a:prstGeom prst="rect">
            <a:avLst/>
          </a:prstGeom>
          <a:noFill/>
          <a:ln/>
        </p:spPr>
        <p:txBody>
          <a:bodyPr wrap="square" lIns="0" tIns="0" rIns="0" bIns="0" rtlCol="0" anchor="ctr"/>
          <a:lstStyle/>
          <a:p>
            <a:pPr marL="0" indent="0">
              <a:buNone/>
            </a:pPr>
            <a:r>
              <a:rPr lang="en-US" sz="1150" dirty="0">
                <a:solidFill>
                  <a:srgbClr val="1F2937"/>
                </a:solidFill>
              </a:rPr>
              <a:t>We do not activate all country associations at once. Outreach is aligned to product readiness and the corridor roadmap, so effort stays concentrated and credible.</a:t>
            </a:r>
            <a:endParaRPr lang="en-US" sz="1150" dirty="0"/>
          </a:p>
        </p:txBody>
      </p:sp>
      <p:sp>
        <p:nvSpPr>
          <p:cNvPr id="49" name="Shape 47"/>
          <p:cNvSpPr/>
          <p:nvPr/>
        </p:nvSpPr>
        <p:spPr>
          <a:xfrm>
            <a:off x="6263640" y="4572000"/>
            <a:ext cx="4983480" cy="1051560"/>
          </a:xfrm>
          <a:prstGeom prst="roundRect">
            <a:avLst>
              <a:gd name="adj" fmla="val 5217"/>
            </a:avLst>
          </a:prstGeom>
          <a:solidFill>
            <a:srgbClr val="F8FAFC"/>
          </a:solidFill>
          <a:ln w="12700">
            <a:solidFill>
              <a:srgbClr val="D9DEE7"/>
            </a:solidFill>
            <a:prstDash val="solid"/>
          </a:ln>
        </p:spPr>
        <p:txBody>
          <a:bodyPr/>
          <a:lstStyle/>
          <a:p>
            <a:endParaRPr lang="en-US"/>
          </a:p>
        </p:txBody>
      </p:sp>
      <p:sp>
        <p:nvSpPr>
          <p:cNvPr id="50" name="Text 48"/>
          <p:cNvSpPr/>
          <p:nvPr/>
        </p:nvSpPr>
        <p:spPr>
          <a:xfrm>
            <a:off x="6446520" y="4773168"/>
            <a:ext cx="1828800" cy="201168"/>
          </a:xfrm>
          <a:prstGeom prst="rect">
            <a:avLst/>
          </a:prstGeom>
          <a:noFill/>
          <a:ln/>
        </p:spPr>
        <p:txBody>
          <a:bodyPr wrap="square" lIns="0" tIns="0" rIns="0" bIns="0" rtlCol="0" anchor="ctr"/>
          <a:lstStyle/>
          <a:p>
            <a:pPr marL="0" indent="0">
              <a:buNone/>
            </a:pPr>
            <a:r>
              <a:rPr lang="en-US" sz="1400" b="1" dirty="0">
                <a:solidFill>
                  <a:srgbClr val="0F2747"/>
                </a:solidFill>
              </a:rPr>
              <a:t>Deferred / backlog</a:t>
            </a:r>
            <a:endParaRPr lang="en-US" sz="1400" dirty="0"/>
          </a:p>
        </p:txBody>
      </p:sp>
      <p:sp>
        <p:nvSpPr>
          <p:cNvPr id="51" name="Text 49"/>
          <p:cNvSpPr/>
          <p:nvPr/>
        </p:nvSpPr>
        <p:spPr>
          <a:xfrm>
            <a:off x="6446520" y="5029200"/>
            <a:ext cx="4572000" cy="411480"/>
          </a:xfrm>
          <a:prstGeom prst="rect">
            <a:avLst/>
          </a:prstGeom>
          <a:noFill/>
          <a:ln/>
        </p:spPr>
        <p:txBody>
          <a:bodyPr wrap="square" lIns="0" tIns="0" rIns="0" bIns="0" rtlCol="0" anchor="ctr"/>
          <a:lstStyle/>
          <a:p>
            <a:pPr marL="0" indent="0">
              <a:buNone/>
            </a:pPr>
            <a:r>
              <a:rPr lang="en-US" sz="1150" dirty="0">
                <a:solidFill>
                  <a:srgbClr val="1F2937"/>
                </a:solidFill>
              </a:rPr>
              <a:t>Lower-priority country associations stay warm in the tracker, but they move only after launch-country and Y1 expansion priorities are covered.</a:t>
            </a:r>
            <a:endParaRPr lang="en-US" sz="1150" dirty="0"/>
          </a:p>
        </p:txBody>
      </p:sp>
      <p:sp>
        <p:nvSpPr>
          <p:cNvPr id="52" name="Text 50"/>
          <p:cNvSpPr/>
          <p:nvPr/>
        </p:nvSpPr>
        <p:spPr>
          <a:xfrm>
            <a:off x="411480" y="6446520"/>
            <a:ext cx="11155680" cy="164592"/>
          </a:xfrm>
          <a:prstGeom prst="rect">
            <a:avLst/>
          </a:prstGeom>
          <a:noFill/>
          <a:ln/>
        </p:spPr>
        <p:txBody>
          <a:bodyPr wrap="square" lIns="0" tIns="0" rIns="0" bIns="0" rtlCol="0" anchor="ctr"/>
          <a:lstStyle/>
          <a:p>
            <a:pPr marL="0" indent="0" algn="r">
              <a:buNone/>
            </a:pPr>
            <a:r>
              <a:rPr lang="en-US" sz="850" dirty="0">
                <a:solidFill>
                  <a:srgbClr val="7A7A7A"/>
                </a:solidFill>
              </a:rPr>
              <a:t>RetirAI · Partnership rollout aligned to launch and expansion timing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Unit economics — the honest math.</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No cherry-picked ratios. Conservative parameters. Strong on a blended basis.</a:t>
            </a:r>
            <a:endParaRPr lang="en-US" sz="1300" dirty="0"/>
          </a:p>
        </p:txBody>
      </p:sp>
      <p:sp>
        <p:nvSpPr>
          <p:cNvPr id="4" name="Shape 2"/>
          <p:cNvSpPr/>
          <p:nvPr/>
        </p:nvSpPr>
        <p:spPr>
          <a:xfrm>
            <a:off x="335128" y="1508760"/>
            <a:ext cx="3657600" cy="3840480"/>
          </a:xfrm>
          <a:prstGeom prst="rect">
            <a:avLst/>
          </a:prstGeom>
          <a:solidFill>
            <a:srgbClr val="F5EAFA"/>
          </a:solidFill>
          <a:ln w="12700">
            <a:solidFill>
              <a:srgbClr val="9558B0"/>
            </a:solidFill>
            <a:prstDash val="solid"/>
          </a:ln>
        </p:spPr>
        <p:txBody>
          <a:bodyPr/>
          <a:lstStyle/>
          <a:p>
            <a:endParaRPr lang="pl-PL"/>
          </a:p>
        </p:txBody>
      </p:sp>
      <p:sp>
        <p:nvSpPr>
          <p:cNvPr id="5" name="Shape 3"/>
          <p:cNvSpPr/>
          <p:nvPr/>
        </p:nvSpPr>
        <p:spPr>
          <a:xfrm>
            <a:off x="335128" y="1508760"/>
            <a:ext cx="3657600" cy="502920"/>
          </a:xfrm>
          <a:prstGeom prst="rect">
            <a:avLst/>
          </a:prstGeom>
          <a:solidFill>
            <a:srgbClr val="7030A0"/>
          </a:solidFill>
          <a:ln w="12700">
            <a:solidFill>
              <a:srgbClr val="7030A0"/>
            </a:solidFill>
            <a:prstDash val="solid"/>
          </a:ln>
        </p:spPr>
        <p:txBody>
          <a:bodyPr/>
          <a:lstStyle/>
          <a:p>
            <a:endParaRPr lang="pl-PL"/>
          </a:p>
        </p:txBody>
      </p:sp>
      <p:sp>
        <p:nvSpPr>
          <p:cNvPr id="6" name="Text 4"/>
          <p:cNvSpPr/>
          <p:nvPr/>
        </p:nvSpPr>
        <p:spPr>
          <a:xfrm>
            <a:off x="335128" y="1508760"/>
            <a:ext cx="36576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 Subscription LTV</a:t>
            </a:r>
            <a:endParaRPr lang="en-US" sz="1300" dirty="0"/>
          </a:p>
        </p:txBody>
      </p:sp>
      <p:sp>
        <p:nvSpPr>
          <p:cNvPr id="7" name="Text 5"/>
          <p:cNvSpPr/>
          <p:nvPr/>
        </p:nvSpPr>
        <p:spPr>
          <a:xfrm>
            <a:off x="518008" y="2148840"/>
            <a:ext cx="3291840" cy="2468880"/>
          </a:xfrm>
          <a:prstGeom prst="rect">
            <a:avLst/>
          </a:prstGeom>
          <a:noFill/>
          <a:ln/>
        </p:spPr>
        <p:txBody>
          <a:bodyPr wrap="square" rtlCol="0" anchor="t"/>
          <a:lstStyle/>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Monthly subscription: €14.90</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Monthly churn: 3% (Recurly 2025 finance category median: 3.7%)</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Avg lifetime: 33 months</a:t>
            </a:r>
            <a:endParaRPr lang="en-US" sz="1100" dirty="0"/>
          </a:p>
        </p:txBody>
      </p:sp>
      <p:sp>
        <p:nvSpPr>
          <p:cNvPr id="8" name="Shape 6"/>
          <p:cNvSpPr/>
          <p:nvPr/>
        </p:nvSpPr>
        <p:spPr>
          <a:xfrm>
            <a:off x="335128" y="4709160"/>
            <a:ext cx="3657600" cy="640080"/>
          </a:xfrm>
          <a:prstGeom prst="rect">
            <a:avLst/>
          </a:prstGeom>
          <a:solidFill>
            <a:srgbClr val="E8D5F5"/>
          </a:solidFill>
          <a:ln w="12700">
            <a:solidFill>
              <a:srgbClr val="7030A0"/>
            </a:solidFill>
            <a:prstDash val="solid"/>
          </a:ln>
        </p:spPr>
        <p:txBody>
          <a:bodyPr/>
          <a:lstStyle/>
          <a:p>
            <a:endParaRPr lang="pl-PL"/>
          </a:p>
        </p:txBody>
      </p:sp>
      <p:sp>
        <p:nvSpPr>
          <p:cNvPr id="9" name="Text 7"/>
          <p:cNvSpPr/>
          <p:nvPr/>
        </p:nvSpPr>
        <p:spPr>
          <a:xfrm>
            <a:off x="335128" y="4709160"/>
            <a:ext cx="3657600" cy="640080"/>
          </a:xfrm>
          <a:prstGeom prst="rect">
            <a:avLst/>
          </a:prstGeom>
          <a:noFill/>
          <a:ln/>
        </p:spPr>
        <p:txBody>
          <a:bodyPr wrap="square" rtlCol="0" anchor="ctr"/>
          <a:lstStyle/>
          <a:p>
            <a:pPr marL="0" indent="0" algn="ctr">
              <a:buNone/>
            </a:pPr>
            <a:r>
              <a:rPr lang="en-US" sz="1600" b="1" dirty="0">
                <a:solidFill>
                  <a:srgbClr val="3D1257"/>
                </a:solidFill>
                <a:latin typeface="Calibri" pitchFamily="34" charset="0"/>
                <a:ea typeface="Calibri" pitchFamily="34" charset="-122"/>
                <a:cs typeface="Calibri" pitchFamily="34" charset="-120"/>
              </a:rPr>
              <a:t>Sub LTV: €492</a:t>
            </a:r>
            <a:endParaRPr lang="en-US" sz="1600" dirty="0"/>
          </a:p>
        </p:txBody>
      </p:sp>
      <p:sp>
        <p:nvSpPr>
          <p:cNvPr id="10" name="Shape 8"/>
          <p:cNvSpPr/>
          <p:nvPr/>
        </p:nvSpPr>
        <p:spPr>
          <a:xfrm>
            <a:off x="4267048" y="1508760"/>
            <a:ext cx="3657600" cy="3840480"/>
          </a:xfrm>
          <a:prstGeom prst="rect">
            <a:avLst/>
          </a:prstGeom>
          <a:solidFill>
            <a:srgbClr val="F5EAFA"/>
          </a:solidFill>
          <a:ln w="12700">
            <a:solidFill>
              <a:srgbClr val="9558B0"/>
            </a:solidFill>
            <a:prstDash val="solid"/>
          </a:ln>
        </p:spPr>
        <p:txBody>
          <a:bodyPr/>
          <a:lstStyle/>
          <a:p>
            <a:endParaRPr lang="pl-PL"/>
          </a:p>
        </p:txBody>
      </p:sp>
      <p:sp>
        <p:nvSpPr>
          <p:cNvPr id="11" name="Shape 9"/>
          <p:cNvSpPr/>
          <p:nvPr/>
        </p:nvSpPr>
        <p:spPr>
          <a:xfrm>
            <a:off x="4267048" y="1508760"/>
            <a:ext cx="3657600" cy="502920"/>
          </a:xfrm>
          <a:prstGeom prst="rect">
            <a:avLst/>
          </a:prstGeom>
          <a:solidFill>
            <a:srgbClr val="7030A0"/>
          </a:solidFill>
          <a:ln w="12700">
            <a:solidFill>
              <a:srgbClr val="7030A0"/>
            </a:solidFill>
            <a:prstDash val="solid"/>
          </a:ln>
        </p:spPr>
        <p:txBody>
          <a:bodyPr/>
          <a:lstStyle/>
          <a:p>
            <a:endParaRPr lang="pl-PL"/>
          </a:p>
        </p:txBody>
      </p:sp>
      <p:sp>
        <p:nvSpPr>
          <p:cNvPr id="12" name="Text 10"/>
          <p:cNvSpPr/>
          <p:nvPr/>
        </p:nvSpPr>
        <p:spPr>
          <a:xfrm>
            <a:off x="4267048" y="1508760"/>
            <a:ext cx="36576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 Lead-Gen LTV / Signup</a:t>
            </a:r>
            <a:endParaRPr lang="en-US" sz="1300" dirty="0"/>
          </a:p>
        </p:txBody>
      </p:sp>
      <p:sp>
        <p:nvSpPr>
          <p:cNvPr id="13" name="Text 11"/>
          <p:cNvSpPr/>
          <p:nvPr/>
        </p:nvSpPr>
        <p:spPr>
          <a:xfrm>
            <a:off x="4449928" y="2148840"/>
            <a:ext cx="3291840" cy="2468880"/>
          </a:xfrm>
          <a:prstGeom prst="rect">
            <a:avLst/>
          </a:prstGeom>
          <a:noFill/>
          <a:ln/>
        </p:spPr>
        <p:txBody>
          <a:bodyPr wrap="square" rtlCol="0" anchor="t"/>
          <a:lstStyle/>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80% have a retirement gap</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 25% click product offers</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 15% invest via referral</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 3% effective conversion</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Avg capital: €50,000</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Annual commission: €15</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10-year holding period</a:t>
            </a:r>
            <a:endParaRPr lang="en-US" sz="1100" dirty="0"/>
          </a:p>
        </p:txBody>
      </p:sp>
      <p:sp>
        <p:nvSpPr>
          <p:cNvPr id="14" name="Shape 12"/>
          <p:cNvSpPr/>
          <p:nvPr/>
        </p:nvSpPr>
        <p:spPr>
          <a:xfrm>
            <a:off x="4267048" y="4709160"/>
            <a:ext cx="3657600" cy="640080"/>
          </a:xfrm>
          <a:prstGeom prst="rect">
            <a:avLst/>
          </a:prstGeom>
          <a:solidFill>
            <a:srgbClr val="E8D5F5"/>
          </a:solidFill>
          <a:ln w="12700">
            <a:solidFill>
              <a:srgbClr val="7030A0"/>
            </a:solidFill>
            <a:prstDash val="solid"/>
          </a:ln>
        </p:spPr>
        <p:txBody>
          <a:bodyPr/>
          <a:lstStyle/>
          <a:p>
            <a:endParaRPr lang="pl-PL"/>
          </a:p>
        </p:txBody>
      </p:sp>
      <p:sp>
        <p:nvSpPr>
          <p:cNvPr id="15" name="Text 13"/>
          <p:cNvSpPr/>
          <p:nvPr/>
        </p:nvSpPr>
        <p:spPr>
          <a:xfrm>
            <a:off x="4267048" y="4709160"/>
            <a:ext cx="3657600" cy="640080"/>
          </a:xfrm>
          <a:prstGeom prst="rect">
            <a:avLst/>
          </a:prstGeom>
          <a:noFill/>
          <a:ln/>
        </p:spPr>
        <p:txBody>
          <a:bodyPr wrap="square" rtlCol="0" anchor="ctr"/>
          <a:lstStyle/>
          <a:p>
            <a:pPr marL="0" indent="0" algn="ctr">
              <a:buNone/>
            </a:pPr>
            <a:r>
              <a:rPr lang="en-US" sz="1600" b="1" dirty="0">
                <a:solidFill>
                  <a:srgbClr val="3D1257"/>
                </a:solidFill>
                <a:latin typeface="Calibri" pitchFamily="34" charset="0"/>
                <a:ea typeface="Calibri" pitchFamily="34" charset="-122"/>
                <a:cs typeface="Calibri" pitchFamily="34" charset="-120"/>
              </a:rPr>
              <a:t>Lead Gen LTV: €4.50</a:t>
            </a:r>
            <a:endParaRPr lang="en-US" sz="1600" dirty="0"/>
          </a:p>
        </p:txBody>
      </p:sp>
      <p:sp>
        <p:nvSpPr>
          <p:cNvPr id="16" name="Shape 14"/>
          <p:cNvSpPr/>
          <p:nvPr/>
        </p:nvSpPr>
        <p:spPr>
          <a:xfrm>
            <a:off x="8198968" y="1508760"/>
            <a:ext cx="3657600" cy="3840480"/>
          </a:xfrm>
          <a:prstGeom prst="rect">
            <a:avLst/>
          </a:prstGeom>
          <a:solidFill>
            <a:srgbClr val="F5EAFA"/>
          </a:solidFill>
          <a:ln w="12700">
            <a:solidFill>
              <a:srgbClr val="9558B0"/>
            </a:solidFill>
            <a:prstDash val="solid"/>
          </a:ln>
        </p:spPr>
        <p:txBody>
          <a:bodyPr/>
          <a:lstStyle/>
          <a:p>
            <a:endParaRPr lang="pl-PL"/>
          </a:p>
        </p:txBody>
      </p:sp>
      <p:sp>
        <p:nvSpPr>
          <p:cNvPr id="17" name="Shape 15"/>
          <p:cNvSpPr/>
          <p:nvPr/>
        </p:nvSpPr>
        <p:spPr>
          <a:xfrm>
            <a:off x="8198968" y="1508760"/>
            <a:ext cx="3657600" cy="502920"/>
          </a:xfrm>
          <a:prstGeom prst="rect">
            <a:avLst/>
          </a:prstGeom>
          <a:solidFill>
            <a:srgbClr val="7030A0"/>
          </a:solidFill>
          <a:ln w="12700">
            <a:solidFill>
              <a:srgbClr val="7030A0"/>
            </a:solidFill>
            <a:prstDash val="solid"/>
          </a:ln>
        </p:spPr>
        <p:txBody>
          <a:bodyPr/>
          <a:lstStyle/>
          <a:p>
            <a:endParaRPr lang="pl-PL"/>
          </a:p>
        </p:txBody>
      </p:sp>
      <p:sp>
        <p:nvSpPr>
          <p:cNvPr id="18" name="Text 16"/>
          <p:cNvSpPr/>
          <p:nvPr/>
        </p:nvSpPr>
        <p:spPr>
          <a:xfrm>
            <a:off x="8198968" y="1508760"/>
            <a:ext cx="36576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CAC + LTV:CAC</a:t>
            </a:r>
            <a:endParaRPr lang="en-US" sz="1300" dirty="0"/>
          </a:p>
        </p:txBody>
      </p:sp>
      <p:sp>
        <p:nvSpPr>
          <p:cNvPr id="19" name="Text 17"/>
          <p:cNvSpPr/>
          <p:nvPr/>
        </p:nvSpPr>
        <p:spPr>
          <a:xfrm>
            <a:off x="8381848" y="2148840"/>
            <a:ext cx="3291840" cy="2468880"/>
          </a:xfrm>
          <a:prstGeom prst="rect">
            <a:avLst/>
          </a:prstGeom>
          <a:noFill/>
          <a:ln/>
        </p:spPr>
        <p:txBody>
          <a:bodyPr wrap="square" rtlCol="0" anchor="t"/>
          <a:lstStyle/>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Per-signup CAC: €40</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Blended LTV per signup:</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  12% × €492 + €4.50 = €63.54</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 </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Per-paying-sub CAC: €333</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Per-sub LTV: €492</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Per-sub LTV:CAC: 1.48×</a:t>
            </a:r>
            <a:endParaRPr lang="en-US" sz="1100" dirty="0"/>
          </a:p>
        </p:txBody>
      </p:sp>
      <p:sp>
        <p:nvSpPr>
          <p:cNvPr id="20" name="Shape 18"/>
          <p:cNvSpPr/>
          <p:nvPr/>
        </p:nvSpPr>
        <p:spPr>
          <a:xfrm>
            <a:off x="8198968" y="4709160"/>
            <a:ext cx="3657600" cy="640080"/>
          </a:xfrm>
          <a:prstGeom prst="rect">
            <a:avLst/>
          </a:prstGeom>
          <a:solidFill>
            <a:srgbClr val="E8D5F5"/>
          </a:solidFill>
          <a:ln w="12700">
            <a:solidFill>
              <a:srgbClr val="7030A0"/>
            </a:solidFill>
            <a:prstDash val="solid"/>
          </a:ln>
        </p:spPr>
        <p:txBody>
          <a:bodyPr/>
          <a:lstStyle/>
          <a:p>
            <a:endParaRPr lang="pl-PL"/>
          </a:p>
        </p:txBody>
      </p:sp>
      <p:sp>
        <p:nvSpPr>
          <p:cNvPr id="21" name="Text 19"/>
          <p:cNvSpPr/>
          <p:nvPr/>
        </p:nvSpPr>
        <p:spPr>
          <a:xfrm>
            <a:off x="8198968" y="4709160"/>
            <a:ext cx="3657600" cy="640080"/>
          </a:xfrm>
          <a:prstGeom prst="rect">
            <a:avLst/>
          </a:prstGeom>
          <a:noFill/>
          <a:ln/>
        </p:spPr>
        <p:txBody>
          <a:bodyPr wrap="square" rtlCol="0" anchor="ctr"/>
          <a:lstStyle/>
          <a:p>
            <a:pPr marL="0" indent="0" algn="ctr">
              <a:buNone/>
            </a:pPr>
            <a:r>
              <a:rPr lang="en-US" sz="1600" b="1" dirty="0">
                <a:solidFill>
                  <a:srgbClr val="3D1257"/>
                </a:solidFill>
                <a:latin typeface="Calibri" pitchFamily="34" charset="0"/>
                <a:ea typeface="Calibri" pitchFamily="34" charset="-122"/>
                <a:cs typeface="Calibri" pitchFamily="34" charset="-120"/>
              </a:rPr>
              <a:t>Per-signup LTV:CAC: 1.6×</a:t>
            </a:r>
            <a:endParaRPr lang="en-US" sz="1600" dirty="0"/>
          </a:p>
        </p:txBody>
      </p:sp>
      <p:sp>
        <p:nvSpPr>
          <p:cNvPr id="22" name="Shape 20"/>
          <p:cNvSpPr/>
          <p:nvPr/>
        </p:nvSpPr>
        <p:spPr>
          <a:xfrm>
            <a:off x="457200" y="5577840"/>
            <a:ext cx="11277295" cy="914400"/>
          </a:xfrm>
          <a:prstGeom prst="rect">
            <a:avLst/>
          </a:prstGeom>
          <a:solidFill>
            <a:srgbClr val="3D1257"/>
          </a:solidFill>
          <a:ln w="12700">
            <a:solidFill>
              <a:srgbClr val="3D1257"/>
            </a:solidFill>
            <a:prstDash val="solid"/>
          </a:ln>
        </p:spPr>
        <p:txBody>
          <a:bodyPr/>
          <a:lstStyle/>
          <a:p>
            <a:endParaRPr lang="pl-PL"/>
          </a:p>
        </p:txBody>
      </p:sp>
      <p:sp>
        <p:nvSpPr>
          <p:cNvPr id="23" name="Text 21"/>
          <p:cNvSpPr/>
          <p:nvPr/>
        </p:nvSpPr>
        <p:spPr>
          <a:xfrm>
            <a:off x="640080" y="5577840"/>
            <a:ext cx="10911535" cy="9144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Paid is only ~10% of total signups in the model. Organic SEO and distribution partnerships drive the majority of acquisition. Blended channel mix has healthier economics than this paid-only ratio implies — and post-launch CPC optimisation is a realistic path to 2.5–3× within 12 months.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€3.67M ARR by Year 5 — base scenario.</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V6.2 model, conservative parameters.</a:t>
            </a:r>
            <a:endParaRPr lang="en-US" sz="1300" dirty="0"/>
          </a:p>
        </p:txBody>
      </p:sp>
      <p:sp>
        <p:nvSpPr>
          <p:cNvPr id="4" name="Shape 2"/>
          <p:cNvSpPr/>
          <p:nvPr/>
        </p:nvSpPr>
        <p:spPr>
          <a:xfrm>
            <a:off x="457200" y="1417320"/>
            <a:ext cx="11277295" cy="411480"/>
          </a:xfrm>
          <a:prstGeom prst="rect">
            <a:avLst/>
          </a:prstGeom>
          <a:solidFill>
            <a:srgbClr val="FFF4B8"/>
          </a:solidFill>
          <a:ln w="12700">
            <a:solidFill>
              <a:srgbClr val="FFF4B8"/>
            </a:solidFill>
            <a:prstDash val="solid"/>
          </a:ln>
        </p:spPr>
        <p:txBody>
          <a:bodyPr/>
          <a:lstStyle/>
          <a:p>
            <a:endParaRPr lang="pl-PL"/>
          </a:p>
        </p:txBody>
      </p:sp>
      <p:sp>
        <p:nvSpPr>
          <p:cNvPr id="5" name="Text 3"/>
          <p:cNvSpPr/>
          <p:nvPr/>
        </p:nvSpPr>
        <p:spPr>
          <a:xfrm>
            <a:off x="640080" y="1417320"/>
            <a:ext cx="10911535" cy="411480"/>
          </a:xfrm>
          <a:prstGeom prst="rect">
            <a:avLst/>
          </a:prstGeom>
          <a:noFill/>
          <a:ln/>
        </p:spPr>
        <p:txBody>
          <a:bodyPr wrap="square" rtlCol="0" anchor="ctr"/>
          <a:lstStyle/>
          <a:p>
            <a:pPr marL="0" indent="0" algn="ctr">
              <a:buNone/>
            </a:pPr>
            <a:r>
              <a:rPr lang="en-US" sz="1100" i="1" dirty="0">
                <a:solidFill>
                  <a:srgbClr val="333333"/>
                </a:solidFill>
                <a:latin typeface="Calibri" pitchFamily="34" charset="0"/>
                <a:ea typeface="Calibri" pitchFamily="34" charset="-122"/>
                <a:cs typeface="Calibri" pitchFamily="34" charset="-120"/>
              </a:rPr>
              <a:t>Year 1 isn't cold-start: M1 launches with ~450 warm wishlist signups (Phase −1) of which ~40% activate to platform signups in the first month.</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92840" cy="3657600"/>
        </p:xfrm>
        <a:graphic>
          <a:graphicData uri="http://schemas.openxmlformats.org/drawingml/2006/table">
            <a:tbl>
              <a:tblPr/>
              <a:tblGrid>
                <a:gridCol w="3200400">
                  <a:extLst>
                    <a:ext uri="{9D8B030D-6E8A-4147-A177-3AD203B41FA5}">
                      <a16:colId xmlns:a16="http://schemas.microsoft.com/office/drawing/2014/main" val="20000"/>
                    </a:ext>
                  </a:extLst>
                </a:gridCol>
                <a:gridCol w="1618488">
                  <a:extLst>
                    <a:ext uri="{9D8B030D-6E8A-4147-A177-3AD203B41FA5}">
                      <a16:colId xmlns:a16="http://schemas.microsoft.com/office/drawing/2014/main" val="20001"/>
                    </a:ext>
                  </a:extLst>
                </a:gridCol>
                <a:gridCol w="1618488">
                  <a:extLst>
                    <a:ext uri="{9D8B030D-6E8A-4147-A177-3AD203B41FA5}">
                      <a16:colId xmlns:a16="http://schemas.microsoft.com/office/drawing/2014/main" val="20002"/>
                    </a:ext>
                  </a:extLst>
                </a:gridCol>
                <a:gridCol w="1618488">
                  <a:extLst>
                    <a:ext uri="{9D8B030D-6E8A-4147-A177-3AD203B41FA5}">
                      <a16:colId xmlns:a16="http://schemas.microsoft.com/office/drawing/2014/main" val="20003"/>
                    </a:ext>
                  </a:extLst>
                </a:gridCol>
                <a:gridCol w="1618488">
                  <a:extLst>
                    <a:ext uri="{9D8B030D-6E8A-4147-A177-3AD203B41FA5}">
                      <a16:colId xmlns:a16="http://schemas.microsoft.com/office/drawing/2014/main" val="20004"/>
                    </a:ext>
                  </a:extLst>
                </a:gridCol>
                <a:gridCol w="1618488">
                  <a:extLst>
                    <a:ext uri="{9D8B030D-6E8A-4147-A177-3AD203B41FA5}">
                      <a16:colId xmlns:a16="http://schemas.microsoft.com/office/drawing/2014/main" val="20005"/>
                    </a:ext>
                  </a:extLst>
                </a:gridCol>
              </a:tblGrid>
              <a:tr h="406400">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Year 1</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Year 2</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Year 3</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Year 4</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Year 5</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406400">
                <a:tc>
                  <a:txBody>
                    <a:bodyPr/>
                    <a:lstStyle/>
                    <a:p>
                      <a:pPr marL="0" indent="0" algn="l">
                        <a:buNone/>
                      </a:pPr>
                      <a:r>
                        <a:rPr lang="en-US" sz="1200" b="1" dirty="0">
                          <a:solidFill>
                            <a:srgbClr val="333333"/>
                          </a:solidFill>
                          <a:latin typeface="Calibri" pitchFamily="34" charset="0"/>
                          <a:ea typeface="Calibri" pitchFamily="34" charset="-122"/>
                          <a:cs typeface="Calibri" pitchFamily="34" charset="-120"/>
                        </a:rPr>
                        <a:t>Countries live</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406400">
                <a:tc>
                  <a:txBody>
                    <a:bodyPr/>
                    <a:lstStyle/>
                    <a:p>
                      <a:pPr marL="0" indent="0" algn="l">
                        <a:buNone/>
                      </a:pPr>
                      <a:r>
                        <a:rPr lang="en-US" sz="1200" b="1" dirty="0">
                          <a:solidFill>
                            <a:srgbClr val="333333"/>
                          </a:solidFill>
                          <a:latin typeface="Calibri" pitchFamily="34" charset="0"/>
                          <a:ea typeface="Calibri" pitchFamily="34" charset="-122"/>
                          <a:cs typeface="Calibri" pitchFamily="34" charset="-120"/>
                        </a:rPr>
                        <a:t>Addressable market</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1.36M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7.35M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10.52M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11.55M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11.96M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406400">
                <a:tc>
                  <a:txBody>
                    <a:bodyPr/>
                    <a:lstStyle/>
                    <a:p>
                      <a:pPr marL="0" indent="0" algn="l">
                        <a:buNone/>
                      </a:pPr>
                      <a:r>
                        <a:rPr lang="en-US" sz="1200" b="1" dirty="0">
                          <a:solidFill>
                            <a:srgbClr val="333333"/>
                          </a:solidFill>
                          <a:latin typeface="Calibri" pitchFamily="34" charset="0"/>
                          <a:ea typeface="Calibri" pitchFamily="34" charset="-122"/>
                          <a:cs typeface="Calibri" pitchFamily="34" charset="-120"/>
                        </a:rPr>
                        <a:t>Paying subscribers</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486</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3,792</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9,922</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15,955</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21,221</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r h="40640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Subscription ARR</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€82K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€633K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€1,656K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€2,663K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€3,541K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4"/>
                  </a:ext>
                </a:extLst>
              </a:tr>
              <a:tr h="40640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Lead gen annual rev.</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€2K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€16K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€47K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€85K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€127K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5"/>
                  </a:ext>
                </a:extLst>
              </a:tr>
              <a:tr h="406400">
                <a:tc>
                  <a:txBody>
                    <a:bodyPr/>
                    <a:lstStyle/>
                    <a:p>
                      <a:pPr marL="0" indent="0" algn="l">
                        <a:buNone/>
                      </a:pPr>
                      <a:r>
                        <a:rPr lang="en-US" sz="1200" b="1" dirty="0">
                          <a:solidFill>
                            <a:srgbClr val="3D1257"/>
                          </a:solidFill>
                          <a:latin typeface="Calibri" pitchFamily="34" charset="0"/>
                          <a:ea typeface="Calibri" pitchFamily="34" charset="-122"/>
                          <a:cs typeface="Calibri" pitchFamily="34" charset="-120"/>
                        </a:rPr>
                        <a:t>Total ARR</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lgn="r">
                        <a:buNone/>
                      </a:pPr>
                      <a:r>
                        <a:rPr lang="en-US" sz="1200" b="1" dirty="0">
                          <a:solidFill>
                            <a:srgbClr val="3D1257"/>
                          </a:solidFill>
                          <a:latin typeface="Calibri" pitchFamily="34" charset="0"/>
                          <a:ea typeface="Calibri" pitchFamily="34" charset="-122"/>
                          <a:cs typeface="Calibri" pitchFamily="34" charset="-120"/>
                        </a:rPr>
                        <a:t>€84K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lgn="r">
                        <a:buNone/>
                      </a:pPr>
                      <a:r>
                        <a:rPr lang="en-US" sz="1200" b="1" dirty="0">
                          <a:solidFill>
                            <a:srgbClr val="3D1257"/>
                          </a:solidFill>
                          <a:latin typeface="Calibri" pitchFamily="34" charset="0"/>
                          <a:ea typeface="Calibri" pitchFamily="34" charset="-122"/>
                          <a:cs typeface="Calibri" pitchFamily="34" charset="-120"/>
                        </a:rPr>
                        <a:t>€649K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lgn="r">
                        <a:buNone/>
                      </a:pPr>
                      <a:r>
                        <a:rPr lang="en-US" sz="1200" b="1" dirty="0">
                          <a:solidFill>
                            <a:srgbClr val="3D1257"/>
                          </a:solidFill>
                          <a:latin typeface="Calibri" pitchFamily="34" charset="0"/>
                          <a:ea typeface="Calibri" pitchFamily="34" charset="-122"/>
                          <a:cs typeface="Calibri" pitchFamily="34" charset="-120"/>
                        </a:rPr>
                        <a:t>€1,703K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lgn="r">
                        <a:buNone/>
                      </a:pPr>
                      <a:r>
                        <a:rPr lang="en-US" sz="1200" b="1" dirty="0">
                          <a:solidFill>
                            <a:srgbClr val="3D1257"/>
                          </a:solidFill>
                          <a:latin typeface="Calibri" pitchFamily="34" charset="0"/>
                          <a:ea typeface="Calibri" pitchFamily="34" charset="-122"/>
                          <a:cs typeface="Calibri" pitchFamily="34" charset="-120"/>
                        </a:rPr>
                        <a:t>€2,748K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lgn="r">
                        <a:buNone/>
                      </a:pPr>
                      <a:r>
                        <a:rPr lang="en-US" sz="1200" b="1" dirty="0">
                          <a:solidFill>
                            <a:srgbClr val="3D1257"/>
                          </a:solidFill>
                          <a:latin typeface="Calibri" pitchFamily="34" charset="0"/>
                          <a:ea typeface="Calibri" pitchFamily="34" charset="-122"/>
                          <a:cs typeface="Calibri" pitchFamily="34" charset="-120"/>
                        </a:rPr>
                        <a:t>€3,669K</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extLst>
                  <a:ext uri="{0D108BD9-81ED-4DB2-BD59-A6C34878D82A}">
                    <a16:rowId xmlns:a16="http://schemas.microsoft.com/office/drawing/2014/main" val="10006"/>
                  </a:ext>
                </a:extLst>
              </a:tr>
              <a:tr h="406400">
                <a:tc>
                  <a:txBody>
                    <a:bodyPr/>
                    <a:lstStyle/>
                    <a:p>
                      <a:pPr marL="0" indent="0" algn="l">
                        <a:buNone/>
                      </a:pPr>
                      <a:r>
                        <a:rPr lang="en-US" sz="1200" b="1" dirty="0">
                          <a:solidFill>
                            <a:srgbClr val="333333"/>
                          </a:solidFill>
                          <a:latin typeface="Calibri" pitchFamily="34" charset="0"/>
                          <a:ea typeface="Calibri" pitchFamily="34" charset="-122"/>
                          <a:cs typeface="Calibri" pitchFamily="34" charset="-120"/>
                        </a:rPr>
                        <a:t>Capital under referral</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€6.57M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€54.92M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€157.38M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€283.57M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r">
                        <a:buNone/>
                      </a:pPr>
                      <a:r>
                        <a:rPr lang="en-US" sz="1200" dirty="0">
                          <a:solidFill>
                            <a:srgbClr val="333333"/>
                          </a:solidFill>
                          <a:latin typeface="Calibri" pitchFamily="34" charset="0"/>
                          <a:ea typeface="Calibri" pitchFamily="34" charset="-122"/>
                          <a:cs typeface="Calibri" pitchFamily="34" charset="-120"/>
                        </a:rPr>
                        <a:t>€424.94M</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extLst>
                  <a:ext uri="{0D108BD9-81ED-4DB2-BD59-A6C34878D82A}">
                    <a16:rowId xmlns:a16="http://schemas.microsoft.com/office/drawing/2014/main" val="10007"/>
                  </a:ext>
                </a:extLst>
              </a:tr>
              <a:tr h="406400">
                <a:tc>
                  <a:txBody>
                    <a:bodyPr/>
                    <a:lstStyle/>
                    <a:p>
                      <a:pPr marL="0" indent="0" algn="l">
                        <a:buNone/>
                      </a:pPr>
                      <a:r>
                        <a:rPr lang="en-US" sz="1200" i="1" dirty="0">
                          <a:solidFill>
                            <a:srgbClr val="333333"/>
                          </a:solidFill>
                          <a:latin typeface="Calibri" pitchFamily="34" charset="0"/>
                          <a:ea typeface="Calibri" pitchFamily="34" charset="-122"/>
                          <a:cs typeface="Calibri" pitchFamily="34" charset="-120"/>
                        </a:rPr>
                        <a:t>YoY ARR growth</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i="1"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i="1" dirty="0">
                          <a:solidFill>
                            <a:srgbClr val="333333"/>
                          </a:solidFill>
                          <a:latin typeface="Calibri" pitchFamily="34" charset="0"/>
                          <a:ea typeface="Calibri" pitchFamily="34" charset="-122"/>
                          <a:cs typeface="Calibri" pitchFamily="34" charset="-120"/>
                        </a:rPr>
                        <a:t>12.87×</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i="1" dirty="0">
                          <a:solidFill>
                            <a:srgbClr val="333333"/>
                          </a:solidFill>
                          <a:latin typeface="Calibri" pitchFamily="34" charset="0"/>
                          <a:ea typeface="Calibri" pitchFamily="34" charset="-122"/>
                          <a:cs typeface="Calibri" pitchFamily="34" charset="-120"/>
                        </a:rPr>
                        <a:t>3.70×</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i="1" dirty="0">
                          <a:solidFill>
                            <a:srgbClr val="333333"/>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i="1" dirty="0">
                          <a:solidFill>
                            <a:srgbClr val="333333"/>
                          </a:solidFill>
                          <a:latin typeface="Calibri" pitchFamily="34" charset="0"/>
                          <a:ea typeface="Calibri" pitchFamily="34" charset="-122"/>
                          <a:cs typeface="Calibri" pitchFamily="34" charset="-120"/>
                        </a:rPr>
                        <a:t>1.43×</a:t>
                      </a:r>
                      <a:endParaRPr lang="en-US" sz="12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Shape 4"/>
          <p:cNvSpPr/>
          <p:nvPr/>
        </p:nvSpPr>
        <p:spPr>
          <a:xfrm>
            <a:off x="457200" y="5897880"/>
            <a:ext cx="11277295" cy="457200"/>
          </a:xfrm>
          <a:prstGeom prst="rect">
            <a:avLst/>
          </a:prstGeom>
          <a:solidFill>
            <a:srgbClr val="E8D5F5"/>
          </a:solidFill>
          <a:ln w="12700">
            <a:solidFill>
              <a:srgbClr val="E8D5F5"/>
            </a:solidFill>
            <a:prstDash val="solid"/>
          </a:ln>
        </p:spPr>
        <p:txBody>
          <a:bodyPr/>
          <a:lstStyle/>
          <a:p>
            <a:endParaRPr lang="pl-PL"/>
          </a:p>
        </p:txBody>
      </p:sp>
      <p:sp>
        <p:nvSpPr>
          <p:cNvPr id="8" name="Text 5"/>
          <p:cNvSpPr/>
          <p:nvPr/>
        </p:nvSpPr>
        <p:spPr>
          <a:xfrm>
            <a:off x="640080" y="5897880"/>
            <a:ext cx="10911535" cy="457200"/>
          </a:xfrm>
          <a:prstGeom prst="rect">
            <a:avLst/>
          </a:prstGeom>
          <a:noFill/>
          <a:ln/>
        </p:spPr>
        <p:txBody>
          <a:bodyPr wrap="square" rtlCol="0" anchor="ctr"/>
          <a:lstStyle/>
          <a:p>
            <a:pPr marL="0" indent="0" algn="ctr">
              <a:buNone/>
            </a:pPr>
            <a:r>
              <a:rPr lang="en-US" sz="1100" i="1" dirty="0">
                <a:solidFill>
                  <a:srgbClr val="3D1257"/>
                </a:solidFill>
                <a:latin typeface="Calibri" pitchFamily="34" charset="0"/>
                <a:ea typeface="Calibri" pitchFamily="34" charset="-122"/>
                <a:cs typeface="Calibri" pitchFamily="34" charset="-120"/>
              </a:rPr>
              <a:t>YoY ratios decelerate from 7.72× (Y2) to 1.34× (Y5) — the natural shape of a corridor-expansion model maturing into existing markets.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Profitable before the runway runs out.</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Cumulative break-even at Month 20 — four months before the seed would have been depleted.</a:t>
            </a:r>
            <a:endParaRPr lang="en-US" sz="1300" dirty="0"/>
          </a:p>
        </p:txBody>
      </p:sp>
      <p:sp>
        <p:nvSpPr>
          <p:cNvPr id="4" name="Shape 2"/>
          <p:cNvSpPr/>
          <p:nvPr/>
        </p:nvSpPr>
        <p:spPr>
          <a:xfrm>
            <a:off x="243688" y="1600200"/>
            <a:ext cx="1874520" cy="4069080"/>
          </a:xfrm>
          <a:prstGeom prst="rect">
            <a:avLst/>
          </a:prstGeom>
          <a:solidFill>
            <a:srgbClr val="E8E8E8"/>
          </a:solidFill>
          <a:ln w="25400">
            <a:solidFill>
              <a:srgbClr val="888888"/>
            </a:solidFill>
            <a:prstDash val="solid"/>
          </a:ln>
        </p:spPr>
        <p:txBody>
          <a:bodyPr/>
          <a:lstStyle/>
          <a:p>
            <a:endParaRPr lang="pl-PL"/>
          </a:p>
        </p:txBody>
      </p:sp>
      <p:sp>
        <p:nvSpPr>
          <p:cNvPr id="5" name="Shape 3"/>
          <p:cNvSpPr/>
          <p:nvPr/>
        </p:nvSpPr>
        <p:spPr>
          <a:xfrm>
            <a:off x="243688" y="1600200"/>
            <a:ext cx="1874520" cy="502920"/>
          </a:xfrm>
          <a:prstGeom prst="rect">
            <a:avLst/>
          </a:prstGeom>
          <a:solidFill>
            <a:srgbClr val="888888"/>
          </a:solidFill>
          <a:ln w="12700">
            <a:solidFill>
              <a:srgbClr val="888888"/>
            </a:solidFill>
            <a:prstDash val="solid"/>
          </a:ln>
        </p:spPr>
        <p:txBody>
          <a:bodyPr/>
          <a:lstStyle/>
          <a:p>
            <a:endParaRPr lang="pl-PL"/>
          </a:p>
        </p:txBody>
      </p:sp>
      <p:sp>
        <p:nvSpPr>
          <p:cNvPr id="6" name="Text 4"/>
          <p:cNvSpPr/>
          <p:nvPr/>
        </p:nvSpPr>
        <p:spPr>
          <a:xfrm>
            <a:off x="243688" y="1600200"/>
            <a:ext cx="18745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M1</a:t>
            </a:r>
            <a:endParaRPr lang="en-US" sz="1800" dirty="0"/>
          </a:p>
        </p:txBody>
      </p:sp>
      <p:sp>
        <p:nvSpPr>
          <p:cNvPr id="7" name="Text 5"/>
          <p:cNvSpPr/>
          <p:nvPr/>
        </p:nvSpPr>
        <p:spPr>
          <a:xfrm>
            <a:off x="335128" y="2240280"/>
            <a:ext cx="1691640" cy="777240"/>
          </a:xfrm>
          <a:prstGeom prst="rect">
            <a:avLst/>
          </a:prstGeom>
          <a:noFill/>
          <a:ln/>
        </p:spPr>
        <p:txBody>
          <a:bodyPr wrap="square" rtlCol="0" anchor="ctr"/>
          <a:lstStyle/>
          <a:p>
            <a:pPr marL="0" indent="0" algn="ctr">
              <a:buNone/>
            </a:pPr>
            <a:r>
              <a:rPr lang="en-US" sz="1300" b="1" dirty="0">
                <a:solidFill>
                  <a:srgbClr val="888888"/>
                </a:solidFill>
                <a:latin typeface="Calibri" pitchFamily="34" charset="0"/>
                <a:ea typeface="Calibri" pitchFamily="34" charset="-122"/>
                <a:cs typeface="Calibri" pitchFamily="34" charset="-120"/>
              </a:rPr>
              <a:t>Platform launches</a:t>
            </a:r>
            <a:endParaRPr lang="en-US" sz="1300" dirty="0"/>
          </a:p>
        </p:txBody>
      </p:sp>
      <p:sp>
        <p:nvSpPr>
          <p:cNvPr id="8" name="Text 6"/>
          <p:cNvSpPr/>
          <p:nvPr/>
        </p:nvSpPr>
        <p:spPr>
          <a:xfrm>
            <a:off x="335128" y="3108960"/>
            <a:ext cx="1691640" cy="777240"/>
          </a:xfrm>
          <a:prstGeom prst="rect">
            <a:avLst/>
          </a:prstGeom>
          <a:noFill/>
          <a:ln/>
        </p:spPr>
        <p:txBody>
          <a:bodyPr wrap="square" rtlCol="0" anchor="ctr"/>
          <a:lstStyle/>
          <a:p>
            <a:pPr marL="0" indent="0" algn="ctr">
              <a:buNone/>
            </a:pPr>
            <a:r>
              <a:rPr lang="en-US" sz="2200" b="1" dirty="0">
                <a:solidFill>
                  <a:srgbClr val="888888"/>
                </a:solidFill>
                <a:latin typeface="Calibri" pitchFamily="34" charset="0"/>
                <a:ea typeface="Calibri" pitchFamily="34" charset="-122"/>
                <a:cs typeface="Calibri" pitchFamily="34" charset="-120"/>
              </a:rPr>
              <a:t>−€700</a:t>
            </a:r>
            <a:endParaRPr lang="en-US" sz="2200" dirty="0"/>
          </a:p>
        </p:txBody>
      </p:sp>
      <p:sp>
        <p:nvSpPr>
          <p:cNvPr id="9" name="Shape 7"/>
          <p:cNvSpPr/>
          <p:nvPr/>
        </p:nvSpPr>
        <p:spPr>
          <a:xfrm>
            <a:off x="518008" y="4023360"/>
            <a:ext cx="1325880" cy="0"/>
          </a:xfrm>
          <a:prstGeom prst="line">
            <a:avLst/>
          </a:prstGeom>
          <a:noFill/>
          <a:ln w="12700">
            <a:solidFill>
              <a:srgbClr val="888888"/>
            </a:solidFill>
            <a:prstDash val="dash"/>
          </a:ln>
        </p:spPr>
        <p:txBody>
          <a:bodyPr/>
          <a:lstStyle/>
          <a:p>
            <a:endParaRPr lang="pl-PL"/>
          </a:p>
        </p:txBody>
      </p:sp>
      <p:sp>
        <p:nvSpPr>
          <p:cNvPr id="10" name="Text 8"/>
          <p:cNvSpPr/>
          <p:nvPr/>
        </p:nvSpPr>
        <p:spPr>
          <a:xfrm>
            <a:off x="380848" y="4160520"/>
            <a:ext cx="1600200" cy="1371600"/>
          </a:xfrm>
          <a:prstGeom prst="rect">
            <a:avLst/>
          </a:prstGeom>
          <a:noFill/>
          <a:ln/>
        </p:spPr>
        <p:txBody>
          <a:bodyPr wrap="square" rtlCol="0" anchor="t"/>
          <a:lstStyle/>
          <a:p>
            <a:pPr marL="0" indent="0" algn="ctr">
              <a:buNone/>
            </a:pPr>
            <a:r>
              <a:rPr lang="en-US" sz="1000" dirty="0">
                <a:solidFill>
                  <a:srgbClr val="333333"/>
                </a:solidFill>
                <a:latin typeface="Calibri" pitchFamily="34" charset="0"/>
                <a:ea typeface="Calibri" pitchFamily="34" charset="-122"/>
                <a:cs typeface="Calibri" pitchFamily="34" charset="-120"/>
              </a:rPr>
              <a:t>Founder self-funded</a:t>
            </a:r>
            <a:endParaRPr lang="en-US" sz="1000" dirty="0"/>
          </a:p>
          <a:p>
            <a:pPr marL="0" indent="0" algn="ctr">
              <a:buNone/>
            </a:pPr>
            <a:r>
              <a:rPr lang="en-US" sz="1000" dirty="0">
                <a:solidFill>
                  <a:srgbClr val="333333"/>
                </a:solidFill>
                <a:latin typeface="Calibri" pitchFamily="34" charset="0"/>
                <a:ea typeface="Calibri" pitchFamily="34" charset="-122"/>
                <a:cs typeface="Calibri" pitchFamily="34" charset="-120"/>
              </a:rPr>
              <a:t>Wishlist activates</a:t>
            </a:r>
            <a:endParaRPr lang="en-US" sz="1000" dirty="0"/>
          </a:p>
        </p:txBody>
      </p:sp>
      <p:sp>
        <p:nvSpPr>
          <p:cNvPr id="11" name="Shape 9"/>
          <p:cNvSpPr/>
          <p:nvPr/>
        </p:nvSpPr>
        <p:spPr>
          <a:xfrm>
            <a:off x="2209648" y="1600200"/>
            <a:ext cx="1874520" cy="4069080"/>
          </a:xfrm>
          <a:prstGeom prst="rect">
            <a:avLst/>
          </a:prstGeom>
          <a:solidFill>
            <a:srgbClr val="E8D5F5"/>
          </a:solidFill>
          <a:ln w="25400">
            <a:solidFill>
              <a:srgbClr val="9558B0"/>
            </a:solidFill>
            <a:prstDash val="solid"/>
          </a:ln>
        </p:spPr>
        <p:txBody>
          <a:bodyPr/>
          <a:lstStyle/>
          <a:p>
            <a:endParaRPr lang="pl-PL"/>
          </a:p>
        </p:txBody>
      </p:sp>
      <p:sp>
        <p:nvSpPr>
          <p:cNvPr id="12" name="Shape 10"/>
          <p:cNvSpPr/>
          <p:nvPr/>
        </p:nvSpPr>
        <p:spPr>
          <a:xfrm>
            <a:off x="2209648" y="1600200"/>
            <a:ext cx="1874520" cy="502920"/>
          </a:xfrm>
          <a:prstGeom prst="rect">
            <a:avLst/>
          </a:prstGeom>
          <a:solidFill>
            <a:srgbClr val="9558B0"/>
          </a:solidFill>
          <a:ln w="12700">
            <a:solidFill>
              <a:srgbClr val="9558B0"/>
            </a:solidFill>
            <a:prstDash val="solid"/>
          </a:ln>
        </p:spPr>
        <p:txBody>
          <a:bodyPr/>
          <a:lstStyle/>
          <a:p>
            <a:endParaRPr lang="pl-PL"/>
          </a:p>
        </p:txBody>
      </p:sp>
      <p:sp>
        <p:nvSpPr>
          <p:cNvPr id="13" name="Text 11"/>
          <p:cNvSpPr/>
          <p:nvPr/>
        </p:nvSpPr>
        <p:spPr>
          <a:xfrm>
            <a:off x="2209648" y="1600200"/>
            <a:ext cx="18745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M7</a:t>
            </a:r>
            <a:endParaRPr lang="en-US" sz="1800" dirty="0"/>
          </a:p>
        </p:txBody>
      </p:sp>
      <p:sp>
        <p:nvSpPr>
          <p:cNvPr id="14" name="Text 12"/>
          <p:cNvSpPr/>
          <p:nvPr/>
        </p:nvSpPr>
        <p:spPr>
          <a:xfrm>
            <a:off x="2301088" y="2240280"/>
            <a:ext cx="1691640" cy="777240"/>
          </a:xfrm>
          <a:prstGeom prst="rect">
            <a:avLst/>
          </a:prstGeom>
          <a:noFill/>
          <a:ln/>
        </p:spPr>
        <p:txBody>
          <a:bodyPr wrap="square" rtlCol="0" anchor="ctr"/>
          <a:lstStyle/>
          <a:p>
            <a:pPr marL="0" indent="0" algn="ctr">
              <a:buNone/>
            </a:pPr>
            <a:r>
              <a:rPr lang="en-US" sz="1300" b="1" dirty="0">
                <a:solidFill>
                  <a:srgbClr val="9558B0"/>
                </a:solidFill>
                <a:latin typeface="Calibri" pitchFamily="34" charset="0"/>
                <a:ea typeface="Calibri" pitchFamily="34" charset="-122"/>
                <a:cs typeface="Calibri" pitchFamily="34" charset="-120"/>
              </a:rPr>
              <a:t>Seed arrives</a:t>
            </a:r>
            <a:endParaRPr lang="en-US" sz="1300" dirty="0"/>
          </a:p>
        </p:txBody>
      </p:sp>
      <p:sp>
        <p:nvSpPr>
          <p:cNvPr id="15" name="Text 13"/>
          <p:cNvSpPr/>
          <p:nvPr/>
        </p:nvSpPr>
        <p:spPr>
          <a:xfrm>
            <a:off x="2301088" y="3108960"/>
            <a:ext cx="1691640" cy="777240"/>
          </a:xfrm>
          <a:prstGeom prst="rect">
            <a:avLst/>
          </a:prstGeom>
          <a:noFill/>
          <a:ln/>
        </p:spPr>
        <p:txBody>
          <a:bodyPr wrap="square" rtlCol="0" anchor="ctr"/>
          <a:lstStyle/>
          <a:p>
            <a:pPr marL="0" indent="0" algn="ctr">
              <a:buNone/>
            </a:pPr>
            <a:r>
              <a:rPr lang="en-US" sz="2200" b="1" dirty="0">
                <a:solidFill>
                  <a:srgbClr val="9558B0"/>
                </a:solidFill>
                <a:latin typeface="Calibri" pitchFamily="34" charset="0"/>
                <a:ea typeface="Calibri" pitchFamily="34" charset="-122"/>
                <a:cs typeface="Calibri" pitchFamily="34" charset="-120"/>
              </a:rPr>
              <a:t>+€223K</a:t>
            </a:r>
            <a:endParaRPr lang="en-US" sz="2200" dirty="0"/>
          </a:p>
        </p:txBody>
      </p:sp>
      <p:sp>
        <p:nvSpPr>
          <p:cNvPr id="16" name="Shape 14"/>
          <p:cNvSpPr/>
          <p:nvPr/>
        </p:nvSpPr>
        <p:spPr>
          <a:xfrm>
            <a:off x="2483968" y="4023360"/>
            <a:ext cx="1325880" cy="0"/>
          </a:xfrm>
          <a:prstGeom prst="line">
            <a:avLst/>
          </a:prstGeom>
          <a:noFill/>
          <a:ln w="12700">
            <a:solidFill>
              <a:srgbClr val="9558B0"/>
            </a:solidFill>
            <a:prstDash val="dash"/>
          </a:ln>
        </p:spPr>
        <p:txBody>
          <a:bodyPr/>
          <a:lstStyle/>
          <a:p>
            <a:endParaRPr lang="pl-PL"/>
          </a:p>
        </p:txBody>
      </p:sp>
      <p:sp>
        <p:nvSpPr>
          <p:cNvPr id="17" name="Text 15"/>
          <p:cNvSpPr/>
          <p:nvPr/>
        </p:nvSpPr>
        <p:spPr>
          <a:xfrm>
            <a:off x="2346808" y="4160520"/>
            <a:ext cx="1600200" cy="1371600"/>
          </a:xfrm>
          <a:prstGeom prst="rect">
            <a:avLst/>
          </a:prstGeom>
          <a:noFill/>
          <a:ln/>
        </p:spPr>
        <p:txBody>
          <a:bodyPr wrap="square" rtlCol="0" anchor="t"/>
          <a:lstStyle/>
          <a:p>
            <a:pPr marL="0" indent="0" algn="ctr">
              <a:buNone/>
            </a:pPr>
            <a:r>
              <a:rPr lang="en-US" sz="1000" dirty="0">
                <a:solidFill>
                  <a:srgbClr val="333333"/>
                </a:solidFill>
                <a:latin typeface="Calibri" pitchFamily="34" charset="0"/>
                <a:ea typeface="Calibri" pitchFamily="34" charset="-122"/>
                <a:cs typeface="Calibri" pitchFamily="34" charset="-120"/>
              </a:rPr>
              <a:t>€230K deploys</a:t>
            </a:r>
            <a:endParaRPr lang="en-US" sz="1000" dirty="0"/>
          </a:p>
          <a:p>
            <a:pPr marL="0" indent="0" algn="ctr">
              <a:buNone/>
            </a:pPr>
            <a:r>
              <a:rPr lang="en-US" sz="1000" dirty="0">
                <a:solidFill>
                  <a:srgbClr val="333333"/>
                </a:solidFill>
                <a:latin typeface="Calibri" pitchFamily="34" charset="0"/>
                <a:ea typeface="Calibri" pitchFamily="34" charset="-122"/>
                <a:cs typeface="Calibri" pitchFamily="34" charset="-120"/>
              </a:rPr>
              <a:t>Paid acquisition begins</a:t>
            </a:r>
            <a:endParaRPr lang="en-US" sz="1000" dirty="0"/>
          </a:p>
        </p:txBody>
      </p:sp>
      <p:sp>
        <p:nvSpPr>
          <p:cNvPr id="18" name="Shape 16"/>
          <p:cNvSpPr/>
          <p:nvPr/>
        </p:nvSpPr>
        <p:spPr>
          <a:xfrm>
            <a:off x="4175608" y="1600200"/>
            <a:ext cx="1874520" cy="4069080"/>
          </a:xfrm>
          <a:prstGeom prst="rect">
            <a:avLst/>
          </a:prstGeom>
          <a:solidFill>
            <a:srgbClr val="FDD8DA"/>
          </a:solidFill>
          <a:ln w="25400">
            <a:solidFill>
              <a:srgbClr val="C62828"/>
            </a:solidFill>
            <a:prstDash val="solid"/>
          </a:ln>
        </p:spPr>
        <p:txBody>
          <a:bodyPr/>
          <a:lstStyle/>
          <a:p>
            <a:endParaRPr lang="pl-PL"/>
          </a:p>
        </p:txBody>
      </p:sp>
      <p:sp>
        <p:nvSpPr>
          <p:cNvPr id="19" name="Shape 17"/>
          <p:cNvSpPr/>
          <p:nvPr/>
        </p:nvSpPr>
        <p:spPr>
          <a:xfrm>
            <a:off x="4175608" y="1600200"/>
            <a:ext cx="1874520" cy="502920"/>
          </a:xfrm>
          <a:prstGeom prst="rect">
            <a:avLst/>
          </a:prstGeom>
          <a:solidFill>
            <a:srgbClr val="C62828"/>
          </a:solidFill>
          <a:ln w="12700">
            <a:solidFill>
              <a:srgbClr val="C62828"/>
            </a:solidFill>
            <a:prstDash val="solid"/>
          </a:ln>
        </p:spPr>
        <p:txBody>
          <a:bodyPr/>
          <a:lstStyle/>
          <a:p>
            <a:endParaRPr lang="pl-PL"/>
          </a:p>
        </p:txBody>
      </p:sp>
      <p:sp>
        <p:nvSpPr>
          <p:cNvPr id="20" name="Text 18"/>
          <p:cNvSpPr/>
          <p:nvPr/>
        </p:nvSpPr>
        <p:spPr>
          <a:xfrm>
            <a:off x="4175608" y="1600200"/>
            <a:ext cx="18745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M15</a:t>
            </a:r>
            <a:endParaRPr lang="en-US" sz="1800" dirty="0"/>
          </a:p>
        </p:txBody>
      </p:sp>
      <p:sp>
        <p:nvSpPr>
          <p:cNvPr id="21" name="Text 19"/>
          <p:cNvSpPr/>
          <p:nvPr/>
        </p:nvSpPr>
        <p:spPr>
          <a:xfrm>
            <a:off x="4267048" y="2240280"/>
            <a:ext cx="1691640" cy="777240"/>
          </a:xfrm>
          <a:prstGeom prst="rect">
            <a:avLst/>
          </a:prstGeom>
          <a:noFill/>
          <a:ln/>
        </p:spPr>
        <p:txBody>
          <a:bodyPr wrap="square" rtlCol="0" anchor="ctr"/>
          <a:lstStyle/>
          <a:p>
            <a:pPr marL="0" indent="0" algn="ctr">
              <a:buNone/>
            </a:pPr>
            <a:r>
              <a:rPr lang="en-US" sz="1300" b="1" dirty="0">
                <a:solidFill>
                  <a:srgbClr val="C62828"/>
                </a:solidFill>
                <a:latin typeface="Calibri" pitchFamily="34" charset="0"/>
                <a:ea typeface="Calibri" pitchFamily="34" charset="-122"/>
                <a:cs typeface="Calibri" pitchFamily="34" charset="-120"/>
              </a:rPr>
              <a:t>Peak draw from seed</a:t>
            </a:r>
            <a:endParaRPr lang="en-US" sz="1300" dirty="0"/>
          </a:p>
        </p:txBody>
      </p:sp>
      <p:sp>
        <p:nvSpPr>
          <p:cNvPr id="22" name="Text 20"/>
          <p:cNvSpPr/>
          <p:nvPr/>
        </p:nvSpPr>
        <p:spPr>
          <a:xfrm>
            <a:off x="4267048" y="3108960"/>
            <a:ext cx="1691640" cy="777240"/>
          </a:xfrm>
          <a:prstGeom prst="rect">
            <a:avLst/>
          </a:prstGeom>
          <a:noFill/>
          <a:ln/>
        </p:spPr>
        <p:txBody>
          <a:bodyPr wrap="square" rtlCol="0" anchor="ctr"/>
          <a:lstStyle/>
          <a:p>
            <a:pPr marL="0" indent="0" algn="ctr">
              <a:buNone/>
            </a:pPr>
            <a:r>
              <a:rPr lang="en-US" sz="2200" b="1" dirty="0">
                <a:solidFill>
                  <a:srgbClr val="C62828"/>
                </a:solidFill>
                <a:latin typeface="Calibri" pitchFamily="34" charset="0"/>
                <a:ea typeface="Calibri" pitchFamily="34" charset="-122"/>
                <a:cs typeface="Calibri" pitchFamily="34" charset="-120"/>
              </a:rPr>
              <a:t>+€206K</a:t>
            </a:r>
            <a:endParaRPr lang="en-US" sz="2200" dirty="0"/>
          </a:p>
        </p:txBody>
      </p:sp>
      <p:sp>
        <p:nvSpPr>
          <p:cNvPr id="23" name="Shape 21"/>
          <p:cNvSpPr/>
          <p:nvPr/>
        </p:nvSpPr>
        <p:spPr>
          <a:xfrm>
            <a:off x="4449928" y="4023360"/>
            <a:ext cx="1325880" cy="0"/>
          </a:xfrm>
          <a:prstGeom prst="line">
            <a:avLst/>
          </a:prstGeom>
          <a:noFill/>
          <a:ln w="12700">
            <a:solidFill>
              <a:srgbClr val="C62828"/>
            </a:solidFill>
            <a:prstDash val="dash"/>
          </a:ln>
        </p:spPr>
        <p:txBody>
          <a:bodyPr/>
          <a:lstStyle/>
          <a:p>
            <a:endParaRPr lang="pl-PL"/>
          </a:p>
        </p:txBody>
      </p:sp>
      <p:sp>
        <p:nvSpPr>
          <p:cNvPr id="24" name="Text 22"/>
          <p:cNvSpPr/>
          <p:nvPr/>
        </p:nvSpPr>
        <p:spPr>
          <a:xfrm>
            <a:off x="4312768" y="4160520"/>
            <a:ext cx="1600200" cy="1371600"/>
          </a:xfrm>
          <a:prstGeom prst="rect">
            <a:avLst/>
          </a:prstGeom>
          <a:noFill/>
          <a:ln/>
        </p:spPr>
        <p:txBody>
          <a:bodyPr wrap="square" rtlCol="0" anchor="t"/>
          <a:lstStyle/>
          <a:p>
            <a:pPr marL="0" indent="0" algn="ctr">
              <a:buNone/>
            </a:pPr>
            <a:r>
              <a:rPr lang="en-US" sz="1000" dirty="0">
                <a:solidFill>
                  <a:srgbClr val="333333"/>
                </a:solidFill>
                <a:latin typeface="Calibri" pitchFamily="34" charset="0"/>
                <a:ea typeface="Calibri" pitchFamily="34" charset="-122"/>
                <a:cs typeface="Calibri" pitchFamily="34" charset="-120"/>
              </a:rPr>
              <a:t>~€24K spent of €230K</a:t>
            </a:r>
            <a:endParaRPr lang="en-US" sz="1000" dirty="0"/>
          </a:p>
          <a:p>
            <a:pPr marL="0" indent="0" algn="ctr">
              <a:buNone/>
            </a:pPr>
            <a:r>
              <a:rPr lang="en-US" sz="1000" dirty="0">
                <a:solidFill>
                  <a:srgbClr val="333333"/>
                </a:solidFill>
                <a:latin typeface="Calibri" pitchFamily="34" charset="0"/>
                <a:ea typeface="Calibri" pitchFamily="34" charset="-122"/>
                <a:cs typeface="Calibri" pitchFamily="34" charset="-120"/>
              </a:rPr>
              <a:t>~€206K remaining</a:t>
            </a:r>
            <a:endParaRPr lang="en-US" sz="1000" dirty="0"/>
          </a:p>
        </p:txBody>
      </p:sp>
      <p:sp>
        <p:nvSpPr>
          <p:cNvPr id="25" name="Shape 23"/>
          <p:cNvSpPr/>
          <p:nvPr/>
        </p:nvSpPr>
        <p:spPr>
          <a:xfrm>
            <a:off x="6141568" y="1600200"/>
            <a:ext cx="1874520" cy="4069080"/>
          </a:xfrm>
          <a:prstGeom prst="rect">
            <a:avLst/>
          </a:prstGeom>
          <a:solidFill>
            <a:srgbClr val="FFF4B8"/>
          </a:solidFill>
          <a:ln w="25400">
            <a:solidFill>
              <a:srgbClr val="B8860B"/>
            </a:solidFill>
            <a:prstDash val="solid"/>
          </a:ln>
        </p:spPr>
        <p:txBody>
          <a:bodyPr/>
          <a:lstStyle/>
          <a:p>
            <a:endParaRPr lang="pl-PL"/>
          </a:p>
        </p:txBody>
      </p:sp>
      <p:sp>
        <p:nvSpPr>
          <p:cNvPr id="26" name="Shape 24"/>
          <p:cNvSpPr/>
          <p:nvPr/>
        </p:nvSpPr>
        <p:spPr>
          <a:xfrm>
            <a:off x="6141568" y="1600200"/>
            <a:ext cx="1874520" cy="502920"/>
          </a:xfrm>
          <a:prstGeom prst="rect">
            <a:avLst/>
          </a:prstGeom>
          <a:solidFill>
            <a:srgbClr val="B8860B"/>
          </a:solidFill>
          <a:ln w="12700">
            <a:solidFill>
              <a:srgbClr val="B8860B"/>
            </a:solidFill>
            <a:prstDash val="solid"/>
          </a:ln>
        </p:spPr>
        <p:txBody>
          <a:bodyPr/>
          <a:lstStyle/>
          <a:p>
            <a:endParaRPr lang="pl-PL"/>
          </a:p>
        </p:txBody>
      </p:sp>
      <p:sp>
        <p:nvSpPr>
          <p:cNvPr id="27" name="Text 25"/>
          <p:cNvSpPr/>
          <p:nvPr/>
        </p:nvSpPr>
        <p:spPr>
          <a:xfrm>
            <a:off x="6141568" y="1600200"/>
            <a:ext cx="18745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M16</a:t>
            </a:r>
            <a:endParaRPr lang="en-US" sz="1800" dirty="0"/>
          </a:p>
        </p:txBody>
      </p:sp>
      <p:sp>
        <p:nvSpPr>
          <p:cNvPr id="28" name="Text 26"/>
          <p:cNvSpPr/>
          <p:nvPr/>
        </p:nvSpPr>
        <p:spPr>
          <a:xfrm>
            <a:off x="6233008" y="2240280"/>
            <a:ext cx="1691640" cy="777240"/>
          </a:xfrm>
          <a:prstGeom prst="rect">
            <a:avLst/>
          </a:prstGeom>
          <a:noFill/>
          <a:ln/>
        </p:spPr>
        <p:txBody>
          <a:bodyPr wrap="square"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Monthly break-even</a:t>
            </a:r>
            <a:endParaRPr lang="en-US" sz="1300" dirty="0"/>
          </a:p>
        </p:txBody>
      </p:sp>
      <p:sp>
        <p:nvSpPr>
          <p:cNvPr id="29" name="Text 27"/>
          <p:cNvSpPr/>
          <p:nvPr/>
        </p:nvSpPr>
        <p:spPr>
          <a:xfrm>
            <a:off x="6233008" y="3108960"/>
            <a:ext cx="1691640" cy="777240"/>
          </a:xfrm>
          <a:prstGeom prst="rect">
            <a:avLst/>
          </a:prstGeom>
          <a:noFill/>
          <a:ln/>
        </p:spPr>
        <p:txBody>
          <a:bodyPr wrap="square" rtlCol="0" anchor="ctr"/>
          <a:lstStyle/>
          <a:p>
            <a:pPr marL="0" indent="0" algn="ctr">
              <a:buNone/>
            </a:pPr>
            <a:r>
              <a:rPr lang="en-US" sz="2200" b="1" dirty="0">
                <a:solidFill>
                  <a:srgbClr val="B8860B"/>
                </a:solidFill>
                <a:latin typeface="Calibri" pitchFamily="34" charset="0"/>
                <a:ea typeface="Calibri" pitchFamily="34" charset="-122"/>
                <a:cs typeface="Calibri" pitchFamily="34" charset="-120"/>
              </a:rPr>
              <a:t>+€207K</a:t>
            </a:r>
            <a:endParaRPr lang="en-US" sz="2200" dirty="0"/>
          </a:p>
        </p:txBody>
      </p:sp>
      <p:sp>
        <p:nvSpPr>
          <p:cNvPr id="30" name="Shape 28"/>
          <p:cNvSpPr/>
          <p:nvPr/>
        </p:nvSpPr>
        <p:spPr>
          <a:xfrm>
            <a:off x="6415888" y="4023360"/>
            <a:ext cx="1325880" cy="0"/>
          </a:xfrm>
          <a:prstGeom prst="line">
            <a:avLst/>
          </a:prstGeom>
          <a:noFill/>
          <a:ln w="12700">
            <a:solidFill>
              <a:srgbClr val="B8860B"/>
            </a:solidFill>
            <a:prstDash val="dash"/>
          </a:ln>
        </p:spPr>
        <p:txBody>
          <a:bodyPr/>
          <a:lstStyle/>
          <a:p>
            <a:endParaRPr lang="pl-PL"/>
          </a:p>
        </p:txBody>
      </p:sp>
      <p:sp>
        <p:nvSpPr>
          <p:cNvPr id="31" name="Text 29"/>
          <p:cNvSpPr/>
          <p:nvPr/>
        </p:nvSpPr>
        <p:spPr>
          <a:xfrm>
            <a:off x="6278728" y="4160520"/>
            <a:ext cx="1600200" cy="1371600"/>
          </a:xfrm>
          <a:prstGeom prst="rect">
            <a:avLst/>
          </a:prstGeom>
          <a:noFill/>
          <a:ln/>
        </p:spPr>
        <p:txBody>
          <a:bodyPr wrap="square" rtlCol="0" anchor="t"/>
          <a:lstStyle/>
          <a:p>
            <a:pPr marL="0" indent="0" algn="ctr">
              <a:buNone/>
            </a:pPr>
            <a:r>
              <a:rPr lang="en-US" sz="1000" dirty="0">
                <a:solidFill>
                  <a:srgbClr val="333333"/>
                </a:solidFill>
                <a:latin typeface="Calibri" pitchFamily="34" charset="0"/>
                <a:ea typeface="Calibri" pitchFamily="34" charset="-122"/>
                <a:cs typeface="Calibri" pitchFamily="34" charset="-120"/>
              </a:rPr>
              <a:t>Monthly revenue exceeds</a:t>
            </a:r>
            <a:endParaRPr lang="en-US" sz="1000" dirty="0"/>
          </a:p>
          <a:p>
            <a:pPr marL="0" indent="0" algn="ctr">
              <a:buNone/>
            </a:pPr>
            <a:r>
              <a:rPr lang="en-US" sz="1000" dirty="0">
                <a:solidFill>
                  <a:srgbClr val="333333"/>
                </a:solidFill>
                <a:latin typeface="Calibri" pitchFamily="34" charset="0"/>
                <a:ea typeface="Calibri" pitchFamily="34" charset="-122"/>
                <a:cs typeface="Calibri" pitchFamily="34" charset="-120"/>
              </a:rPr>
              <a:t>monthly costs — slope flips</a:t>
            </a:r>
            <a:endParaRPr lang="en-US" sz="1000" dirty="0"/>
          </a:p>
        </p:txBody>
      </p:sp>
      <p:sp>
        <p:nvSpPr>
          <p:cNvPr id="32" name="Shape 30"/>
          <p:cNvSpPr/>
          <p:nvPr/>
        </p:nvSpPr>
        <p:spPr>
          <a:xfrm>
            <a:off x="8107528" y="1600200"/>
            <a:ext cx="1874520" cy="4069080"/>
          </a:xfrm>
          <a:prstGeom prst="rect">
            <a:avLst/>
          </a:prstGeom>
          <a:solidFill>
            <a:srgbClr val="D4F4D7"/>
          </a:solidFill>
          <a:ln w="25400">
            <a:solidFill>
              <a:srgbClr val="2E7D32"/>
            </a:solidFill>
            <a:prstDash val="solid"/>
          </a:ln>
        </p:spPr>
        <p:txBody>
          <a:bodyPr/>
          <a:lstStyle/>
          <a:p>
            <a:endParaRPr lang="pl-PL"/>
          </a:p>
        </p:txBody>
      </p:sp>
      <p:sp>
        <p:nvSpPr>
          <p:cNvPr id="33" name="Shape 31"/>
          <p:cNvSpPr/>
          <p:nvPr/>
        </p:nvSpPr>
        <p:spPr>
          <a:xfrm>
            <a:off x="8107528" y="1600200"/>
            <a:ext cx="1874520" cy="502920"/>
          </a:xfrm>
          <a:prstGeom prst="rect">
            <a:avLst/>
          </a:prstGeom>
          <a:solidFill>
            <a:srgbClr val="2E7D32"/>
          </a:solidFill>
          <a:ln w="12700">
            <a:solidFill>
              <a:srgbClr val="2E7D32"/>
            </a:solidFill>
            <a:prstDash val="solid"/>
          </a:ln>
        </p:spPr>
        <p:txBody>
          <a:bodyPr/>
          <a:lstStyle/>
          <a:p>
            <a:endParaRPr lang="pl-PL"/>
          </a:p>
        </p:txBody>
      </p:sp>
      <p:sp>
        <p:nvSpPr>
          <p:cNvPr id="34" name="Text 32"/>
          <p:cNvSpPr/>
          <p:nvPr/>
        </p:nvSpPr>
        <p:spPr>
          <a:xfrm>
            <a:off x="8107528" y="1600200"/>
            <a:ext cx="18745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M20</a:t>
            </a:r>
            <a:endParaRPr lang="en-US" sz="1800" dirty="0"/>
          </a:p>
        </p:txBody>
      </p:sp>
      <p:sp>
        <p:nvSpPr>
          <p:cNvPr id="35" name="Text 33"/>
          <p:cNvSpPr/>
          <p:nvPr/>
        </p:nvSpPr>
        <p:spPr>
          <a:xfrm>
            <a:off x="8198968" y="2240280"/>
            <a:ext cx="1691640" cy="777240"/>
          </a:xfrm>
          <a:prstGeom prst="rect">
            <a:avLst/>
          </a:prstGeom>
          <a:noFill/>
          <a:ln/>
        </p:spPr>
        <p:txBody>
          <a:bodyPr wrap="square" rtlCol="0" anchor="ctr"/>
          <a:lstStyle/>
          <a:p>
            <a:pPr marL="0" indent="0" algn="ctr">
              <a:buNone/>
            </a:pPr>
            <a:r>
              <a:rPr lang="en-US" sz="1300" b="1" dirty="0">
                <a:solidFill>
                  <a:srgbClr val="2E7D32"/>
                </a:solidFill>
                <a:latin typeface="Calibri" pitchFamily="34" charset="0"/>
                <a:ea typeface="Calibri" pitchFamily="34" charset="-122"/>
                <a:cs typeface="Calibri" pitchFamily="34" charset="-120"/>
              </a:rPr>
              <a:t>Cumulative break-even</a:t>
            </a:r>
            <a:endParaRPr lang="en-US" sz="1300" dirty="0"/>
          </a:p>
        </p:txBody>
      </p:sp>
      <p:sp>
        <p:nvSpPr>
          <p:cNvPr id="36" name="Text 34"/>
          <p:cNvSpPr/>
          <p:nvPr/>
        </p:nvSpPr>
        <p:spPr>
          <a:xfrm>
            <a:off x="8198968" y="3108960"/>
            <a:ext cx="1691640" cy="777240"/>
          </a:xfrm>
          <a:prstGeom prst="rect">
            <a:avLst/>
          </a:prstGeom>
          <a:noFill/>
          <a:ln/>
        </p:spPr>
        <p:txBody>
          <a:bodyPr wrap="square"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+€236K</a:t>
            </a:r>
            <a:endParaRPr lang="en-US" sz="2200" dirty="0"/>
          </a:p>
        </p:txBody>
      </p:sp>
      <p:sp>
        <p:nvSpPr>
          <p:cNvPr id="37" name="Shape 35"/>
          <p:cNvSpPr/>
          <p:nvPr/>
        </p:nvSpPr>
        <p:spPr>
          <a:xfrm>
            <a:off x="8381848" y="4023360"/>
            <a:ext cx="1325880" cy="0"/>
          </a:xfrm>
          <a:prstGeom prst="line">
            <a:avLst/>
          </a:prstGeom>
          <a:noFill/>
          <a:ln w="12700">
            <a:solidFill>
              <a:srgbClr val="2E7D32"/>
            </a:solidFill>
            <a:prstDash val="dash"/>
          </a:ln>
        </p:spPr>
        <p:txBody>
          <a:bodyPr/>
          <a:lstStyle/>
          <a:p>
            <a:endParaRPr lang="pl-PL"/>
          </a:p>
        </p:txBody>
      </p:sp>
      <p:sp>
        <p:nvSpPr>
          <p:cNvPr id="38" name="Text 36"/>
          <p:cNvSpPr/>
          <p:nvPr/>
        </p:nvSpPr>
        <p:spPr>
          <a:xfrm>
            <a:off x="8244688" y="4160520"/>
            <a:ext cx="1600200" cy="1371600"/>
          </a:xfrm>
          <a:prstGeom prst="rect">
            <a:avLst/>
          </a:prstGeom>
          <a:noFill/>
          <a:ln/>
        </p:spPr>
        <p:txBody>
          <a:bodyPr wrap="square" rtlCol="0" anchor="t"/>
          <a:lstStyle/>
          <a:p>
            <a:pPr marL="0" indent="0" algn="ctr">
              <a:buNone/>
            </a:pPr>
            <a:r>
              <a:rPr lang="en-US" sz="1000" dirty="0">
                <a:solidFill>
                  <a:srgbClr val="333333"/>
                </a:solidFill>
                <a:latin typeface="Calibri" pitchFamily="34" charset="0"/>
                <a:ea typeface="Calibri" pitchFamily="34" charset="-122"/>
                <a:cs typeface="Calibri" pitchFamily="34" charset="-120"/>
              </a:rPr>
              <a:t>Every euro of seed +</a:t>
            </a:r>
            <a:endParaRPr lang="en-US" sz="1000" dirty="0"/>
          </a:p>
          <a:p>
            <a:pPr marL="0" indent="0" algn="ctr">
              <a:buNone/>
            </a:pPr>
            <a:r>
              <a:rPr lang="en-US" sz="1000" dirty="0">
                <a:solidFill>
                  <a:srgbClr val="333333"/>
                </a:solidFill>
                <a:latin typeface="Calibri" pitchFamily="34" charset="0"/>
                <a:ea typeface="Calibri" pitchFamily="34" charset="-122"/>
                <a:cs typeface="Calibri" pitchFamily="34" charset="-120"/>
              </a:rPr>
              <a:t>bootstrap losses recovered</a:t>
            </a:r>
            <a:endParaRPr lang="en-US" sz="1000" dirty="0"/>
          </a:p>
        </p:txBody>
      </p:sp>
      <p:sp>
        <p:nvSpPr>
          <p:cNvPr id="39" name="Shape 37"/>
          <p:cNvSpPr/>
          <p:nvPr/>
        </p:nvSpPr>
        <p:spPr>
          <a:xfrm>
            <a:off x="10073488" y="1600200"/>
            <a:ext cx="1874520" cy="4069080"/>
          </a:xfrm>
          <a:prstGeom prst="rect">
            <a:avLst/>
          </a:prstGeom>
          <a:solidFill>
            <a:srgbClr val="D4F4D7"/>
          </a:solidFill>
          <a:ln w="25400">
            <a:solidFill>
              <a:srgbClr val="2E7D32"/>
            </a:solidFill>
            <a:prstDash val="solid"/>
          </a:ln>
        </p:spPr>
        <p:txBody>
          <a:bodyPr/>
          <a:lstStyle/>
          <a:p>
            <a:endParaRPr lang="pl-PL"/>
          </a:p>
        </p:txBody>
      </p:sp>
      <p:sp>
        <p:nvSpPr>
          <p:cNvPr id="40" name="Shape 38"/>
          <p:cNvSpPr/>
          <p:nvPr/>
        </p:nvSpPr>
        <p:spPr>
          <a:xfrm>
            <a:off x="10073488" y="1600200"/>
            <a:ext cx="1874520" cy="502920"/>
          </a:xfrm>
          <a:prstGeom prst="rect">
            <a:avLst/>
          </a:prstGeom>
          <a:solidFill>
            <a:srgbClr val="2E7D32"/>
          </a:solidFill>
          <a:ln w="12700">
            <a:solidFill>
              <a:srgbClr val="2E7D32"/>
            </a:solidFill>
            <a:prstDash val="solid"/>
          </a:ln>
        </p:spPr>
        <p:txBody>
          <a:bodyPr/>
          <a:lstStyle/>
          <a:p>
            <a:endParaRPr lang="pl-PL"/>
          </a:p>
        </p:txBody>
      </p:sp>
      <p:sp>
        <p:nvSpPr>
          <p:cNvPr id="41" name="Text 39"/>
          <p:cNvSpPr/>
          <p:nvPr/>
        </p:nvSpPr>
        <p:spPr>
          <a:xfrm>
            <a:off x="10073488" y="1600200"/>
            <a:ext cx="18745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M60</a:t>
            </a:r>
            <a:endParaRPr lang="en-US" sz="1800" dirty="0"/>
          </a:p>
        </p:txBody>
      </p:sp>
      <p:sp>
        <p:nvSpPr>
          <p:cNvPr id="42" name="Text 40"/>
          <p:cNvSpPr/>
          <p:nvPr/>
        </p:nvSpPr>
        <p:spPr>
          <a:xfrm>
            <a:off x="10164928" y="2240280"/>
            <a:ext cx="1691640" cy="777240"/>
          </a:xfrm>
          <a:prstGeom prst="rect">
            <a:avLst/>
          </a:prstGeom>
          <a:noFill/>
          <a:ln/>
        </p:spPr>
        <p:txBody>
          <a:bodyPr wrap="square" rtlCol="0" anchor="ctr"/>
          <a:lstStyle/>
          <a:p>
            <a:pPr marL="0" indent="0" algn="ctr">
              <a:buNone/>
            </a:pPr>
            <a:r>
              <a:rPr lang="en-US" sz="1300" b="1" dirty="0">
                <a:solidFill>
                  <a:srgbClr val="2E7D32"/>
                </a:solidFill>
                <a:latin typeface="Calibri" pitchFamily="34" charset="0"/>
                <a:ea typeface="Calibri" pitchFamily="34" charset="-122"/>
                <a:cs typeface="Calibri" pitchFamily="34" charset="-120"/>
              </a:rPr>
              <a:t>Y5 endpoint</a:t>
            </a:r>
            <a:endParaRPr lang="en-US" sz="1300" dirty="0"/>
          </a:p>
        </p:txBody>
      </p:sp>
      <p:sp>
        <p:nvSpPr>
          <p:cNvPr id="43" name="Text 41"/>
          <p:cNvSpPr/>
          <p:nvPr/>
        </p:nvSpPr>
        <p:spPr>
          <a:xfrm>
            <a:off x="10164928" y="3108960"/>
            <a:ext cx="1691640" cy="777240"/>
          </a:xfrm>
          <a:prstGeom prst="rect">
            <a:avLst/>
          </a:prstGeom>
          <a:noFill/>
          <a:ln/>
        </p:spPr>
        <p:txBody>
          <a:bodyPr wrap="square"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+€4.31M</a:t>
            </a:r>
            <a:endParaRPr lang="en-US" sz="2200" dirty="0"/>
          </a:p>
        </p:txBody>
      </p:sp>
      <p:sp>
        <p:nvSpPr>
          <p:cNvPr id="44" name="Shape 42"/>
          <p:cNvSpPr/>
          <p:nvPr/>
        </p:nvSpPr>
        <p:spPr>
          <a:xfrm>
            <a:off x="10347808" y="4023360"/>
            <a:ext cx="1325880" cy="0"/>
          </a:xfrm>
          <a:prstGeom prst="line">
            <a:avLst/>
          </a:prstGeom>
          <a:noFill/>
          <a:ln w="12700">
            <a:solidFill>
              <a:srgbClr val="2E7D32"/>
            </a:solidFill>
            <a:prstDash val="dash"/>
          </a:ln>
        </p:spPr>
        <p:txBody>
          <a:bodyPr/>
          <a:lstStyle/>
          <a:p>
            <a:endParaRPr lang="pl-PL"/>
          </a:p>
        </p:txBody>
      </p:sp>
      <p:sp>
        <p:nvSpPr>
          <p:cNvPr id="45" name="Text 43"/>
          <p:cNvSpPr/>
          <p:nvPr/>
        </p:nvSpPr>
        <p:spPr>
          <a:xfrm>
            <a:off x="10210648" y="4160520"/>
            <a:ext cx="1600200" cy="1371600"/>
          </a:xfrm>
          <a:prstGeom prst="rect">
            <a:avLst/>
          </a:prstGeom>
          <a:noFill/>
          <a:ln/>
        </p:spPr>
        <p:txBody>
          <a:bodyPr wrap="square" rtlCol="0" anchor="t"/>
          <a:lstStyle/>
          <a:p>
            <a:pPr marL="0" indent="0" algn="ctr">
              <a:buNone/>
            </a:pPr>
            <a:r>
              <a:rPr lang="en-US" sz="1000" dirty="0">
                <a:solidFill>
                  <a:srgbClr val="333333"/>
                </a:solidFill>
                <a:latin typeface="Calibri" pitchFamily="34" charset="0"/>
                <a:ea typeface="Calibri" pitchFamily="34" charset="-122"/>
                <a:cs typeface="Calibri" pitchFamily="34" charset="-120"/>
              </a:rPr>
              <a:t>+€4.08M cumulative net</a:t>
            </a:r>
            <a:endParaRPr lang="en-US" sz="1000" dirty="0"/>
          </a:p>
          <a:p>
            <a:pPr marL="0" indent="0" algn="ctr">
              <a:buNone/>
            </a:pPr>
            <a:r>
              <a:rPr lang="en-US" sz="1000" dirty="0">
                <a:solidFill>
                  <a:srgbClr val="333333"/>
                </a:solidFill>
                <a:latin typeface="Calibri" pitchFamily="34" charset="0"/>
                <a:ea typeface="Calibri" pitchFamily="34" charset="-122"/>
                <a:cs typeface="Calibri" pitchFamily="34" charset="-120"/>
              </a:rPr>
              <a:t>self-sustaining</a:t>
            </a:r>
            <a:endParaRPr lang="en-US" sz="1000" dirty="0"/>
          </a:p>
        </p:txBody>
      </p:sp>
      <p:sp>
        <p:nvSpPr>
          <p:cNvPr id="46" name="Shape 44"/>
          <p:cNvSpPr/>
          <p:nvPr/>
        </p:nvSpPr>
        <p:spPr>
          <a:xfrm>
            <a:off x="457200" y="5852160"/>
            <a:ext cx="11277295" cy="640080"/>
          </a:xfrm>
          <a:prstGeom prst="rect">
            <a:avLst/>
          </a:prstGeom>
          <a:solidFill>
            <a:srgbClr val="3D1257"/>
          </a:solidFill>
          <a:ln w="12700">
            <a:solidFill>
              <a:srgbClr val="3D1257"/>
            </a:solidFill>
            <a:prstDash val="solid"/>
          </a:ln>
        </p:spPr>
        <p:txBody>
          <a:bodyPr/>
          <a:lstStyle/>
          <a:p>
            <a:endParaRPr lang="pl-PL"/>
          </a:p>
        </p:txBody>
      </p:sp>
      <p:sp>
        <p:nvSpPr>
          <p:cNvPr id="47" name="Text 45"/>
          <p:cNvSpPr/>
          <p:nvPr/>
        </p:nvSpPr>
        <p:spPr>
          <a:xfrm>
            <a:off x="640080" y="5852160"/>
            <a:ext cx="10911535" cy="64008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The seed isn't bridging us to a Series A. The seed is bridging us to a self-sustaining business. Series A becomes optional, not survival.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Two revenue streams. One compounds forever.</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Subscriptions are the headline. Lead gen is an asset that grows even without new acquisition.</a:t>
            </a:r>
            <a:endParaRPr lang="en-US" sz="1300" dirty="0"/>
          </a:p>
        </p:txBody>
      </p:sp>
      <p:sp>
        <p:nvSpPr>
          <p:cNvPr id="4" name="Shape 2"/>
          <p:cNvSpPr/>
          <p:nvPr/>
        </p:nvSpPr>
        <p:spPr>
          <a:xfrm>
            <a:off x="518008" y="1508760"/>
            <a:ext cx="5394960" cy="2194560"/>
          </a:xfrm>
          <a:prstGeom prst="rect">
            <a:avLst/>
          </a:prstGeom>
          <a:solidFill>
            <a:srgbClr val="E8D5F5"/>
          </a:solidFill>
          <a:ln w="19050">
            <a:solidFill>
              <a:srgbClr val="7030A0"/>
            </a:solidFill>
            <a:prstDash val="solid"/>
          </a:ln>
        </p:spPr>
        <p:txBody>
          <a:bodyPr/>
          <a:lstStyle/>
          <a:p>
            <a:endParaRPr lang="pl-PL"/>
          </a:p>
        </p:txBody>
      </p:sp>
      <p:sp>
        <p:nvSpPr>
          <p:cNvPr id="5" name="Shape 3"/>
          <p:cNvSpPr/>
          <p:nvPr/>
        </p:nvSpPr>
        <p:spPr>
          <a:xfrm>
            <a:off x="518008" y="1508760"/>
            <a:ext cx="5394960" cy="502920"/>
          </a:xfrm>
          <a:prstGeom prst="rect">
            <a:avLst/>
          </a:prstGeom>
          <a:solidFill>
            <a:srgbClr val="7030A0"/>
          </a:solidFill>
          <a:ln w="12700">
            <a:solidFill>
              <a:srgbClr val="7030A0"/>
            </a:solidFill>
            <a:prstDash val="solid"/>
          </a:ln>
        </p:spPr>
        <p:txBody>
          <a:bodyPr/>
          <a:lstStyle/>
          <a:p>
            <a:endParaRPr lang="pl-PL"/>
          </a:p>
        </p:txBody>
      </p:sp>
      <p:sp>
        <p:nvSpPr>
          <p:cNvPr id="6" name="Text 4"/>
          <p:cNvSpPr/>
          <p:nvPr/>
        </p:nvSpPr>
        <p:spPr>
          <a:xfrm>
            <a:off x="518008" y="150876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STREAM 1  ·  Subscriptions</a:t>
            </a:r>
            <a:endParaRPr lang="en-US" sz="1400" dirty="0"/>
          </a:p>
        </p:txBody>
      </p:sp>
      <p:sp>
        <p:nvSpPr>
          <p:cNvPr id="7" name="Text 5"/>
          <p:cNvSpPr/>
          <p:nvPr/>
        </p:nvSpPr>
        <p:spPr>
          <a:xfrm>
            <a:off x="792328" y="2148840"/>
            <a:ext cx="4846320" cy="1417320"/>
          </a:xfrm>
          <a:prstGeom prst="rect">
            <a:avLst/>
          </a:prstGeom>
          <a:noFill/>
          <a:ln/>
        </p:spPr>
        <p:txBody>
          <a:bodyPr wrap="square" rtlCol="0" anchor="t"/>
          <a:lstStyle/>
          <a:p>
            <a:pPr marL="0" indent="0">
              <a:spcAft>
                <a:spcPts val="400"/>
              </a:spcAft>
              <a:buNone/>
            </a:pPr>
            <a:r>
              <a:rPr lang="en-US" sz="1400" b="1" dirty="0">
                <a:solidFill>
                  <a:srgbClr val="3D1257"/>
                </a:solidFill>
                <a:latin typeface="Calibri" pitchFamily="34" charset="0"/>
                <a:ea typeface="Calibri" pitchFamily="34" charset="-122"/>
                <a:cs typeface="Calibri" pitchFamily="34" charset="-120"/>
              </a:rPr>
              <a:t>€14.90/mo  ·  €149/yr</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Sub LTV: €492 (33-month lifetime at 3% churn)</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Recurring revenue, traditional SaaS metric</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Year 5 base: €3.54M sub ARR</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~96% of total ARR — dominant stream</a:t>
            </a:r>
            <a:endParaRPr lang="en-US" sz="1100" dirty="0"/>
          </a:p>
        </p:txBody>
      </p:sp>
      <p:sp>
        <p:nvSpPr>
          <p:cNvPr id="8" name="Shape 6"/>
          <p:cNvSpPr/>
          <p:nvPr/>
        </p:nvSpPr>
        <p:spPr>
          <a:xfrm>
            <a:off x="6278728" y="1508760"/>
            <a:ext cx="5394960" cy="2194560"/>
          </a:xfrm>
          <a:prstGeom prst="rect">
            <a:avLst/>
          </a:prstGeom>
          <a:solidFill>
            <a:srgbClr val="FFF4B8"/>
          </a:solidFill>
          <a:ln w="25400">
            <a:solidFill>
              <a:srgbClr val="B8860B"/>
            </a:solidFill>
            <a:prstDash val="solid"/>
          </a:ln>
        </p:spPr>
        <p:txBody>
          <a:bodyPr/>
          <a:lstStyle/>
          <a:p>
            <a:endParaRPr lang="pl-PL"/>
          </a:p>
        </p:txBody>
      </p:sp>
      <p:sp>
        <p:nvSpPr>
          <p:cNvPr id="9" name="Shape 7"/>
          <p:cNvSpPr/>
          <p:nvPr/>
        </p:nvSpPr>
        <p:spPr>
          <a:xfrm>
            <a:off x="6278728" y="1508760"/>
            <a:ext cx="5394960" cy="502920"/>
          </a:xfrm>
          <a:prstGeom prst="rect">
            <a:avLst/>
          </a:prstGeom>
          <a:solidFill>
            <a:srgbClr val="B8860B"/>
          </a:solidFill>
          <a:ln w="12700">
            <a:solidFill>
              <a:srgbClr val="B8860B"/>
            </a:solidFill>
            <a:prstDash val="solid"/>
          </a:ln>
        </p:spPr>
        <p:txBody>
          <a:bodyPr/>
          <a:lstStyle/>
          <a:p>
            <a:endParaRPr lang="pl-PL"/>
          </a:p>
        </p:txBody>
      </p:sp>
      <p:sp>
        <p:nvSpPr>
          <p:cNvPr id="10" name="Text 8"/>
          <p:cNvSpPr/>
          <p:nvPr/>
        </p:nvSpPr>
        <p:spPr>
          <a:xfrm>
            <a:off x="6278728" y="150876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STREAM 2  ·  Lead Gen (Compounding Asset)</a:t>
            </a:r>
            <a:endParaRPr lang="en-US" sz="1400" dirty="0"/>
          </a:p>
        </p:txBody>
      </p:sp>
      <p:sp>
        <p:nvSpPr>
          <p:cNvPr id="11" name="Text 9"/>
          <p:cNvSpPr/>
          <p:nvPr/>
        </p:nvSpPr>
        <p:spPr>
          <a:xfrm>
            <a:off x="6553048" y="2148840"/>
            <a:ext cx="4846320" cy="1417320"/>
          </a:xfrm>
          <a:prstGeom prst="rect">
            <a:avLst/>
          </a:prstGeom>
          <a:noFill/>
          <a:ln/>
        </p:spPr>
        <p:txBody>
          <a:bodyPr wrap="square" rtlCol="0" anchor="t"/>
          <a:lstStyle/>
          <a:p>
            <a:pPr marL="0" indent="0">
              <a:spcAft>
                <a:spcPts val="400"/>
              </a:spcAft>
              <a:buNone/>
            </a:pPr>
            <a:r>
              <a:rPr lang="en-US" sz="1400" b="1" dirty="0">
                <a:solidFill>
                  <a:srgbClr val="B8860B"/>
                </a:solidFill>
                <a:latin typeface="Calibri" pitchFamily="34" charset="0"/>
                <a:ea typeface="Calibri" pitchFamily="34" charset="-122"/>
                <a:cs typeface="Calibri" pitchFamily="34" charset="-120"/>
              </a:rPr>
              <a:t>0.03% trailing on referred capital</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Compounds — invested capital stays + grows</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10-year average holding period</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Pure margin (no acquisition spend after referral)</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Year 5 base: €127K/yr — small but durable</a:t>
            </a:r>
            <a:endParaRPr lang="en-US" sz="1100" dirty="0"/>
          </a:p>
        </p:txBody>
      </p:sp>
      <p:sp>
        <p:nvSpPr>
          <p:cNvPr id="12" name="Text 10"/>
          <p:cNvSpPr/>
          <p:nvPr/>
        </p:nvSpPr>
        <p:spPr>
          <a:xfrm>
            <a:off x="457200" y="3977640"/>
            <a:ext cx="11277295" cy="365760"/>
          </a:xfrm>
          <a:prstGeom prst="rect">
            <a:avLst/>
          </a:prstGeom>
          <a:noFill/>
          <a:ln/>
        </p:spPr>
        <p:txBody>
          <a:bodyPr wrap="square" rtlCol="0" anchor="ctr"/>
          <a:lstStyle/>
          <a:p>
            <a:pPr marL="0" indent="0" algn="ctr">
              <a:buNone/>
            </a:pPr>
            <a:r>
              <a:rPr lang="en-US" sz="1300" b="1" dirty="0">
                <a:solidFill>
                  <a:srgbClr val="3D1257"/>
                </a:solidFill>
                <a:latin typeface="Calibri" pitchFamily="34" charset="0"/>
                <a:ea typeface="Calibri" pitchFamily="34" charset="-122"/>
                <a:cs typeface="Calibri" pitchFamily="34" charset="-120"/>
              </a:rPr>
              <a:t>Capital under referral trajectory  ·  base scenario</a:t>
            </a:r>
            <a:endParaRPr lang="en-US" sz="1300" dirty="0"/>
          </a:p>
        </p:txBody>
      </p:sp>
      <p:sp>
        <p:nvSpPr>
          <p:cNvPr id="13" name="Shape 11"/>
          <p:cNvSpPr/>
          <p:nvPr/>
        </p:nvSpPr>
        <p:spPr>
          <a:xfrm>
            <a:off x="1539210" y="5486400"/>
            <a:ext cx="822960" cy="45720"/>
          </a:xfrm>
          <a:prstGeom prst="rect">
            <a:avLst/>
          </a:prstGeom>
          <a:solidFill>
            <a:srgbClr val="B8860B"/>
          </a:solidFill>
          <a:ln w="12700">
            <a:solidFill>
              <a:srgbClr val="B8860B"/>
            </a:solidFill>
            <a:prstDash val="solid"/>
          </a:ln>
        </p:spPr>
        <p:txBody>
          <a:bodyPr/>
          <a:lstStyle/>
          <a:p>
            <a:endParaRPr lang="pl-PL"/>
          </a:p>
        </p:txBody>
      </p:sp>
      <p:sp>
        <p:nvSpPr>
          <p:cNvPr id="14" name="Text 12"/>
          <p:cNvSpPr/>
          <p:nvPr/>
        </p:nvSpPr>
        <p:spPr>
          <a:xfrm>
            <a:off x="914400" y="5623560"/>
            <a:ext cx="2072579" cy="27432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Year 1</a:t>
            </a:r>
            <a:endParaRPr lang="en-US" sz="1100" dirty="0"/>
          </a:p>
        </p:txBody>
      </p:sp>
      <p:sp>
        <p:nvSpPr>
          <p:cNvPr id="15" name="Text 13"/>
          <p:cNvSpPr/>
          <p:nvPr/>
        </p:nvSpPr>
        <p:spPr>
          <a:xfrm>
            <a:off x="914400" y="5897880"/>
            <a:ext cx="2072579" cy="365760"/>
          </a:xfrm>
          <a:prstGeom prst="rect">
            <a:avLst/>
          </a:prstGeom>
          <a:noFill/>
          <a:ln/>
        </p:spPr>
        <p:txBody>
          <a:bodyPr wrap="square" rtlCol="0" anchor="ctr"/>
          <a:lstStyle/>
          <a:p>
            <a:pPr marL="0" indent="0" algn="ctr">
              <a:buNone/>
            </a:pPr>
            <a:r>
              <a:rPr lang="en-US" sz="1400" b="1" dirty="0">
                <a:solidFill>
                  <a:srgbClr val="B8860B"/>
                </a:solidFill>
                <a:latin typeface="Calibri" pitchFamily="34" charset="0"/>
                <a:ea typeface="Calibri" pitchFamily="34" charset="-122"/>
                <a:cs typeface="Calibri" pitchFamily="34" charset="-120"/>
              </a:rPr>
              <a:t>€6.57M</a:t>
            </a:r>
            <a:endParaRPr lang="en-US" sz="1400" dirty="0"/>
          </a:p>
        </p:txBody>
      </p:sp>
      <p:sp>
        <p:nvSpPr>
          <p:cNvPr id="16" name="Shape 14"/>
          <p:cNvSpPr/>
          <p:nvPr/>
        </p:nvSpPr>
        <p:spPr>
          <a:xfrm>
            <a:off x="3611789" y="5390301"/>
            <a:ext cx="822960" cy="141819"/>
          </a:xfrm>
          <a:prstGeom prst="rect">
            <a:avLst/>
          </a:prstGeom>
          <a:solidFill>
            <a:srgbClr val="B8860B"/>
          </a:solidFill>
          <a:ln w="12700">
            <a:solidFill>
              <a:srgbClr val="B8860B"/>
            </a:solidFill>
            <a:prstDash val="solid"/>
          </a:ln>
        </p:spPr>
        <p:txBody>
          <a:bodyPr/>
          <a:lstStyle/>
          <a:p>
            <a:endParaRPr lang="pl-PL"/>
          </a:p>
        </p:txBody>
      </p:sp>
      <p:sp>
        <p:nvSpPr>
          <p:cNvPr id="17" name="Text 15"/>
          <p:cNvSpPr/>
          <p:nvPr/>
        </p:nvSpPr>
        <p:spPr>
          <a:xfrm>
            <a:off x="2986979" y="5623560"/>
            <a:ext cx="2072579" cy="27432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Year 2</a:t>
            </a:r>
            <a:endParaRPr lang="en-US" sz="1100" dirty="0"/>
          </a:p>
        </p:txBody>
      </p:sp>
      <p:sp>
        <p:nvSpPr>
          <p:cNvPr id="18" name="Text 16"/>
          <p:cNvSpPr/>
          <p:nvPr/>
        </p:nvSpPr>
        <p:spPr>
          <a:xfrm>
            <a:off x="2986979" y="5897880"/>
            <a:ext cx="2072579" cy="365760"/>
          </a:xfrm>
          <a:prstGeom prst="rect">
            <a:avLst/>
          </a:prstGeom>
          <a:noFill/>
          <a:ln/>
        </p:spPr>
        <p:txBody>
          <a:bodyPr wrap="square" rtlCol="0" anchor="ctr"/>
          <a:lstStyle/>
          <a:p>
            <a:pPr marL="0" indent="0" algn="ctr">
              <a:buNone/>
            </a:pPr>
            <a:r>
              <a:rPr lang="en-US" sz="1400" b="1" dirty="0">
                <a:solidFill>
                  <a:srgbClr val="B8860B"/>
                </a:solidFill>
                <a:latin typeface="Calibri" pitchFamily="34" charset="0"/>
                <a:ea typeface="Calibri" pitchFamily="34" charset="-122"/>
                <a:cs typeface="Calibri" pitchFamily="34" charset="-120"/>
              </a:rPr>
              <a:t>€54.92M</a:t>
            </a:r>
            <a:endParaRPr lang="en-US" sz="1400" dirty="0"/>
          </a:p>
        </p:txBody>
      </p:sp>
      <p:sp>
        <p:nvSpPr>
          <p:cNvPr id="19" name="Shape 17"/>
          <p:cNvSpPr/>
          <p:nvPr/>
        </p:nvSpPr>
        <p:spPr>
          <a:xfrm>
            <a:off x="5684368" y="5125727"/>
            <a:ext cx="822960" cy="406393"/>
          </a:xfrm>
          <a:prstGeom prst="rect">
            <a:avLst/>
          </a:prstGeom>
          <a:solidFill>
            <a:srgbClr val="B8860B"/>
          </a:solidFill>
          <a:ln w="12700">
            <a:solidFill>
              <a:srgbClr val="B8860B"/>
            </a:solidFill>
            <a:prstDash val="solid"/>
          </a:ln>
        </p:spPr>
        <p:txBody>
          <a:bodyPr/>
          <a:lstStyle/>
          <a:p>
            <a:endParaRPr lang="pl-PL"/>
          </a:p>
        </p:txBody>
      </p:sp>
      <p:sp>
        <p:nvSpPr>
          <p:cNvPr id="20" name="Text 18"/>
          <p:cNvSpPr/>
          <p:nvPr/>
        </p:nvSpPr>
        <p:spPr>
          <a:xfrm>
            <a:off x="5059558" y="5623560"/>
            <a:ext cx="2072579" cy="27432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Year 3</a:t>
            </a:r>
            <a:endParaRPr lang="en-US" sz="1100" dirty="0"/>
          </a:p>
        </p:txBody>
      </p:sp>
      <p:sp>
        <p:nvSpPr>
          <p:cNvPr id="21" name="Text 19"/>
          <p:cNvSpPr/>
          <p:nvPr/>
        </p:nvSpPr>
        <p:spPr>
          <a:xfrm>
            <a:off x="5059558" y="5897880"/>
            <a:ext cx="2072579" cy="365760"/>
          </a:xfrm>
          <a:prstGeom prst="rect">
            <a:avLst/>
          </a:prstGeom>
          <a:noFill/>
          <a:ln/>
        </p:spPr>
        <p:txBody>
          <a:bodyPr wrap="square" rtlCol="0" anchor="ctr"/>
          <a:lstStyle/>
          <a:p>
            <a:pPr marL="0" indent="0" algn="ctr">
              <a:buNone/>
            </a:pPr>
            <a:r>
              <a:rPr lang="en-US" sz="1400" b="1" dirty="0">
                <a:solidFill>
                  <a:srgbClr val="B8860B"/>
                </a:solidFill>
                <a:latin typeface="Calibri" pitchFamily="34" charset="0"/>
                <a:ea typeface="Calibri" pitchFamily="34" charset="-122"/>
                <a:cs typeface="Calibri" pitchFamily="34" charset="-120"/>
              </a:rPr>
              <a:t>€157.38M</a:t>
            </a:r>
            <a:endParaRPr lang="en-US" sz="1400" dirty="0"/>
          </a:p>
        </p:txBody>
      </p:sp>
      <p:sp>
        <p:nvSpPr>
          <p:cNvPr id="22" name="Shape 20"/>
          <p:cNvSpPr/>
          <p:nvPr/>
        </p:nvSpPr>
        <p:spPr>
          <a:xfrm>
            <a:off x="7756947" y="4799877"/>
            <a:ext cx="822960" cy="732243"/>
          </a:xfrm>
          <a:prstGeom prst="rect">
            <a:avLst/>
          </a:prstGeom>
          <a:solidFill>
            <a:srgbClr val="B8860B"/>
          </a:solidFill>
          <a:ln w="12700">
            <a:solidFill>
              <a:srgbClr val="B8860B"/>
            </a:solidFill>
            <a:prstDash val="solid"/>
          </a:ln>
        </p:spPr>
        <p:txBody>
          <a:bodyPr/>
          <a:lstStyle/>
          <a:p>
            <a:endParaRPr lang="pl-PL"/>
          </a:p>
        </p:txBody>
      </p:sp>
      <p:sp>
        <p:nvSpPr>
          <p:cNvPr id="23" name="Text 21"/>
          <p:cNvSpPr/>
          <p:nvPr/>
        </p:nvSpPr>
        <p:spPr>
          <a:xfrm>
            <a:off x="7132137" y="5623560"/>
            <a:ext cx="2072579" cy="27432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Year 4</a:t>
            </a:r>
            <a:endParaRPr lang="en-US" sz="1100" dirty="0"/>
          </a:p>
        </p:txBody>
      </p:sp>
      <p:sp>
        <p:nvSpPr>
          <p:cNvPr id="24" name="Text 22"/>
          <p:cNvSpPr/>
          <p:nvPr/>
        </p:nvSpPr>
        <p:spPr>
          <a:xfrm>
            <a:off x="7132137" y="5897880"/>
            <a:ext cx="2072579" cy="365760"/>
          </a:xfrm>
          <a:prstGeom prst="rect">
            <a:avLst/>
          </a:prstGeom>
          <a:noFill/>
          <a:ln/>
        </p:spPr>
        <p:txBody>
          <a:bodyPr wrap="square" rtlCol="0" anchor="ctr"/>
          <a:lstStyle/>
          <a:p>
            <a:pPr marL="0" indent="0" algn="ctr">
              <a:buNone/>
            </a:pPr>
            <a:r>
              <a:rPr lang="en-US" sz="1400" b="1" dirty="0">
                <a:solidFill>
                  <a:srgbClr val="B8860B"/>
                </a:solidFill>
                <a:latin typeface="Calibri" pitchFamily="34" charset="0"/>
                <a:ea typeface="Calibri" pitchFamily="34" charset="-122"/>
                <a:cs typeface="Calibri" pitchFamily="34" charset="-120"/>
              </a:rPr>
              <a:t>€283.57M</a:t>
            </a:r>
            <a:endParaRPr lang="en-US" sz="1400" dirty="0"/>
          </a:p>
        </p:txBody>
      </p:sp>
      <p:sp>
        <p:nvSpPr>
          <p:cNvPr id="25" name="Shape 23"/>
          <p:cNvSpPr/>
          <p:nvPr/>
        </p:nvSpPr>
        <p:spPr>
          <a:xfrm>
            <a:off x="9829526" y="4434840"/>
            <a:ext cx="822960" cy="1097280"/>
          </a:xfrm>
          <a:prstGeom prst="rect">
            <a:avLst/>
          </a:prstGeom>
          <a:solidFill>
            <a:srgbClr val="B8860B"/>
          </a:solidFill>
          <a:ln w="12700">
            <a:solidFill>
              <a:srgbClr val="B8860B"/>
            </a:solidFill>
            <a:prstDash val="solid"/>
          </a:ln>
        </p:spPr>
        <p:txBody>
          <a:bodyPr/>
          <a:lstStyle/>
          <a:p>
            <a:endParaRPr lang="pl-PL"/>
          </a:p>
        </p:txBody>
      </p:sp>
      <p:sp>
        <p:nvSpPr>
          <p:cNvPr id="26" name="Text 24"/>
          <p:cNvSpPr/>
          <p:nvPr/>
        </p:nvSpPr>
        <p:spPr>
          <a:xfrm>
            <a:off x="9204716" y="5623560"/>
            <a:ext cx="2072579" cy="274320"/>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Year 5</a:t>
            </a:r>
            <a:endParaRPr lang="en-US" sz="1100" dirty="0"/>
          </a:p>
        </p:txBody>
      </p:sp>
      <p:sp>
        <p:nvSpPr>
          <p:cNvPr id="27" name="Text 25"/>
          <p:cNvSpPr/>
          <p:nvPr/>
        </p:nvSpPr>
        <p:spPr>
          <a:xfrm>
            <a:off x="9204716" y="5897880"/>
            <a:ext cx="2072579" cy="365760"/>
          </a:xfrm>
          <a:prstGeom prst="rect">
            <a:avLst/>
          </a:prstGeom>
          <a:noFill/>
          <a:ln/>
        </p:spPr>
        <p:txBody>
          <a:bodyPr wrap="square" rtlCol="0" anchor="ctr"/>
          <a:lstStyle/>
          <a:p>
            <a:pPr marL="0" indent="0" algn="ctr">
              <a:buNone/>
            </a:pPr>
            <a:r>
              <a:rPr lang="en-US" sz="1400" b="1" dirty="0">
                <a:solidFill>
                  <a:srgbClr val="B8860B"/>
                </a:solidFill>
                <a:latin typeface="Calibri" pitchFamily="34" charset="0"/>
                <a:ea typeface="Calibri" pitchFamily="34" charset="-122"/>
                <a:cs typeface="Calibri" pitchFamily="34" charset="-120"/>
              </a:rPr>
              <a:t>€424.94M</a:t>
            </a:r>
            <a:endParaRPr lang="en-US" sz="1400" dirty="0"/>
          </a:p>
        </p:txBody>
      </p:sp>
      <p:sp>
        <p:nvSpPr>
          <p:cNvPr id="28" name="Shape 26"/>
          <p:cNvSpPr/>
          <p:nvPr/>
        </p:nvSpPr>
        <p:spPr>
          <a:xfrm>
            <a:off x="457200" y="6126480"/>
            <a:ext cx="11277295" cy="594360"/>
          </a:xfrm>
          <a:prstGeom prst="rect">
            <a:avLst/>
          </a:prstGeom>
          <a:solidFill>
            <a:srgbClr val="3D1257"/>
          </a:solidFill>
          <a:ln w="12700">
            <a:solidFill>
              <a:srgbClr val="3D1257"/>
            </a:solidFill>
            <a:prstDash val="solid"/>
          </a:ln>
        </p:spPr>
        <p:txBody>
          <a:bodyPr/>
          <a:lstStyle/>
          <a:p>
            <a:endParaRPr lang="pl-PL"/>
          </a:p>
        </p:txBody>
      </p:sp>
      <p:sp>
        <p:nvSpPr>
          <p:cNvPr id="29" name="Text 27"/>
          <p:cNvSpPr/>
          <p:nvPr/>
        </p:nvSpPr>
        <p:spPr>
          <a:xfrm>
            <a:off x="640080" y="6126480"/>
            <a:ext cx="10911535" cy="59436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The long-term moat: capital under referral keeps compounding past Year 5 — Y10 ~€545M, Y15 €950M+ — generating pure-margin revenue indefinitely. Subscriptions monetise the present; lead gen monetises the past.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Base vs upside — same business, defensible parameter shifts.</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Upside isn't a moonshot. It's the model with realistic post-launch CPC, churn, conversion, and partnership performance.</a:t>
            </a:r>
            <a:endParaRPr lang="en-US" sz="1300" dirty="0"/>
          </a:p>
        </p:txBody>
      </p:sp>
      <p:sp>
        <p:nvSpPr>
          <p:cNvPr id="4" name="Shape 2"/>
          <p:cNvSpPr/>
          <p:nvPr/>
        </p:nvSpPr>
        <p:spPr>
          <a:xfrm>
            <a:off x="518008" y="1508760"/>
            <a:ext cx="5394960" cy="2194560"/>
          </a:xfrm>
          <a:prstGeom prst="rect">
            <a:avLst/>
          </a:prstGeom>
          <a:solidFill>
            <a:srgbClr val="F5EAFA"/>
          </a:solidFill>
          <a:ln w="19050">
            <a:solidFill>
              <a:srgbClr val="9558B0"/>
            </a:solidFill>
            <a:prstDash val="solid"/>
          </a:ln>
        </p:spPr>
        <p:txBody>
          <a:bodyPr/>
          <a:lstStyle/>
          <a:p>
            <a:endParaRPr lang="pl-PL"/>
          </a:p>
        </p:txBody>
      </p:sp>
      <p:sp>
        <p:nvSpPr>
          <p:cNvPr id="5" name="Shape 3"/>
          <p:cNvSpPr/>
          <p:nvPr/>
        </p:nvSpPr>
        <p:spPr>
          <a:xfrm>
            <a:off x="518008" y="1508760"/>
            <a:ext cx="5394960" cy="502920"/>
          </a:xfrm>
          <a:prstGeom prst="rect">
            <a:avLst/>
          </a:prstGeom>
          <a:solidFill>
            <a:srgbClr val="9558B0"/>
          </a:solidFill>
          <a:ln w="12700">
            <a:solidFill>
              <a:srgbClr val="9558B0"/>
            </a:solidFill>
            <a:prstDash val="solid"/>
          </a:ln>
        </p:spPr>
        <p:txBody>
          <a:bodyPr/>
          <a:lstStyle/>
          <a:p>
            <a:endParaRPr lang="pl-PL"/>
          </a:p>
        </p:txBody>
      </p:sp>
      <p:sp>
        <p:nvSpPr>
          <p:cNvPr id="6" name="Text 4"/>
          <p:cNvSpPr/>
          <p:nvPr/>
        </p:nvSpPr>
        <p:spPr>
          <a:xfrm>
            <a:off x="518008" y="150876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BASE  ·  committed</a:t>
            </a:r>
            <a:endParaRPr lang="en-US" sz="1400" dirty="0"/>
          </a:p>
        </p:txBody>
      </p:sp>
      <p:sp>
        <p:nvSpPr>
          <p:cNvPr id="7" name="Text 5"/>
          <p:cNvSpPr/>
          <p:nvPr/>
        </p:nvSpPr>
        <p:spPr>
          <a:xfrm>
            <a:off x="518008" y="2103120"/>
            <a:ext cx="5394960" cy="868680"/>
          </a:xfrm>
          <a:prstGeom prst="rect">
            <a:avLst/>
          </a:prstGeom>
          <a:noFill/>
          <a:ln/>
        </p:spPr>
        <p:txBody>
          <a:bodyPr wrap="square" rtlCol="0" anchor="ctr"/>
          <a:lstStyle/>
          <a:p>
            <a:pPr marL="0" indent="0" algn="ctr">
              <a:buNone/>
            </a:pPr>
            <a:r>
              <a:rPr lang="en-US" sz="5200" b="1" dirty="0">
                <a:solidFill>
                  <a:srgbClr val="3D1257"/>
                </a:solidFill>
                <a:latin typeface="Calibri" pitchFamily="34" charset="0"/>
                <a:ea typeface="Calibri" pitchFamily="34" charset="-122"/>
                <a:cs typeface="Calibri" pitchFamily="34" charset="-120"/>
              </a:rPr>
              <a:t>€3.67M</a:t>
            </a:r>
            <a:endParaRPr lang="en-US" sz="5200" dirty="0"/>
          </a:p>
        </p:txBody>
      </p:sp>
      <p:sp>
        <p:nvSpPr>
          <p:cNvPr id="8" name="Text 6"/>
          <p:cNvSpPr/>
          <p:nvPr/>
        </p:nvSpPr>
        <p:spPr>
          <a:xfrm>
            <a:off x="518008" y="3063240"/>
            <a:ext cx="5394960" cy="502920"/>
          </a:xfrm>
          <a:prstGeom prst="rect">
            <a:avLst/>
          </a:prstGeom>
          <a:noFill/>
          <a:ln/>
        </p:spPr>
        <p:txBody>
          <a:bodyPr wrap="square" rtlCol="0" anchor="ctr"/>
          <a:lstStyle/>
          <a:p>
            <a:pPr marL="0" indent="0" algn="ctr">
              <a:buNone/>
            </a:pPr>
            <a:r>
              <a:rPr lang="en-US" sz="1100" i="1" dirty="0">
                <a:solidFill>
                  <a:srgbClr val="333333"/>
                </a:solidFill>
                <a:latin typeface="Calibri" pitchFamily="34" charset="0"/>
                <a:ea typeface="Calibri" pitchFamily="34" charset="-122"/>
                <a:cs typeface="Calibri" pitchFamily="34" charset="-120"/>
              </a:rPr>
              <a:t>Year 5 ARR  ·  21,221 paying subscribers  ·  €425M capital under referral</a:t>
            </a:r>
            <a:endParaRPr lang="en-US" sz="1100" dirty="0"/>
          </a:p>
        </p:txBody>
      </p:sp>
      <p:sp>
        <p:nvSpPr>
          <p:cNvPr id="9" name="Shape 7"/>
          <p:cNvSpPr/>
          <p:nvPr/>
        </p:nvSpPr>
        <p:spPr>
          <a:xfrm>
            <a:off x="6278728" y="1508760"/>
            <a:ext cx="5394960" cy="2194560"/>
          </a:xfrm>
          <a:prstGeom prst="rect">
            <a:avLst/>
          </a:prstGeom>
          <a:solidFill>
            <a:srgbClr val="FFF4B8"/>
          </a:solidFill>
          <a:ln w="25400">
            <a:solidFill>
              <a:srgbClr val="B8860B"/>
            </a:solidFill>
            <a:prstDash val="solid"/>
          </a:ln>
        </p:spPr>
        <p:txBody>
          <a:bodyPr/>
          <a:lstStyle/>
          <a:p>
            <a:endParaRPr lang="pl-PL"/>
          </a:p>
        </p:txBody>
      </p:sp>
      <p:sp>
        <p:nvSpPr>
          <p:cNvPr id="10" name="Shape 8"/>
          <p:cNvSpPr/>
          <p:nvPr/>
        </p:nvSpPr>
        <p:spPr>
          <a:xfrm>
            <a:off x="6278728" y="1508760"/>
            <a:ext cx="5394960" cy="502920"/>
          </a:xfrm>
          <a:prstGeom prst="rect">
            <a:avLst/>
          </a:prstGeom>
          <a:solidFill>
            <a:srgbClr val="B8860B"/>
          </a:solidFill>
          <a:ln w="12700">
            <a:solidFill>
              <a:srgbClr val="B8860B"/>
            </a:solidFill>
            <a:prstDash val="solid"/>
          </a:ln>
        </p:spPr>
        <p:txBody>
          <a:bodyPr/>
          <a:lstStyle/>
          <a:p>
            <a:endParaRPr lang="pl-PL"/>
          </a:p>
        </p:txBody>
      </p:sp>
      <p:sp>
        <p:nvSpPr>
          <p:cNvPr id="11" name="Text 9"/>
          <p:cNvSpPr/>
          <p:nvPr/>
        </p:nvSpPr>
        <p:spPr>
          <a:xfrm>
            <a:off x="6278728" y="150876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UPSIDE  ·  defensible</a:t>
            </a:r>
            <a:endParaRPr lang="en-US" sz="1400" dirty="0"/>
          </a:p>
        </p:txBody>
      </p:sp>
      <p:sp>
        <p:nvSpPr>
          <p:cNvPr id="12" name="Text 10"/>
          <p:cNvSpPr/>
          <p:nvPr/>
        </p:nvSpPr>
        <p:spPr>
          <a:xfrm>
            <a:off x="6278728" y="2103120"/>
            <a:ext cx="5394960" cy="868680"/>
          </a:xfrm>
          <a:prstGeom prst="rect">
            <a:avLst/>
          </a:prstGeom>
          <a:noFill/>
          <a:ln/>
        </p:spPr>
        <p:txBody>
          <a:bodyPr wrap="square" rtlCol="0" anchor="ctr"/>
          <a:lstStyle/>
          <a:p>
            <a:pPr marL="0" indent="0" algn="ctr">
              <a:buNone/>
            </a:pPr>
            <a:r>
              <a:rPr lang="en-US" sz="5200" b="1" dirty="0">
                <a:solidFill>
                  <a:srgbClr val="B8860B"/>
                </a:solidFill>
                <a:latin typeface="Calibri" pitchFamily="34" charset="0"/>
                <a:ea typeface="Calibri" pitchFamily="34" charset="-122"/>
                <a:cs typeface="Calibri" pitchFamily="34" charset="-120"/>
              </a:rPr>
              <a:t>€7.22M</a:t>
            </a:r>
            <a:endParaRPr lang="en-US" sz="5200" dirty="0"/>
          </a:p>
        </p:txBody>
      </p:sp>
      <p:sp>
        <p:nvSpPr>
          <p:cNvPr id="13" name="Text 11"/>
          <p:cNvSpPr/>
          <p:nvPr/>
        </p:nvSpPr>
        <p:spPr>
          <a:xfrm>
            <a:off x="6278728" y="3063240"/>
            <a:ext cx="5394960" cy="502920"/>
          </a:xfrm>
          <a:prstGeom prst="rect">
            <a:avLst/>
          </a:prstGeom>
          <a:noFill/>
          <a:ln/>
        </p:spPr>
        <p:txBody>
          <a:bodyPr wrap="square" rtlCol="0" anchor="ctr"/>
          <a:lstStyle/>
          <a:p>
            <a:pPr marL="0" indent="0" algn="ctr">
              <a:buNone/>
            </a:pPr>
            <a:r>
              <a:rPr lang="en-US" sz="1100" i="1" dirty="0">
                <a:solidFill>
                  <a:srgbClr val="333333"/>
                </a:solidFill>
                <a:latin typeface="Calibri" pitchFamily="34" charset="0"/>
                <a:ea typeface="Calibri" pitchFamily="34" charset="-122"/>
                <a:cs typeface="Calibri" pitchFamily="34" charset="-120"/>
              </a:rPr>
              <a:t>Year 5 ARR  ·  42,128 paying subscribers  ·  faster partnership ramp</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977640"/>
          <a:ext cx="11274552" cy="178308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5788152">
                  <a:extLst>
                    <a:ext uri="{9D8B030D-6E8A-4147-A177-3AD203B41FA5}">
                      <a16:colId xmlns:a16="http://schemas.microsoft.com/office/drawing/2014/main" val="20003"/>
                    </a:ext>
                  </a:extLst>
                </a:gridCol>
              </a:tblGrid>
              <a:tr h="35661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Upside</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Why upside is defensible</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56616">
                <a:tc>
                  <a:txBody>
                    <a:bodyPr/>
                    <a:lstStyle/>
                    <a:p>
                      <a:pPr marL="0" indent="0" algn="l">
                        <a:buNone/>
                      </a:pPr>
                      <a:r>
                        <a:rPr lang="en-US" sz="1100" b="1" dirty="0">
                          <a:solidFill>
                            <a:srgbClr val="333333"/>
                          </a:solidFill>
                          <a:latin typeface="Calibri" pitchFamily="34" charset="0"/>
                          <a:ea typeface="Calibri" pitchFamily="34" charset="-122"/>
                          <a:cs typeface="Calibri" pitchFamily="34" charset="-120"/>
                        </a:rPr>
                        <a:t>Per-signup CAC</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b="1" dirty="0">
                          <a:solidFill>
                            <a:srgbClr val="333333"/>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Niche keywords with no competitive bidding push CPC lower as we mature</a:t>
                      </a:r>
                      <a:endParaRPr lang="en-US" sz="10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lgn="l">
                        <a:buNone/>
                      </a:pPr>
                      <a:r>
                        <a:rPr lang="en-US" sz="1100" b="1" dirty="0">
                          <a:solidFill>
                            <a:srgbClr val="333333"/>
                          </a:solidFill>
                          <a:latin typeface="Calibri" pitchFamily="34" charset="0"/>
                          <a:ea typeface="Calibri" pitchFamily="34" charset="-122"/>
                          <a:cs typeface="Calibri" pitchFamily="34" charset="-120"/>
                        </a:rPr>
                        <a:t>Paid signup → sub conversion</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b="1" dirty="0">
                          <a:solidFill>
                            <a:srgbClr val="333333"/>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Better landing pages, retargeting, in-product upgrade prompts</a:t>
                      </a:r>
                      <a:endParaRPr lang="en-US" sz="10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lgn="l">
                        <a:buNone/>
                      </a:pPr>
                      <a:r>
                        <a:rPr lang="en-US" sz="1100" b="1" dirty="0">
                          <a:solidFill>
                            <a:srgbClr val="333333"/>
                          </a:solidFill>
                          <a:latin typeface="Calibri" pitchFamily="34" charset="0"/>
                          <a:ea typeface="Calibri" pitchFamily="34" charset="-122"/>
                          <a:cs typeface="Calibri" pitchFamily="34" charset="-120"/>
                        </a:rPr>
                        <a:t>Monthly churn</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b="1" dirty="0">
                          <a:solidFill>
                            <a:srgbClr val="333333"/>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Multi-year pension context + vault data lock-in increases retention</a:t>
                      </a:r>
                      <a:endParaRPr lang="en-US" sz="10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lgn="l">
                        <a:buNone/>
                      </a:pPr>
                      <a:r>
                        <a:rPr lang="en-US" sz="1100" b="1" dirty="0">
                          <a:solidFill>
                            <a:srgbClr val="333333"/>
                          </a:solidFill>
                          <a:latin typeface="Calibri" pitchFamily="34" charset="0"/>
                          <a:ea typeface="Calibri" pitchFamily="34" charset="-122"/>
                          <a:cs typeface="Calibri" pitchFamily="34" charset="-120"/>
                        </a:rPr>
                        <a:t>Distribution partnerships (Y5)</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b="1" dirty="0">
                          <a:solidFill>
                            <a:srgbClr val="333333"/>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4B8"/>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Faster BD ramp once core launch markets are proven</a:t>
                      </a:r>
                      <a:endParaRPr lang="en-US" sz="10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Shape 12"/>
          <p:cNvSpPr/>
          <p:nvPr/>
        </p:nvSpPr>
        <p:spPr>
          <a:xfrm>
            <a:off x="457200" y="5989320"/>
            <a:ext cx="11277295" cy="502920"/>
          </a:xfrm>
          <a:prstGeom prst="rect">
            <a:avLst/>
          </a:prstGeom>
          <a:solidFill>
            <a:srgbClr val="3D1257"/>
          </a:solidFill>
          <a:ln w="12700">
            <a:solidFill>
              <a:srgbClr val="3D1257"/>
            </a:solidFill>
            <a:prstDash val="solid"/>
          </a:ln>
        </p:spPr>
        <p:txBody>
          <a:bodyPr/>
          <a:lstStyle/>
          <a:p>
            <a:endParaRPr lang="pl-PL"/>
          </a:p>
        </p:txBody>
      </p:sp>
      <p:sp>
        <p:nvSpPr>
          <p:cNvPr id="16" name="Text 13"/>
          <p:cNvSpPr/>
          <p:nvPr/>
        </p:nvSpPr>
        <p:spPr>
          <a:xfrm>
            <a:off x="640080" y="5989320"/>
            <a:ext cx="10911535" cy="50292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Each upside parameter is individually defensible from launch metrics. None require heroics. The €7.22M upside is the model with realistic post-launch tuning, not a stretch goal.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11277295" cy="640080"/>
          </a:xfrm>
          <a:prstGeom prst="rect">
            <a:avLst/>
          </a:prstGeom>
          <a:noFill/>
          <a:ln/>
        </p:spPr>
        <p:txBody>
          <a:bodyPr wrap="square" rtlCol="0" anchor="ctr"/>
          <a:lstStyle/>
          <a:p>
            <a:pPr marL="0" indent="0" algn="l">
              <a:buNone/>
            </a:pPr>
            <a:r>
              <a:rPr lang="en-US" sz="2600" b="1" dirty="0">
                <a:solidFill>
                  <a:srgbClr val="3D1257"/>
                </a:solidFill>
                <a:latin typeface="Calibri" pitchFamily="34" charset="0"/>
                <a:ea typeface="Calibri" pitchFamily="34" charset="-122"/>
                <a:cs typeface="Calibri" pitchFamily="34" charset="-120"/>
              </a:rPr>
              <a:t>€230K seed: pure variable acquisition cost.</a:t>
            </a:r>
            <a:endParaRPr lang="en-US" sz="2600" dirty="0"/>
          </a:p>
        </p:txBody>
      </p:sp>
      <p:sp>
        <p:nvSpPr>
          <p:cNvPr id="3" name="Text 1"/>
          <p:cNvSpPr/>
          <p:nvPr/>
        </p:nvSpPr>
        <p:spPr>
          <a:xfrm>
            <a:off x="457200" y="960120"/>
            <a:ext cx="11277295" cy="365760"/>
          </a:xfrm>
          <a:prstGeom prst="rect">
            <a:avLst/>
          </a:prstGeom>
          <a:noFill/>
          <a:ln/>
        </p:spPr>
        <p:txBody>
          <a:bodyPr wrap="square" rtlCol="0" anchor="ctr"/>
          <a:lstStyle/>
          <a:p>
            <a:pPr marL="0" indent="0" algn="l">
              <a:buNone/>
            </a:pPr>
            <a:r>
              <a:rPr lang="en-US" sz="1300" i="1" dirty="0">
                <a:solidFill>
                  <a:srgbClr val="888888"/>
                </a:solidFill>
                <a:latin typeface="Calibri" pitchFamily="34" charset="0"/>
                <a:ea typeface="Calibri" pitchFamily="34" charset="-122"/>
                <a:cs typeface="Calibri" pitchFamily="34" charset="-120"/>
              </a:rPr>
              <a:t>Co-founder labor, engine builds, and partnerships are all funded by equity. The seed only buys things that scale with growth.</a:t>
            </a:r>
            <a:endParaRPr lang="en-US" sz="1300" dirty="0"/>
          </a:p>
        </p:txBody>
      </p:sp>
      <p:sp>
        <p:nvSpPr>
          <p:cNvPr id="4" name="Shape 2"/>
          <p:cNvSpPr/>
          <p:nvPr/>
        </p:nvSpPr>
        <p:spPr>
          <a:xfrm>
            <a:off x="457200" y="1417320"/>
            <a:ext cx="11277295" cy="457200"/>
          </a:xfrm>
          <a:prstGeom prst="rect">
            <a:avLst/>
          </a:prstGeom>
          <a:solidFill>
            <a:srgbClr val="FFF4B8"/>
          </a:solidFill>
          <a:ln w="12700">
            <a:solidFill>
              <a:srgbClr val="FFF4B8"/>
            </a:solidFill>
            <a:prstDash val="solid"/>
          </a:ln>
        </p:spPr>
        <p:txBody>
          <a:bodyPr/>
          <a:lstStyle/>
          <a:p>
            <a:endParaRPr lang="pl-PL"/>
          </a:p>
        </p:txBody>
      </p:sp>
      <p:sp>
        <p:nvSpPr>
          <p:cNvPr id="5" name="Text 3"/>
          <p:cNvSpPr/>
          <p:nvPr/>
        </p:nvSpPr>
        <p:spPr>
          <a:xfrm>
            <a:off x="640080" y="1417320"/>
            <a:ext cx="10911535" cy="457200"/>
          </a:xfrm>
          <a:prstGeom prst="rect">
            <a:avLst/>
          </a:prstGeom>
          <a:noFill/>
          <a:ln/>
        </p:spPr>
        <p:txBody>
          <a:bodyPr wrap="square" rtlCol="0" anchor="ctr"/>
          <a:lstStyle/>
          <a:p>
            <a:pPr marL="0" indent="0" algn="ctr">
              <a:buNone/>
            </a:pPr>
            <a:r>
              <a:rPr lang="en-US" sz="1100" i="1" dirty="0">
                <a:solidFill>
                  <a:srgbClr val="333333"/>
                </a:solidFill>
                <a:latin typeface="Calibri" pitchFamily="34" charset="0"/>
                <a:ea typeface="Calibri" pitchFamily="34" charset="-122"/>
                <a:cs typeface="Calibri" pitchFamily="34" charset="-120"/>
              </a:rPr>
              <a:t>By the time the seed deploys at M7, the calculator has been live for 9 months and the platform for 6. Paid acquisition pours fuel on a measured fire.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74552" cy="256032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5239512">
                  <a:extLst>
                    <a:ext uri="{9D8B030D-6E8A-4147-A177-3AD203B41FA5}">
                      <a16:colId xmlns:a16="http://schemas.microsoft.com/office/drawing/2014/main" val="20003"/>
                    </a:ext>
                  </a:extLst>
                </a:gridCol>
              </a:tblGrid>
              <a:tr h="6400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When deployed</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What it buys</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640080">
                <a:tc>
                  <a:txBody>
                    <a:bodyPr/>
                    <a:lstStyle/>
                    <a:p>
                      <a:pPr marL="0" indent="0" algn="l">
                        <a:buNone/>
                      </a:pPr>
                      <a:r>
                        <a:rPr lang="en-US" sz="1100" b="1" dirty="0">
                          <a:solidFill>
                            <a:srgbClr val="333333"/>
                          </a:solidFill>
                          <a:latin typeface="Calibri" pitchFamily="34" charset="0"/>
                          <a:ea typeface="Calibri" pitchFamily="34" charset="-122"/>
                          <a:cs typeface="Calibri" pitchFamily="34" charset="-120"/>
                        </a:rPr>
                        <a:t>Paid acquisition</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b="1" dirty="0">
                          <a:solidFill>
                            <a:srgbClr val="333333"/>
                          </a:solidFill>
                          <a:latin typeface="Calibri" pitchFamily="34" charset="0"/>
                          <a:ea typeface="Calibri" pitchFamily="34" charset="-122"/>
                          <a:cs typeface="Calibri" pitchFamily="34" charset="-120"/>
                        </a:rPr>
                        <a:t>€180,000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M7-M60 ramp</a:t>
                      </a:r>
                      <a:endParaRPr lang="en-US" sz="1100" dirty="0">
                        <a:latin typeface="Calibri" charset="0"/>
                        <a:ea typeface="Calibri" charset="0"/>
                        <a:cs typeface="Calibri" charset="0"/>
                      </a:endParaRPr>
                    </a:p>
                    <a:p>
                      <a:pPr marL="0" indent="0" algn="l">
                        <a:buNone/>
                      </a:pPr>
                      <a:r>
                        <a:rPr lang="en-US" sz="1100" dirty="0">
                          <a:solidFill>
                            <a:srgbClr val="333333"/>
                          </a:solidFill>
                          <a:latin typeface="Calibri" pitchFamily="34" charset="0"/>
                          <a:ea typeface="Calibri" pitchFamily="34" charset="-122"/>
                          <a:cs typeface="Calibri" pitchFamily="34" charset="-120"/>
                        </a:rPr>
                        <a:t>(€3K → €25K/mo)</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~4,500 platform signups at €40 blended CAC → ~540 paid users at 12% conversion → ~€96K additional sub ARR over 5y</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lgn="l">
                        <a:buNone/>
                      </a:pPr>
                      <a:r>
                        <a:rPr lang="en-US" sz="1100" b="1" dirty="0">
                          <a:solidFill>
                            <a:srgbClr val="333333"/>
                          </a:solidFill>
                          <a:latin typeface="Calibri" pitchFamily="34" charset="0"/>
                          <a:ea typeface="Calibri" pitchFamily="34" charset="-122"/>
                          <a:cs typeface="Calibri" pitchFamily="34" charset="-120"/>
                        </a:rPr>
                        <a:t>Content &amp; SEO acceleration</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100" b="1" dirty="0">
                          <a:solidFill>
                            <a:srgbClr val="333333"/>
                          </a:solidFill>
                          <a:latin typeface="Calibri" pitchFamily="34" charset="0"/>
                          <a:ea typeface="Calibri" pitchFamily="34" charset="-122"/>
                          <a:cs typeface="Calibri" pitchFamily="34" charset="-120"/>
                        </a:rPr>
                        <a:t>€50,000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M7-M18</a:t>
                      </a:r>
                      <a:endParaRPr lang="en-US" sz="1100" dirty="0">
                        <a:latin typeface="Calibri" charset="0"/>
                        <a:ea typeface="Calibri" charset="0"/>
                        <a:cs typeface="Calibri" charset="0"/>
                      </a:endParaRPr>
                    </a:p>
                    <a:p>
                      <a:pPr marL="0" indent="0" algn="l">
                        <a:buNone/>
                      </a:pPr>
                      <a:r>
                        <a:rPr lang="en-US" sz="1100" dirty="0">
                          <a:solidFill>
                            <a:srgbClr val="333333"/>
                          </a:solidFill>
                          <a:latin typeface="Calibri" pitchFamily="34" charset="0"/>
                          <a:ea typeface="Calibri" pitchFamily="34" charset="-122"/>
                          <a:cs typeface="Calibri" pitchFamily="34" charset="-120"/>
                        </a:rPr>
                        <a:t>(~€4K/mo)</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Multi-language SEO content per corridor; multi-country landing pages — compounds annually</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lgn="l">
                        <a:buNone/>
                      </a:pPr>
                      <a:r>
                        <a:rPr lang="en-US" sz="1100" b="1" dirty="0">
                          <a:solidFill>
                            <a:srgbClr val="3D1257"/>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lgn="ctr">
                        <a:buNone/>
                      </a:pPr>
                      <a:r>
                        <a:rPr lang="en-US" sz="1100" b="1" dirty="0">
                          <a:solidFill>
                            <a:srgbClr val="3D1257"/>
                          </a:solidFill>
                          <a:latin typeface="Calibri" pitchFamily="34" charset="0"/>
                          <a:ea typeface="Calibri" pitchFamily="34" charset="-122"/>
                          <a:cs typeface="Calibri" pitchFamily="34" charset="-120"/>
                        </a:rPr>
                        <a:t>€230,000</a:t>
                      </a: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D4F4D7"/>
                    </a:solidFill>
                  </a:tcPr>
                </a:tc>
                <a:extLst>
                  <a:ext uri="{0D108BD9-81ED-4DB2-BD59-A6C34878D82A}">
                    <a16:rowId xmlns:a16="http://schemas.microsoft.com/office/drawing/2014/main" val="10003"/>
                  </a:ext>
                </a:extLst>
              </a:tr>
            </a:tbl>
          </a:graphicData>
        </a:graphic>
      </p:graphicFrame>
      <p:sp>
        <p:nvSpPr>
          <p:cNvPr id="7" name="Shape 4"/>
          <p:cNvSpPr/>
          <p:nvPr/>
        </p:nvSpPr>
        <p:spPr>
          <a:xfrm>
            <a:off x="457200" y="4572000"/>
            <a:ext cx="11277295" cy="1645920"/>
          </a:xfrm>
          <a:prstGeom prst="rect">
            <a:avLst/>
          </a:prstGeom>
          <a:solidFill>
            <a:srgbClr val="FAF8FC"/>
          </a:solidFill>
          <a:ln w="12700">
            <a:solidFill>
              <a:srgbClr val="888888"/>
            </a:solidFill>
            <a:prstDash val="solid"/>
          </a:ln>
        </p:spPr>
        <p:txBody>
          <a:bodyPr/>
          <a:lstStyle/>
          <a:p>
            <a:endParaRPr lang="pl-PL"/>
          </a:p>
        </p:txBody>
      </p:sp>
      <p:sp>
        <p:nvSpPr>
          <p:cNvPr id="8" name="Text 5"/>
          <p:cNvSpPr/>
          <p:nvPr/>
        </p:nvSpPr>
        <p:spPr>
          <a:xfrm>
            <a:off x="640080" y="4617720"/>
            <a:ext cx="10911535" cy="320040"/>
          </a:xfrm>
          <a:prstGeom prst="rect">
            <a:avLst/>
          </a:prstGeom>
          <a:noFill/>
          <a:ln/>
        </p:spPr>
        <p:txBody>
          <a:bodyPr wrap="square" rtlCol="0" anchor="ctr"/>
          <a:lstStyle/>
          <a:p>
            <a:pPr marL="0" indent="0" algn="l">
              <a:buNone/>
            </a:pPr>
            <a:r>
              <a:rPr lang="en-US" sz="1300" b="1" dirty="0">
                <a:solidFill>
                  <a:srgbClr val="333333"/>
                </a:solidFill>
                <a:latin typeface="Calibri" pitchFamily="34" charset="0"/>
                <a:ea typeface="Calibri" pitchFamily="34" charset="-122"/>
                <a:cs typeface="Calibri" pitchFamily="34" charset="-120"/>
              </a:rPr>
              <a:t>What is NOT in the seed (funded by equity, not cash):</a:t>
            </a:r>
            <a:endParaRPr lang="en-US" sz="1300" dirty="0"/>
          </a:p>
        </p:txBody>
      </p:sp>
      <p:sp>
        <p:nvSpPr>
          <p:cNvPr id="9" name="Text 6"/>
          <p:cNvSpPr/>
          <p:nvPr/>
        </p:nvSpPr>
        <p:spPr>
          <a:xfrm>
            <a:off x="640080" y="4937760"/>
            <a:ext cx="10911535" cy="1188720"/>
          </a:xfrm>
          <a:prstGeom prst="rect">
            <a:avLst/>
          </a:prstGeom>
          <a:noFill/>
          <a:ln/>
        </p:spPr>
        <p:txBody>
          <a:bodyPr wrap="square" rtlCol="0" anchor="t"/>
          <a:lstStyle/>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Co-founder salaries — technical + BD on equity until Series A</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Engine development — 29 pension engines built by technical co-founder over 5 years; founder labor</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BD / distribution partnerships — owned full-time by BD co-founder, no salary line</a:t>
            </a:r>
            <a:endParaRPr lang="en-US" sz="1100" dirty="0"/>
          </a:p>
          <a:p>
            <a:pPr marL="0" indent="0">
              <a:spcAft>
                <a:spcPts val="400"/>
              </a:spcAft>
              <a:buNone/>
            </a:pPr>
            <a:r>
              <a:rPr lang="en-US" sz="1100" dirty="0">
                <a:solidFill>
                  <a:srgbClr val="333333"/>
                </a:solidFill>
                <a:latin typeface="Calibri" pitchFamily="34" charset="0"/>
                <a:ea typeface="Calibri" pitchFamily="34" charset="-122"/>
                <a:cs typeface="Calibri" pitchFamily="34" charset="-120"/>
              </a:rPr>
              <a:t>❌  Legal entity setup, infrastructure, basic ops — founder self-funded during Phases −1 and 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6517</Words>
  <Application>Microsoft Office PowerPoint</Application>
  <PresentationFormat>Widescreen</PresentationFormat>
  <Paragraphs>547</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RetirAI — Investor Deck v2</dc:title>
  <dc:subject>Seed round — €230K — V6.2</dc:subject>
  <dc:creator>RetirAI</dc:creator>
  <cp:lastModifiedBy>Jacek Pelic</cp:lastModifiedBy>
  <cp:revision>3</cp:revision>
  <dcterms:created xsi:type="dcterms:W3CDTF">2026-04-11T18:42:48Z</dcterms:created>
  <dcterms:modified xsi:type="dcterms:W3CDTF">2026-04-13T14:43:59Z</dcterms:modified>
</cp:coreProperties>
</file>
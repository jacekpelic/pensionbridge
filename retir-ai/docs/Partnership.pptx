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307" r:id="rId2"/>
    <p:sldId id="290" r:id="rId3"/>
    <p:sldId id="303" r:id="rId4"/>
    <p:sldId id="310" r:id="rId5"/>
    <p:sldId id="256" r:id="rId6"/>
    <p:sldId id="25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29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F274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1F2937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63EEAE-D095-4535-BC25-B6D3CD39D41C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0A1E3D"/>
          </a:solidFill>
          <a:ln w="12700" cap="flat" cmpd="sng" algn="ctr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06400" y="10160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635000" y="2032000"/>
            <a:ext cx="533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go-to-market</a:t>
            </a:r>
            <a:endParaRPr lang="en-US" sz="3200" b="1" dirty="0">
              <a:solidFill>
                <a:srgbClr val="0F2747"/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5000" y="2768600"/>
            <a:ext cx="533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plan</a:t>
            </a:r>
            <a:endParaRPr lang="en-US" sz="1400" dirty="0">
              <a:solidFill>
                <a:srgbClr val="6B7280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635000" y="3746500"/>
            <a:ext cx="533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rings of intervention.</a:t>
            </a:r>
            <a:endParaRPr lang="en-US" sz="1500" dirty="0">
              <a:solidFill>
                <a:srgbClr val="A8C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BD6699-D72B-48BE-8650-A7C2E946D6F5}"/>
              </a:ext>
            </a:extLst>
          </p:cNvPr>
          <p:cNvSpPr/>
          <p:nvPr/>
        </p:nvSpPr>
        <p:spPr>
          <a:xfrm>
            <a:off x="635000" y="1879600"/>
            <a:ext cx="3302000" cy="50800"/>
          </a:xfrm>
          <a:prstGeom prst="rect">
            <a:avLst/>
          </a:prstGeom>
          <a:solidFill>
            <a:srgbClr val="C89A2B"/>
          </a:solidFill>
          <a:ln w="12700" cap="flat" cmpd="sng" algn="ctr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45359-71B6-4882-A22C-7CBBEE96DF21}"/>
              </a:ext>
            </a:extLst>
          </p:cNvPr>
          <p:cNvSpPr txBox="1"/>
          <p:nvPr/>
        </p:nvSpPr>
        <p:spPr>
          <a:xfrm>
            <a:off x="406400" y="6451600"/>
            <a:ext cx="11150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7A9BBE"/>
                </a:solidFill>
              </a:rPr>
              <a:t>RetirAI · Go-to-market strategy</a:t>
            </a:r>
          </a:p>
        </p:txBody>
      </p:sp>
      <p:sp>
        <p:nvSpPr>
          <p:cNvPr id="910" name="Ghost910"/>
          <p:cNvSpPr>
            <a:spLocks noGrp="1"/>
          </p:cNvSpPr>
          <p:nvPr/>
        </p:nvSpPr>
        <p:spPr>
          <a:xfrm>
            <a:off x="6604000" y="1270000"/>
            <a:ext cx="4699000" cy="4699000"/>
          </a:xfrm>
          <a:prstGeom prst="ellipse">
            <a:avLst/>
          </a:prstGeom>
          <a:solidFill>
            <a:srgbClr val="1B3A6E">
              <a:alpha val="18000"/>
            </a:srgbClr>
          </a:solidFill>
          <a:ln w="19050">
            <a:solidFill>
              <a:srgbClr val="2E5C9E">
                <a:alpha val="25000"/>
              </a:srgb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11" name="Ghost911"/>
          <p:cNvSpPr>
            <a:spLocks noGrp="1"/>
          </p:cNvSpPr>
          <p:nvPr/>
        </p:nvSpPr>
        <p:spPr>
          <a:xfrm>
            <a:off x="7366000" y="2032000"/>
            <a:ext cx="3175000" cy="3175000"/>
          </a:xfrm>
          <a:prstGeom prst="ellipse">
            <a:avLst/>
          </a:prstGeom>
          <a:solidFill>
            <a:srgbClr val="1B3A6E">
              <a:alpha val="25000"/>
            </a:srgbClr>
          </a:solidFill>
          <a:ln w="19050">
            <a:solidFill>
              <a:srgbClr val="2E5C9E">
                <a:alpha val="35000"/>
              </a:srgb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12" name="Ghost912"/>
          <p:cNvSpPr>
            <a:spLocks noGrp="1"/>
          </p:cNvSpPr>
          <p:nvPr/>
        </p:nvSpPr>
        <p:spPr>
          <a:xfrm>
            <a:off x="8089900" y="2755900"/>
            <a:ext cx="1727200" cy="1727200"/>
          </a:xfrm>
          <a:prstGeom prst="ellipse">
            <a:avLst/>
          </a:prstGeom>
          <a:solidFill>
            <a:srgbClr val="1D3F72">
              <a:alpha val="35000"/>
            </a:srgbClr>
          </a:solidFill>
          <a:ln w="25400">
            <a:solidFill>
              <a:srgbClr val="3A6BB5">
                <a:alpha val="50000"/>
              </a:srgb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13" name="Ghost913"/>
          <p:cNvSpPr>
            <a:spLocks noGrp="1"/>
          </p:cNvSpPr>
          <p:nvPr/>
        </p:nvSpPr>
        <p:spPr>
          <a:xfrm>
            <a:off x="8674100" y="3340100"/>
            <a:ext cx="558800" cy="558800"/>
          </a:xfrm>
          <a:prstGeom prst="ellipse">
            <a:avLst/>
          </a:prstGeom>
          <a:solidFill>
            <a:srgbClr val="C89A2B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14" name="QMark"/>
          <p:cNvSpPr/>
          <p:nvPr/>
        </p:nvSpPr>
        <p:spPr>
          <a:xfrm>
            <a:off x="7810500" y="2730500"/>
            <a:ext cx="2286000" cy="177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7200" b="0" dirty="0">
                <a:solidFill>
                  <a:srgbClr val="2A5499">
                    <a:alpha val="55000"/>
                  </a:srgbClr>
                </a:solidFill>
              </a:rPr>
              <a:t>?</a:t>
            </a:r>
          </a:p>
        </p:txBody>
      </p:sp>
      <p:sp>
        <p:nvSpPr>
          <p:cNvPr id="920" name="Ghost920"/>
          <p:cNvSpPr>
            <a:spLocks noGrp="1"/>
          </p:cNvSpPr>
          <p:nvPr/>
        </p:nvSpPr>
        <p:spPr>
          <a:xfrm>
            <a:off x="10363200" y="3441700"/>
            <a:ext cx="355600" cy="355600"/>
          </a:xfrm>
          <a:prstGeom prst="ellipse">
            <a:avLst/>
          </a:prstGeom>
          <a:solidFill>
            <a:srgbClr val="C89A2B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21" name="Ghost921"/>
          <p:cNvSpPr>
            <a:spLocks noGrp="1"/>
          </p:cNvSpPr>
          <p:nvPr/>
        </p:nvSpPr>
        <p:spPr>
          <a:xfrm>
            <a:off x="9575800" y="4813300"/>
            <a:ext cx="355600" cy="355600"/>
          </a:xfrm>
          <a:prstGeom prst="ellipse">
            <a:avLst/>
          </a:prstGeom>
          <a:solidFill>
            <a:srgbClr val="C89A2B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22" name="Ghost922"/>
          <p:cNvSpPr>
            <a:spLocks noGrp="1"/>
          </p:cNvSpPr>
          <p:nvPr/>
        </p:nvSpPr>
        <p:spPr>
          <a:xfrm>
            <a:off x="7988300" y="4813300"/>
            <a:ext cx="355600" cy="355600"/>
          </a:xfrm>
          <a:prstGeom prst="ellipse">
            <a:avLst/>
          </a:prstGeom>
          <a:solidFill>
            <a:srgbClr val="C89A2B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23" name="Ghost923"/>
          <p:cNvSpPr>
            <a:spLocks noGrp="1"/>
          </p:cNvSpPr>
          <p:nvPr/>
        </p:nvSpPr>
        <p:spPr>
          <a:xfrm>
            <a:off x="7188200" y="3441700"/>
            <a:ext cx="355600" cy="355600"/>
          </a:xfrm>
          <a:prstGeom prst="ellipse">
            <a:avLst/>
          </a:prstGeom>
          <a:solidFill>
            <a:srgbClr val="C89A2B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24" name="Ghost924"/>
          <p:cNvSpPr>
            <a:spLocks noGrp="1"/>
          </p:cNvSpPr>
          <p:nvPr/>
        </p:nvSpPr>
        <p:spPr>
          <a:xfrm>
            <a:off x="7988300" y="2070100"/>
            <a:ext cx="355600" cy="355600"/>
          </a:xfrm>
          <a:prstGeom prst="ellipse">
            <a:avLst/>
          </a:prstGeom>
          <a:solidFill>
            <a:srgbClr val="C89A2B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25" name="Ghost925"/>
          <p:cNvSpPr>
            <a:spLocks noGrp="1"/>
          </p:cNvSpPr>
          <p:nvPr/>
        </p:nvSpPr>
        <p:spPr>
          <a:xfrm>
            <a:off x="9575800" y="2070100"/>
            <a:ext cx="355600" cy="355600"/>
          </a:xfrm>
          <a:prstGeom prst="ellipse">
            <a:avLst/>
          </a:prstGeom>
          <a:solidFill>
            <a:srgbClr val="C89A2B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30" name="GoldLine2"/>
          <p:cNvSpPr>
            <a:spLocks noGrp="1"/>
          </p:cNvSpPr>
          <p:nvPr/>
        </p:nvSpPr>
        <p:spPr>
          <a:xfrm>
            <a:off x="635000" y="4381500"/>
            <a:ext cx="635000" cy="50800"/>
          </a:xfrm>
          <a:prstGeom prst="rect">
            <a:avLst/>
          </a:prstGeom>
          <a:solidFill>
            <a:srgbClr val="C89A2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09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angle 309">
            <a:extLst>
              <a:ext uri="{FF2B5EF4-FFF2-40B4-BE49-F238E27FC236}">
                <a16:creationId xmlns:a16="http://schemas.microsoft.com/office/drawing/2014/main" id="{1CEF373B-64C4-4D56-A0B0-0A715E2FE257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0F27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51912" y="2659482"/>
            <a:ext cx="1894637" cy="1894637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10586" y="2118156"/>
            <a:ext cx="2977286" cy="297728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7F77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01595" y="1509165"/>
            <a:ext cx="4195267" cy="4195267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8A8A82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06400" y="101600"/>
            <a:ext cx="110642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in one picture</a:t>
            </a:r>
            <a:endParaRPr lang="en-US" sz="1050" b="1" dirty="0">
              <a:solidFill>
                <a:srgbClr val="6B728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6400" y="6223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rings of partnerships when choosing a country direction.</a:t>
            </a:r>
            <a:endParaRPr lang="en-US" sz="1050" dirty="0">
              <a:solidFill>
                <a:srgbClr val="6B728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714750" y="2374900"/>
            <a:ext cx="455930" cy="455930"/>
          </a:xfrm>
          <a:prstGeom prst="ellipse">
            <a:avLst/>
          </a:prstGeom>
          <a:solidFill>
            <a:srgbClr val="C5E8D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14750" y="2374900"/>
            <a:ext cx="455930" cy="45593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Chamb.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40250" y="2857500"/>
            <a:ext cx="455930" cy="455930"/>
          </a:xfrm>
          <a:prstGeom prst="ellipse">
            <a:avLst/>
          </a:prstGeom>
          <a:solidFill>
            <a:srgbClr val="C5E8D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40250" y="2857500"/>
            <a:ext cx="455930" cy="45593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Feder.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40250" y="3797300"/>
            <a:ext cx="455930" cy="455930"/>
          </a:xfrm>
          <a:prstGeom prst="ellipse">
            <a:avLst/>
          </a:prstGeom>
          <a:solidFill>
            <a:srgbClr val="C5E8D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0250" y="3797300"/>
            <a:ext cx="455930" cy="45593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HR</a:t>
            </a:r>
            <a:endParaRPr lang="en-US" sz="800" dirty="0"/>
          </a:p>
          <a:p>
            <a:pPr marL="0" indent="0"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depts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14750" y="4279900"/>
            <a:ext cx="455930" cy="455930"/>
          </a:xfrm>
          <a:prstGeom prst="ellipse">
            <a:avLst/>
          </a:prstGeom>
          <a:solidFill>
            <a:srgbClr val="C5E8D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14750" y="4279900"/>
            <a:ext cx="455930" cy="45593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Hubs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1950" y="3797300"/>
            <a:ext cx="455930" cy="455930"/>
          </a:xfrm>
          <a:prstGeom prst="ellipse">
            <a:avLst/>
          </a:prstGeom>
          <a:solidFill>
            <a:srgbClr val="C5E8D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1950" y="3797300"/>
            <a:ext cx="455930" cy="45593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Media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01950" y="2857500"/>
            <a:ext cx="455930" cy="455930"/>
          </a:xfrm>
          <a:prstGeom prst="ellipse">
            <a:avLst/>
          </a:prstGeom>
          <a:solidFill>
            <a:srgbClr val="C5E8D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01950" y="2857500"/>
            <a:ext cx="455930" cy="45593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Public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38680" y="3234690"/>
            <a:ext cx="744220" cy="744220"/>
          </a:xfrm>
          <a:prstGeom prst="ellipse">
            <a:avLst/>
          </a:prstGeom>
          <a:solidFill>
            <a:srgbClr val="D8D5F4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38680" y="3345179"/>
            <a:ext cx="744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2774"/>
                </a:solidFill>
                <a:latin typeface="Calibri" pitchFamily="34" charset="0"/>
              </a:rPr>
              <a:t>PT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650" dirty="0">
                <a:solidFill>
                  <a:srgbClr val="2E2774"/>
                </a:solidFill>
                <a:latin typeface="Calibri" pitchFamily="34" charset="0"/>
              </a:rPr>
              <a:t>community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882900" y="1945639"/>
            <a:ext cx="744220" cy="744220"/>
          </a:xfrm>
          <a:prstGeom prst="ellipse">
            <a:avLst/>
          </a:prstGeom>
          <a:solidFill>
            <a:srgbClr val="D8D5F4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82900" y="2056130"/>
            <a:ext cx="744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2774"/>
                </a:solidFill>
                <a:latin typeface="Calibri" pitchFamily="34" charset="0"/>
              </a:rPr>
              <a:t>FR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650" dirty="0">
                <a:solidFill>
                  <a:srgbClr val="2E2774"/>
                </a:solidFill>
                <a:latin typeface="Calibri" pitchFamily="34" charset="0"/>
              </a:rPr>
              <a:t>community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371340" y="1945639"/>
            <a:ext cx="744220" cy="744220"/>
          </a:xfrm>
          <a:prstGeom prst="ellipse">
            <a:avLst/>
          </a:prstGeom>
          <a:solidFill>
            <a:srgbClr val="D8D5F4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71340" y="2056130"/>
            <a:ext cx="744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2774"/>
                </a:solidFill>
                <a:latin typeface="Calibri" pitchFamily="34" charset="0"/>
              </a:rPr>
              <a:t>IT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650" dirty="0">
                <a:solidFill>
                  <a:srgbClr val="2E2774"/>
                </a:solidFill>
                <a:latin typeface="Calibri" pitchFamily="34" charset="0"/>
              </a:rPr>
              <a:t>community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115560" y="3234690"/>
            <a:ext cx="744220" cy="744220"/>
          </a:xfrm>
          <a:prstGeom prst="ellipse">
            <a:avLst/>
          </a:prstGeom>
          <a:solidFill>
            <a:srgbClr val="D8D5F4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15560" y="3345179"/>
            <a:ext cx="744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2774"/>
                </a:solidFill>
                <a:latin typeface="Calibri" pitchFamily="34" charset="0"/>
              </a:rPr>
              <a:t>BE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650" dirty="0">
                <a:solidFill>
                  <a:srgbClr val="2E2774"/>
                </a:solidFill>
                <a:latin typeface="Calibri" pitchFamily="34" charset="0"/>
              </a:rPr>
              <a:t>community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371340" y="4523740"/>
            <a:ext cx="744220" cy="744220"/>
          </a:xfrm>
          <a:prstGeom prst="ellipse">
            <a:avLst/>
          </a:prstGeom>
          <a:solidFill>
            <a:srgbClr val="D8D5F4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71340" y="4634230"/>
            <a:ext cx="744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2774"/>
                </a:solidFill>
                <a:latin typeface="Calibri" pitchFamily="34" charset="0"/>
              </a:rPr>
              <a:t>DE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650" dirty="0">
                <a:solidFill>
                  <a:srgbClr val="2E2774"/>
                </a:solidFill>
                <a:latin typeface="Calibri" pitchFamily="34" charset="0"/>
              </a:rPr>
              <a:t>community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882900" y="4523740"/>
            <a:ext cx="744220" cy="744220"/>
          </a:xfrm>
          <a:prstGeom prst="ellipse">
            <a:avLst/>
          </a:prstGeom>
          <a:solidFill>
            <a:srgbClr val="D8D5F4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82900" y="4634230"/>
            <a:ext cx="744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2774"/>
                </a:solidFill>
                <a:latin typeface="Calibri" pitchFamily="34" charset="0"/>
              </a:rPr>
              <a:t>ES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650" dirty="0">
                <a:solidFill>
                  <a:srgbClr val="2E2774"/>
                </a:solidFill>
                <a:latin typeface="Calibri" pitchFamily="34" charset="0"/>
              </a:rPr>
              <a:t>community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051206" y="3315838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751440" y="3139906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989561" y="3545900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644466" y="3539134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51206" y="3775964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51440" y="3938361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194008" y="1796571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87242" y="1451476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63946" y="1858216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88016" y="1558450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95528" y="2026634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495760" y="1850704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81132" y="2026634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67367" y="1850704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912716" y="1858216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075113" y="1558450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82652" y="1796571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75886" y="1451476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825454" y="3775964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11689" y="3938361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887099" y="3545900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218661" y="3539134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825454" y="3315838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11689" y="3139906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682652" y="5295229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75886" y="5626791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12716" y="5233584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075113" y="5519819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081132" y="5065166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367367" y="5227563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95528" y="5065166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495760" y="5227563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963946" y="5233584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788016" y="5519819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194008" y="5295229"/>
            <a:ext cx="121798" cy="12179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187242" y="5626791"/>
            <a:ext cx="135331" cy="135331"/>
          </a:xfrm>
          <a:prstGeom prst="ellipse">
            <a:avLst/>
          </a:prstGeom>
          <a:solidFill>
            <a:srgbClr val="7030A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320800" y="3321050"/>
            <a:ext cx="558800" cy="558800"/>
          </a:xfrm>
          <a:prstGeom prst="ellipse">
            <a:avLst/>
          </a:prstGeom>
          <a:solidFill>
            <a:srgbClr val="D85A30"/>
          </a:solidFill>
          <a:ln w="190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320800" y="332105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14600" y="1238250"/>
            <a:ext cx="558800" cy="558800"/>
          </a:xfrm>
          <a:prstGeom prst="ellipse">
            <a:avLst/>
          </a:prstGeom>
          <a:solidFill>
            <a:srgbClr val="D85A30"/>
          </a:solidFill>
          <a:ln w="190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514600" y="123825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914900" y="1238250"/>
            <a:ext cx="558800" cy="558800"/>
          </a:xfrm>
          <a:prstGeom prst="ellipse">
            <a:avLst/>
          </a:prstGeom>
          <a:solidFill>
            <a:srgbClr val="D85A30"/>
          </a:solidFill>
          <a:ln w="190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914900" y="123825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21400" y="3321050"/>
            <a:ext cx="558800" cy="558800"/>
          </a:xfrm>
          <a:prstGeom prst="ellipse">
            <a:avLst/>
          </a:prstGeom>
          <a:solidFill>
            <a:srgbClr val="D85A30"/>
          </a:solidFill>
          <a:ln w="190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6121400" y="332105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914900" y="5403850"/>
            <a:ext cx="558800" cy="558800"/>
          </a:xfrm>
          <a:prstGeom prst="ellipse">
            <a:avLst/>
          </a:prstGeom>
          <a:solidFill>
            <a:srgbClr val="D85A30"/>
          </a:solidFill>
          <a:ln w="190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914900" y="540385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514600" y="5403850"/>
            <a:ext cx="558800" cy="558800"/>
          </a:xfrm>
          <a:prstGeom prst="ellipse">
            <a:avLst/>
          </a:prstGeom>
          <a:solidFill>
            <a:srgbClr val="D85A30"/>
          </a:solidFill>
          <a:ln w="190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514600" y="540385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715033" y="3322603"/>
            <a:ext cx="568391" cy="568391"/>
          </a:xfrm>
          <a:prstGeom prst="ellipse">
            <a:avLst/>
          </a:prstGeom>
          <a:solidFill>
            <a:srgbClr val="FAFAF7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715033" y="3450492"/>
            <a:ext cx="568391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7483744" y="1179981"/>
            <a:ext cx="3840480" cy="640080"/>
          </a:xfrm>
          <a:prstGeom prst="rect">
            <a:avLst/>
          </a:prstGeom>
          <a:solidFill>
            <a:srgbClr val="F1EFE8"/>
          </a:solidFill>
          <a:ln w="6350">
            <a:solidFill>
              <a:srgbClr val="8A8A82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82" name="Text 80"/>
          <p:cNvSpPr/>
          <p:nvPr/>
        </p:nvSpPr>
        <p:spPr>
          <a:xfrm>
            <a:off x="7575184" y="1225701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 as launchpad: mobilize existing networks while expanding abroad.</a:t>
            </a:r>
            <a:endParaRPr lang="en-US" sz="1150" i="1" dirty="0">
              <a:solidFill>
                <a:srgbClr val="1F2937"/>
              </a:solidFill>
            </a:endParaRPr>
          </a:p>
        </p:txBody>
      </p:sp>
      <p:sp>
        <p:nvSpPr>
          <p:cNvPr id="83" name="Shape 81"/>
          <p:cNvSpPr/>
          <p:nvPr/>
        </p:nvSpPr>
        <p:spPr>
          <a:xfrm>
            <a:off x="7575184" y="2149245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84" name="Text 82"/>
          <p:cNvSpPr/>
          <p:nvPr/>
        </p:nvSpPr>
        <p:spPr>
          <a:xfrm>
            <a:off x="7895224" y="2094381"/>
            <a:ext cx="363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</a:t>
            </a:r>
            <a:r>
              <a:rPr lang="en-US" sz="1400" b="1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</a:t>
            </a: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institutions</a:t>
            </a:r>
            <a:endParaRPr lang="en-US" sz="1400" b="1" dirty="0">
              <a:solidFill>
                <a:srgbClr val="0F2747"/>
              </a:solidFill>
            </a:endParaRPr>
          </a:p>
        </p:txBody>
      </p:sp>
      <p:sp>
        <p:nvSpPr>
          <p:cNvPr id="85" name="Text 83"/>
          <p:cNvSpPr/>
          <p:nvPr/>
        </p:nvSpPr>
        <p:spPr>
          <a:xfrm>
            <a:off x="7895224" y="2386989"/>
            <a:ext cx="363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Chambers, federations, public bodies, hubs, media, HR networks.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86" name="Shape 84"/>
          <p:cNvSpPr/>
          <p:nvPr/>
        </p:nvSpPr>
        <p:spPr>
          <a:xfrm>
            <a:off x="7575184" y="3017925"/>
            <a:ext cx="201168" cy="20116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87" name="Text 85"/>
          <p:cNvSpPr/>
          <p:nvPr/>
        </p:nvSpPr>
        <p:spPr>
          <a:xfrm>
            <a:off x="7895224" y="2963061"/>
            <a:ext cx="363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2 - Country communities &amp; associations in LU</a:t>
            </a:r>
            <a:endParaRPr lang="en-US" sz="1400" b="1" dirty="0">
              <a:solidFill>
                <a:srgbClr val="0F2747"/>
              </a:solidFill>
            </a:endParaRPr>
          </a:p>
        </p:txBody>
      </p:sp>
      <p:sp>
        <p:nvSpPr>
          <p:cNvPr id="88" name="Text 86"/>
          <p:cNvSpPr/>
          <p:nvPr/>
        </p:nvSpPr>
        <p:spPr>
          <a:xfrm>
            <a:off x="7895224" y="3255669"/>
            <a:ext cx="363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expat communities (PT, FR, IT, BE, DE, ES), bilateral chambers, diaspora groups, cultural institutes.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92" name="Shape 90"/>
          <p:cNvSpPr/>
          <p:nvPr/>
        </p:nvSpPr>
        <p:spPr>
          <a:xfrm>
            <a:off x="7575184" y="3891685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93" name="Text 91"/>
          <p:cNvSpPr/>
          <p:nvPr/>
        </p:nvSpPr>
        <p:spPr>
          <a:xfrm>
            <a:off x="7895224" y="3836821"/>
            <a:ext cx="363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3 - Home-country organizations</a:t>
            </a:r>
            <a:endParaRPr lang="en-US" sz="1400" b="1" dirty="0">
              <a:solidFill>
                <a:srgbClr val="0F2747"/>
              </a:solidFill>
            </a:endParaRPr>
          </a:p>
        </p:txBody>
      </p:sp>
      <p:sp>
        <p:nvSpPr>
          <p:cNvPr id="94" name="Text 92"/>
          <p:cNvSpPr/>
          <p:nvPr/>
        </p:nvSpPr>
        <p:spPr>
          <a:xfrm>
            <a:off x="7895224" y="4129429"/>
            <a:ext cx="363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Chambers, business associations and institutions in each target country.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95" name="Text 93"/>
          <p:cNvSpPr/>
          <p:nvPr/>
        </p:nvSpPr>
        <p:spPr>
          <a:xfrm>
            <a:off x="4064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strategy</a:t>
            </a:r>
            <a:endParaRPr lang="en-US" sz="850" dirty="0">
              <a:solidFill>
                <a:srgbClr val="7A7A7A"/>
              </a:solidFill>
            </a:endParaRPr>
          </a:p>
        </p:txBody>
      </p:sp>
      <p:sp>
        <p:nvSpPr>
          <p:cNvPr id="96" name="Text 94"/>
          <p:cNvSpPr/>
          <p:nvPr/>
        </p:nvSpPr>
        <p:spPr>
          <a:xfrm>
            <a:off x="111506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C99A86AA-5D37-48F0-8891-A4E0FC4135E7}"/>
              </a:ext>
            </a:extLst>
          </p:cNvPr>
          <p:cNvSpPr/>
          <p:nvPr/>
        </p:nvSpPr>
        <p:spPr>
          <a:xfrm>
            <a:off x="7575184" y="4868061"/>
            <a:ext cx="3810000" cy="12700"/>
          </a:xfrm>
          <a:prstGeom prst="rect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24BBC821-9EEC-487B-8DEF-3A950E976427}"/>
              </a:ext>
            </a:extLst>
          </p:cNvPr>
          <p:cNvSpPr/>
          <p:nvPr/>
        </p:nvSpPr>
        <p:spPr>
          <a:xfrm>
            <a:off x="7575184" y="5172861"/>
            <a:ext cx="1079500" cy="355600"/>
          </a:xfrm>
          <a:prstGeom prst="rect">
            <a:avLst/>
          </a:prstGeom>
          <a:solidFill>
            <a:srgbClr val="2E7D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</a:rPr>
              <a:t>Ring 1</a:t>
            </a:r>
          </a:p>
        </p:txBody>
      </p:sp>
      <p:sp>
        <p:nvSpPr>
          <p:cNvPr id="303" name="Arrow: Right 302">
            <a:extLst>
              <a:ext uri="{FF2B5EF4-FFF2-40B4-BE49-F238E27FC236}">
                <a16:creationId xmlns:a16="http://schemas.microsoft.com/office/drawing/2014/main" id="{F43FFB32-F27E-4B2C-9495-9CE61166390E}"/>
              </a:ext>
            </a:extLst>
          </p:cNvPr>
          <p:cNvSpPr/>
          <p:nvPr/>
        </p:nvSpPr>
        <p:spPr>
          <a:xfrm>
            <a:off x="8654684" y="5287161"/>
            <a:ext cx="152400" cy="127000"/>
          </a:xfrm>
          <a:prstGeom prst="rightArrow">
            <a:avLst/>
          </a:prstGeom>
          <a:solidFill>
            <a:srgbClr val="9B8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361779C3-18F5-4443-BF56-CAF8DBB1D0BC}"/>
              </a:ext>
            </a:extLst>
          </p:cNvPr>
          <p:cNvSpPr txBox="1"/>
          <p:nvPr/>
        </p:nvSpPr>
        <p:spPr>
          <a:xfrm>
            <a:off x="7575184" y="5566561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50" b="1">
                <a:solidFill>
                  <a:srgbClr val="1F2937"/>
                </a:solidFill>
              </a:rPr>
              <a:t>LU institutions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AAFCB11-C728-4E84-9301-0E1DE8D43684}"/>
              </a:ext>
            </a:extLst>
          </p:cNvPr>
          <p:cNvSpPr/>
          <p:nvPr/>
        </p:nvSpPr>
        <p:spPr>
          <a:xfrm>
            <a:off x="8807084" y="5172861"/>
            <a:ext cx="1079500" cy="3556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</a:rPr>
              <a:t>Ring 2</a:t>
            </a:r>
          </a:p>
        </p:txBody>
      </p:sp>
      <p:sp>
        <p:nvSpPr>
          <p:cNvPr id="306" name="Arrow: Right 305">
            <a:extLst>
              <a:ext uri="{FF2B5EF4-FFF2-40B4-BE49-F238E27FC236}">
                <a16:creationId xmlns:a16="http://schemas.microsoft.com/office/drawing/2014/main" id="{873C0407-D91D-4695-BF1B-6475D67E384E}"/>
              </a:ext>
            </a:extLst>
          </p:cNvPr>
          <p:cNvSpPr/>
          <p:nvPr/>
        </p:nvSpPr>
        <p:spPr>
          <a:xfrm>
            <a:off x="9886584" y="5287161"/>
            <a:ext cx="152400" cy="127000"/>
          </a:xfrm>
          <a:prstGeom prst="rightArrow">
            <a:avLst/>
          </a:prstGeom>
          <a:solidFill>
            <a:srgbClr val="9B8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150">
              <a:solidFill>
                <a:srgbClr val="1F2937"/>
              </a:solidFill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35BBF3E7-8069-4612-AB13-6ECF325D289C}"/>
              </a:ext>
            </a:extLst>
          </p:cNvPr>
          <p:cNvSpPr txBox="1"/>
          <p:nvPr/>
        </p:nvSpPr>
        <p:spPr>
          <a:xfrm>
            <a:off x="8807084" y="5566561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50" b="1">
                <a:solidFill>
                  <a:srgbClr val="1F2937"/>
                </a:solidFill>
              </a:rPr>
              <a:t>Communities &amp;
associations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A59EFAF0-7A71-4289-B360-811858CF1665}"/>
              </a:ext>
            </a:extLst>
          </p:cNvPr>
          <p:cNvSpPr/>
          <p:nvPr/>
        </p:nvSpPr>
        <p:spPr>
          <a:xfrm>
            <a:off x="10038984" y="5172861"/>
            <a:ext cx="1079500" cy="3556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</a:rPr>
              <a:t>Ring 3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49F02B64-06D4-4A0E-8523-834E20C1CEC7}"/>
              </a:ext>
            </a:extLst>
          </p:cNvPr>
          <p:cNvSpPr txBox="1"/>
          <p:nvPr/>
        </p:nvSpPr>
        <p:spPr>
          <a:xfrm>
            <a:off x="10038984" y="5566561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50" b="1">
                <a:solidFill>
                  <a:srgbClr val="1F2937"/>
                </a:solidFill>
              </a:rPr>
              <a:t>Home-country
orgs</a:t>
            </a:r>
          </a:p>
        </p:txBody>
      </p:sp>
    </p:spTree>
    <p:extLst>
      <p:ext uri="{BB962C8B-B14F-4D97-AF65-F5344CB8AC3E}">
        <p14:creationId xmlns:p14="http://schemas.microsoft.com/office/powerpoint/2010/main" val="3230874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3B06266-548D-4BF3-94ED-3FCFE0CC0EF7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0F27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06400" y="101600"/>
            <a:ext cx="11064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Lead nationalities: Portuguese first, French second, Spanish third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6400" y="622300"/>
            <a:ext cx="1106424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</a:rPr>
              <a:t>We focus on the three communities with the highest leverage, starting with the largest and adding Spanish — a fast-growing recent wave.</a:t>
            </a:r>
            <a:endParaRPr lang="en-US" sz="1050" dirty="0">
              <a:solidFill>
                <a:srgbClr val="6B728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55600" y="914400"/>
            <a:ext cx="3670300" cy="53340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8A8A8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5200"/>
            <a:ext cx="3467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— PRIORITY #1</a:t>
            </a:r>
            <a:endParaRPr lang="en-US" sz="900" b="1" dirty="0">
              <a:solidFill>
                <a:srgbClr val="0F2747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498600"/>
            <a:ext cx="34671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~92,000</a:t>
            </a:r>
            <a:endParaRPr lang="en-US" b="1" dirty="0">
              <a:solidFill>
                <a:srgbClr val="0F2747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in Luxembourg — 13.1% of total population</a:t>
            </a:r>
            <a:endParaRPr lang="en-US" sz="1000" b="1" dirty="0">
              <a:solidFill>
                <a:srgbClr val="6B728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8448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first</a:t>
            </a:r>
            <a:endParaRPr lang="en-US" sz="1100" dirty="0">
              <a:solidFill>
                <a:srgbClr val="1F2937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2600" y="33020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000" y="32258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foreign community in Luxembourg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2600" y="40386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000" y="39624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community infrastructure (Contacto, CLAE, CCIPL, ACEP)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2600" y="47752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000" y="46990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emotional salience around pensions (return-migration)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2600" y="55118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000" y="54356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bridge to Year 2 Portugal expansion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54500" y="914400"/>
            <a:ext cx="3670300" cy="5334000"/>
          </a:xfrm>
          <a:prstGeom prst="roundRect">
            <a:avLst>
              <a:gd name="adj" fmla="val 4000"/>
            </a:avLst>
          </a:prstGeom>
          <a:solidFill>
            <a:srgbClr val="FBF6EA"/>
          </a:solidFill>
          <a:ln w="12700">
            <a:solidFill>
              <a:srgbClr val="8A8A8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56100" y="965200"/>
            <a:ext cx="3467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— PRIORITY #2</a:t>
            </a:r>
            <a:endParaRPr lang="en-US" sz="900" b="1" dirty="0">
              <a:solidFill>
                <a:srgbClr val="0F2747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56100" y="1498600"/>
            <a:ext cx="34671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49K + 120K</a:t>
            </a:r>
            <a:endParaRPr lang="en-US" b="1" dirty="0">
              <a:solidFill>
                <a:srgbClr val="0F2747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56100" y="228600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+ daily cross-border commuters from France</a:t>
            </a:r>
            <a:endParaRPr lang="en-US" sz="1000" b="1" dirty="0">
              <a:solidFill>
                <a:srgbClr val="6B728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56100" y="28448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second</a:t>
            </a:r>
            <a:endParaRPr lang="en-US" sz="1100" dirty="0">
              <a:solidFill>
                <a:srgbClr val="1F2937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81500" y="33020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33900" y="32258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120K+ daily commuters = sheer volume nobody else has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81500" y="40386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33900" y="39624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pension reform raised pension anxiety to historic peak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81500" y="47752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33900" y="46990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Frontaliers Grand Est is a ready-made distribution partner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81500" y="5511800"/>
            <a:ext cx="88900" cy="88900"/>
          </a:xfrm>
          <a:prstGeom prst="ellipse">
            <a:avLst/>
          </a:prstGeom>
          <a:solidFill>
            <a:srgbClr val="C89A2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33900" y="5435600"/>
            <a:ext cx="3263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bridge to Year 2 France expansion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064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Year 1 plan</a:t>
            </a:r>
            <a:endParaRPr lang="en-US" sz="850" dirty="0">
              <a:solidFill>
                <a:srgbClr val="7A7A7A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0" name="Sp_PanelBg"/>
          <p:cNvSpPr>
            <a:spLocks noGrp="1"/>
          </p:cNvSpPr>
          <p:nvPr/>
        </p:nvSpPr>
        <p:spPr>
          <a:xfrm>
            <a:off x="8102600" y="914400"/>
            <a:ext cx="3670300" cy="5334000"/>
          </a:xfrm>
          <a:prstGeom prst="roundRect">
            <a:avLst>
              <a:gd name="adj" fmla="val 4000"/>
            </a:avLst>
          </a:prstGeom>
          <a:solidFill>
            <a:srgbClr val="EDF7F0"/>
          </a:solidFill>
          <a:ln w="12700">
            <a:solidFill>
              <a:scrgbClr r="0" g="0" b="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rtlCol="0"/>
          <a:lstStyle/>
          <a:p>
            <a:endParaRPr lang="en-US" dirty="0"/>
          </a:p>
        </p:txBody>
      </p:sp>
      <p:sp>
        <p:nvSpPr>
          <p:cNvPr id="52" name="Sp_HeaderTxt"/>
          <p:cNvSpPr>
            <a:spLocks noGrp="1"/>
          </p:cNvSpPr>
          <p:nvPr/>
        </p:nvSpPr>
        <p:spPr>
          <a:xfrm>
            <a:off x="8204200" y="965200"/>
            <a:ext cx="3467100" cy="406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747"/>
                </a:solidFill>
                <a:latin typeface="Calibri" pitchFamily="34" charset="0"/>
              </a:rPr>
              <a:t>SPANISH — PRIORITY #3</a:t>
            </a:r>
            <a:endParaRPr lang="en-US" sz="900" b="1" dirty="0">
              <a:solidFill>
                <a:srgbClr val="0F2747"/>
              </a:solidFill>
            </a:endParaRPr>
          </a:p>
        </p:txBody>
      </p:sp>
      <p:sp>
        <p:nvSpPr>
          <p:cNvPr id="53" name="Sp_BigNum"/>
          <p:cNvSpPr>
            <a:spLocks noGrp="1"/>
          </p:cNvSpPr>
          <p:nvPr/>
        </p:nvSpPr>
        <p:spPr>
          <a:xfrm>
            <a:off x="8204200" y="1498600"/>
            <a:ext cx="3467100" cy="736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b="1" dirty="0">
                <a:solidFill>
                  <a:srgbClr val="0F2747"/>
                </a:solidFill>
                <a:latin typeface="Calibri" pitchFamily="34" charset="0"/>
              </a:rPr>
              <a:t>~9,600</a:t>
            </a:r>
            <a:endParaRPr lang="en-US" b="1" dirty="0">
              <a:solidFill>
                <a:srgbClr val="0F2747"/>
              </a:solidFill>
            </a:endParaRPr>
          </a:p>
        </p:txBody>
      </p:sp>
      <p:sp>
        <p:nvSpPr>
          <p:cNvPr id="54" name="Sp_SubTxt"/>
          <p:cNvSpPr>
            <a:spLocks noGrp="1"/>
          </p:cNvSpPr>
          <p:nvPr/>
        </p:nvSpPr>
        <p:spPr>
          <a:xfrm>
            <a:off x="8204200" y="2286000"/>
            <a:ext cx="34671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B7280"/>
                </a:solidFill>
                <a:latin typeface="Calibri" pitchFamily="34" charset="0"/>
              </a:rPr>
              <a:t>residents in Luxembourg — ~1.4% of total population</a:t>
            </a:r>
            <a:endParaRPr lang="en-US" sz="1000" b="1" dirty="0">
              <a:solidFill>
                <a:srgbClr val="6B7280"/>
              </a:solidFill>
            </a:endParaRPr>
          </a:p>
        </p:txBody>
      </p:sp>
      <p:sp>
        <p:nvSpPr>
          <p:cNvPr id="55" name="Sp_WhyLbl"/>
          <p:cNvSpPr>
            <a:spLocks noGrp="1"/>
          </p:cNvSpPr>
          <p:nvPr/>
        </p:nvSpPr>
        <p:spPr>
          <a:xfrm>
            <a:off x="8204200" y="2844800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</a:rPr>
              <a:t>Why third</a:t>
            </a:r>
            <a:endParaRPr lang="en-US" sz="1100" dirty="0">
              <a:solidFill>
                <a:srgbClr val="1F2937"/>
              </a:solidFill>
            </a:endParaRPr>
          </a:p>
        </p:txBody>
      </p:sp>
      <p:sp>
        <p:nvSpPr>
          <p:cNvPr id="56" name="Sp_Dot1"/>
          <p:cNvSpPr>
            <a:spLocks noGrp="1"/>
          </p:cNvSpPr>
          <p:nvPr/>
        </p:nvSpPr>
        <p:spPr>
          <a:xfrm>
            <a:off x="8229600" y="3302000"/>
            <a:ext cx="88900" cy="88900"/>
          </a:xfrm>
          <a:prstGeom prst="ellipse">
            <a:avLst/>
          </a:prstGeom>
          <a:solidFill>
            <a:srgbClr val="C89A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Sp_B1"/>
          <p:cNvSpPr>
            <a:spLocks noGrp="1"/>
          </p:cNvSpPr>
          <p:nvPr/>
        </p:nvSpPr>
        <p:spPr>
          <a:xfrm>
            <a:off x="8382000" y="3225800"/>
            <a:ext cx="3263900" cy="660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</a:rPr>
              <a:t>+472 new arrivals in 2024 — fastest net growth of any EU nationality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58" name="Sp_Dot2"/>
          <p:cNvSpPr>
            <a:spLocks noGrp="1"/>
          </p:cNvSpPr>
          <p:nvPr/>
        </p:nvSpPr>
        <p:spPr>
          <a:xfrm>
            <a:off x="8229600" y="4038600"/>
            <a:ext cx="88900" cy="88900"/>
          </a:xfrm>
          <a:prstGeom prst="ellipse">
            <a:avLst/>
          </a:prstGeom>
          <a:solidFill>
            <a:srgbClr val="C89A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p_B2"/>
          <p:cNvSpPr>
            <a:spLocks noGrp="1"/>
          </p:cNvSpPr>
          <p:nvPr/>
        </p:nvSpPr>
        <p:spPr>
          <a:xfrm>
            <a:off x="8382000" y="3962400"/>
            <a:ext cx="3263900" cy="660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</a:rPr>
              <a:t>Young, mobile workforce — high cross-border pension complexity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60" name="Sp_Dot3"/>
          <p:cNvSpPr>
            <a:spLocks noGrp="1"/>
          </p:cNvSpPr>
          <p:nvPr/>
        </p:nvSpPr>
        <p:spPr>
          <a:xfrm>
            <a:off x="8229600" y="4775200"/>
            <a:ext cx="88900" cy="88900"/>
          </a:xfrm>
          <a:prstGeom prst="ellipse">
            <a:avLst/>
          </a:prstGeom>
          <a:solidFill>
            <a:srgbClr val="C89A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p_B3"/>
          <p:cNvSpPr>
            <a:spLocks noGrp="1"/>
          </p:cNvSpPr>
          <p:nvPr/>
        </p:nvSpPr>
        <p:spPr>
          <a:xfrm>
            <a:off x="8382000" y="4699000"/>
            <a:ext cx="3263900" cy="660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</a:rPr>
              <a:t>Spanish content immediately reusable from Portuguese product track</a:t>
            </a:r>
            <a:endParaRPr lang="en-US" sz="1150" dirty="0">
              <a:solidFill>
                <a:srgbClr val="1F2937"/>
              </a:solidFill>
            </a:endParaRPr>
          </a:p>
        </p:txBody>
      </p:sp>
      <p:sp>
        <p:nvSpPr>
          <p:cNvPr id="62" name="Sp_Dot4"/>
          <p:cNvSpPr>
            <a:spLocks noGrp="1"/>
          </p:cNvSpPr>
          <p:nvPr/>
        </p:nvSpPr>
        <p:spPr>
          <a:xfrm>
            <a:off x="8229600" y="5511800"/>
            <a:ext cx="88900" cy="88900"/>
          </a:xfrm>
          <a:prstGeom prst="ellipse">
            <a:avLst/>
          </a:prstGeom>
          <a:solidFill>
            <a:srgbClr val="C89A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p_B4"/>
          <p:cNvSpPr>
            <a:spLocks noGrp="1"/>
          </p:cNvSpPr>
          <p:nvPr/>
        </p:nvSpPr>
        <p:spPr>
          <a:xfrm>
            <a:off x="8382000" y="5435600"/>
            <a:ext cx="3263900" cy="660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</a:rPr>
              <a:t>Becomes the bridge to Year 3 Spain expansion</a:t>
            </a:r>
            <a:endParaRPr lang="en-US" sz="115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42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A900F76-B019-4A39-9021-8B2D98821E39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0F27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2B90F-654C-4A7B-80D1-2D435404A854}"/>
              </a:ext>
            </a:extLst>
          </p:cNvPr>
          <p:cNvSpPr txBox="1"/>
          <p:nvPr/>
        </p:nvSpPr>
        <p:spPr>
          <a:xfrm>
            <a:off x="406400" y="101600"/>
            <a:ext cx="11061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we acquire the first users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370CD-52A7-44AD-A943-FAB841B8EDEA}"/>
              </a:ext>
            </a:extLst>
          </p:cNvPr>
          <p:cNvSpPr txBox="1"/>
          <p:nvPr/>
        </p:nvSpPr>
        <p:spPr>
          <a:xfrm>
            <a:off x="406400" y="622300"/>
            <a:ext cx="110617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050" i="0" dirty="0">
                <a:solidFill>
                  <a:srgbClr val="6B7280"/>
                </a:solidFill>
              </a:rPr>
              <a:t>Two focused channels — both grounded in trust and the Ring 1 + Ring 2 network already mapped.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0DC88-3F56-47CC-BF63-5D42B4517C1F}"/>
              </a:ext>
            </a:extLst>
          </p:cNvPr>
          <p:cNvSpPr txBox="1"/>
          <p:nvPr/>
        </p:nvSpPr>
        <p:spPr>
          <a:xfrm>
            <a:off x="406400" y="6451600"/>
            <a:ext cx="731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50" i="1">
                <a:solidFill>
                  <a:srgbClr val="7A7A7A"/>
                </a:solidFill>
                <a:latin typeface="Calibri"/>
                <a:ea typeface="Calibri"/>
                <a:cs typeface="Calibri"/>
              </a:rPr>
              <a:t>3. Go-to-market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B7AE7-FAA8-45BB-83A2-3041A5EA51D4}"/>
              </a:ext>
            </a:extLst>
          </p:cNvPr>
          <p:cNvSpPr txBox="1"/>
          <p:nvPr/>
        </p:nvSpPr>
        <p:spPr>
          <a:xfrm>
            <a:off x="10972800" y="64516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9B9B96"/>
                </a:solidFill>
                <a:latin typeface="Calibri"/>
                <a:ea typeface="Calibri"/>
                <a:cs typeface="Calibri"/>
              </a:rPr>
              <a:t>3 / 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C5311-7026-41F7-8821-94E2DFBDED90}"/>
              </a:ext>
            </a:extLst>
          </p:cNvPr>
          <p:cNvSpPr/>
          <p:nvPr/>
        </p:nvSpPr>
        <p:spPr>
          <a:xfrm>
            <a:off x="355600" y="914400"/>
            <a:ext cx="5676900" cy="47752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 cap="flat" cmpd="sng" algn="ctr">
            <a:solidFill>
              <a:scrgbClr r="0" g="0" b="0"/>
            </a:solidFill>
            <a:prstDash val="solid"/>
            <a:miter lim="800000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C15E1-ED3D-4690-B6A5-1DB3A066468E}"/>
              </a:ext>
            </a:extLst>
          </p:cNvPr>
          <p:cNvSpPr txBox="1"/>
          <p:nvPr/>
        </p:nvSpPr>
        <p:spPr>
          <a:xfrm>
            <a:off x="355600" y="914400"/>
            <a:ext cx="56769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CHANNEL 1 — INSTITUTIONAL &amp; COMMUNITY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CAC20A-C2D6-49F9-BCB9-68E26FB5F316}"/>
              </a:ext>
            </a:extLst>
          </p:cNvPr>
          <p:cNvSpPr/>
          <p:nvPr/>
        </p:nvSpPr>
        <p:spPr>
          <a:xfrm>
            <a:off x="533400" y="1485900"/>
            <a:ext cx="127000" cy="127000"/>
          </a:xfrm>
          <a:prstGeom prst="ellipse">
            <a:avLst/>
          </a:prstGeom>
          <a:solidFill>
            <a:srgbClr val="C89A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BBCCE-3C8A-4E31-829D-1F31CA193134}"/>
              </a:ext>
            </a:extLst>
          </p:cNvPr>
          <p:cNvSpPr txBox="1"/>
          <p:nvPr/>
        </p:nvSpPr>
        <p:spPr>
          <a:xfrm>
            <a:off x="736600" y="1435100"/>
            <a:ext cx="51181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Ring 1 — LU institutions as the door-opener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A04BB-5E9D-45D7-8302-D43488D0260B}"/>
              </a:ext>
            </a:extLst>
          </p:cNvPr>
          <p:cNvSpPr txBox="1"/>
          <p:nvPr/>
        </p:nvSpPr>
        <p:spPr>
          <a:xfrm>
            <a:off x="736600" y="1727200"/>
            <a:ext cx="51181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Chambers, federations and HR departments introduce the app to members and new international hires at the moment of highest need.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0E09E2-0F9A-457A-893B-37E823603FE8}"/>
              </a:ext>
            </a:extLst>
          </p:cNvPr>
          <p:cNvSpPr/>
          <p:nvPr/>
        </p:nvSpPr>
        <p:spPr>
          <a:xfrm>
            <a:off x="533400" y="2527300"/>
            <a:ext cx="127000" cy="127000"/>
          </a:xfrm>
          <a:prstGeom prst="ellipse">
            <a:avLst/>
          </a:prstGeom>
          <a:solidFill>
            <a:srgbClr val="C89A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44EF58-570A-42F2-BD61-3DE46E023E96}"/>
              </a:ext>
            </a:extLst>
          </p:cNvPr>
          <p:cNvSpPr txBox="1"/>
          <p:nvPr/>
        </p:nvSpPr>
        <p:spPr>
          <a:xfrm>
            <a:off x="736600" y="2476500"/>
            <a:ext cx="51181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Ring 2 — Communities validate and refer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7E0DC0-5AAB-41E6-B2F3-BFD95C33057C}"/>
              </a:ext>
            </a:extLst>
          </p:cNvPr>
          <p:cNvSpPr txBox="1"/>
          <p:nvPr/>
        </p:nvSpPr>
        <p:spPr>
          <a:xfrm>
            <a:off x="736600" y="2768600"/>
            <a:ext cx="51181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Trusted community messengers (example: PT, FR, IT, BE, DE, ES) pre-validate the product to their members.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968BAB-8903-492B-9DCD-35BCF10A0B91}"/>
              </a:ext>
            </a:extLst>
          </p:cNvPr>
          <p:cNvSpPr/>
          <p:nvPr/>
        </p:nvSpPr>
        <p:spPr>
          <a:xfrm>
            <a:off x="533400" y="3568700"/>
            <a:ext cx="127000" cy="127000"/>
          </a:xfrm>
          <a:prstGeom prst="ellipse">
            <a:avLst/>
          </a:prstGeom>
          <a:solidFill>
            <a:srgbClr val="C89A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9550DB-44C8-4517-B20C-2A2DA16C8330}"/>
              </a:ext>
            </a:extLst>
          </p:cNvPr>
          <p:cNvSpPr txBox="1"/>
          <p:nvPr/>
        </p:nvSpPr>
        <p:spPr>
          <a:xfrm>
            <a:off x="736600" y="3517900"/>
            <a:ext cx="51181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Expat media &amp; community hubs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841305-A415-4C55-BCB3-2DB77586DC40}"/>
              </a:ext>
            </a:extLst>
          </p:cNvPr>
          <p:cNvSpPr txBox="1"/>
          <p:nvPr/>
        </p:nvSpPr>
        <p:spPr>
          <a:xfrm>
            <a:off x="736600" y="3810000"/>
            <a:ext cx="51181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PaperJam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5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L'Essentiel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5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LuxTimes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features + newsletters drive inbound brand awareness at no cost.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806C73-8E9A-4ED9-9C57-FA1D8323A677}"/>
              </a:ext>
            </a:extLst>
          </p:cNvPr>
          <p:cNvSpPr/>
          <p:nvPr/>
        </p:nvSpPr>
        <p:spPr>
          <a:xfrm>
            <a:off x="6261100" y="914400"/>
            <a:ext cx="5676900" cy="4775200"/>
          </a:xfrm>
          <a:prstGeom prst="roundRect">
            <a:avLst>
              <a:gd name="adj" fmla="val 4000"/>
            </a:avLst>
          </a:prstGeom>
          <a:solidFill>
            <a:srgbClr val="EDF7F0"/>
          </a:solidFill>
          <a:ln w="12700" cap="flat" cmpd="sng" algn="ctr">
            <a:solidFill>
              <a:scrgbClr r="0" g="0" b="0"/>
            </a:solidFill>
            <a:prstDash val="solid"/>
            <a:miter lim="800000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AAAE5-EF4C-4945-BAB9-8AE524A7B9C0}"/>
              </a:ext>
            </a:extLst>
          </p:cNvPr>
          <p:cNvSpPr txBox="1"/>
          <p:nvPr/>
        </p:nvSpPr>
        <p:spPr>
          <a:xfrm>
            <a:off x="6261100" y="914400"/>
            <a:ext cx="56769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CHANNEL 2 — ONLINE PRESENCE &amp; DISCOVERY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70EE4D-068F-400B-A514-43366D49B918}"/>
              </a:ext>
            </a:extLst>
          </p:cNvPr>
          <p:cNvSpPr/>
          <p:nvPr/>
        </p:nvSpPr>
        <p:spPr>
          <a:xfrm>
            <a:off x="6438900" y="1485900"/>
            <a:ext cx="127000" cy="127000"/>
          </a:xfrm>
          <a:prstGeom prst="ellipse">
            <a:avLst/>
          </a:prstGeom>
          <a:solidFill>
            <a:srgbClr val="C89A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8D943-90E8-4CDA-A082-C2C94B303DBC}"/>
              </a:ext>
            </a:extLst>
          </p:cNvPr>
          <p:cNvSpPr txBox="1"/>
          <p:nvPr/>
        </p:nvSpPr>
        <p:spPr>
          <a:xfrm>
            <a:off x="6642100" y="1435100"/>
            <a:ext cx="51181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LinkedIn — thought leadership &amp; expat groups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4A2EDF-E1FF-4C14-8176-5494891C6EE7}"/>
              </a:ext>
            </a:extLst>
          </p:cNvPr>
          <p:cNvSpPr txBox="1"/>
          <p:nvPr/>
        </p:nvSpPr>
        <p:spPr>
          <a:xfrm>
            <a:off x="6642100" y="1727200"/>
            <a:ext cx="51181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Regular posts on cross-border pension rights, social security portability and expat admin. Target LU expat professional groups (28–45). Build credibility before asking for anything.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99B562-74B5-4074-8140-AD3C08D07CBD}"/>
              </a:ext>
            </a:extLst>
          </p:cNvPr>
          <p:cNvSpPr/>
          <p:nvPr/>
        </p:nvSpPr>
        <p:spPr>
          <a:xfrm>
            <a:off x="6438900" y="2527300"/>
            <a:ext cx="127000" cy="127000"/>
          </a:xfrm>
          <a:prstGeom prst="ellipse">
            <a:avLst/>
          </a:prstGeom>
          <a:solidFill>
            <a:srgbClr val="C89A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9E860F-3C70-4E40-B05C-13B78AC813F2}"/>
              </a:ext>
            </a:extLst>
          </p:cNvPr>
          <p:cNvSpPr txBox="1"/>
          <p:nvPr/>
        </p:nvSpPr>
        <p:spPr>
          <a:xfrm>
            <a:off x="6642100" y="2476500"/>
            <a:ext cx="51181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Forums &amp; community spaces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8DB79D-FF71-4BE8-811D-1A50CEEA995C}"/>
              </a:ext>
            </a:extLst>
          </p:cNvPr>
          <p:cNvSpPr txBox="1"/>
          <p:nvPr/>
        </p:nvSpPr>
        <p:spPr>
          <a:xfrm>
            <a:off x="6642100" y="2768600"/>
            <a:ext cx="51181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Active presence in LU expat Facebook groups, Reddit r/Luxembourg, </a:t>
            </a:r>
            <a:r>
              <a:rPr lang="en-US" sz="115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Internations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. Answer real questions — no hard sell. Link to app only when genuinely relevant.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822B977-E4AE-4E2E-ACDF-E545D6AB6F0F}"/>
              </a:ext>
            </a:extLst>
          </p:cNvPr>
          <p:cNvSpPr/>
          <p:nvPr/>
        </p:nvSpPr>
        <p:spPr>
          <a:xfrm>
            <a:off x="6438900" y="3568700"/>
            <a:ext cx="127000" cy="127000"/>
          </a:xfrm>
          <a:prstGeom prst="ellipse">
            <a:avLst/>
          </a:prstGeom>
          <a:solidFill>
            <a:srgbClr val="C89A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5B085C-D1C1-4042-8159-5C51EE36580F}"/>
              </a:ext>
            </a:extLst>
          </p:cNvPr>
          <p:cNvSpPr txBox="1"/>
          <p:nvPr/>
        </p:nvSpPr>
        <p:spPr>
          <a:xfrm>
            <a:off x="6642100" y="3517900"/>
            <a:ext cx="51181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Multilingual SEO — long-tail, low competition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1E1D69-4861-406C-B636-BB14B7ADE34A}"/>
              </a:ext>
            </a:extLst>
          </p:cNvPr>
          <p:cNvSpPr txBox="1"/>
          <p:nvPr/>
        </p:nvSpPr>
        <p:spPr>
          <a:xfrm>
            <a:off x="6642100" y="3810000"/>
            <a:ext cx="51181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Targets high-intent queries: 'pension rights Luxembourg Portugal', 'rente expat France', 'seguridad social Luxembourg'. Content in PT, FR, ES, DE.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B1E2DD6-51C5-45F4-A181-A380F01BA9E5}"/>
              </a:ext>
            </a:extLst>
          </p:cNvPr>
          <p:cNvSpPr/>
          <p:nvPr/>
        </p:nvSpPr>
        <p:spPr>
          <a:xfrm>
            <a:off x="6438900" y="4610100"/>
            <a:ext cx="127000" cy="127000"/>
          </a:xfrm>
          <a:prstGeom prst="ellipse">
            <a:avLst/>
          </a:prstGeom>
          <a:solidFill>
            <a:srgbClr val="C89A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0C9C12-449D-4198-9F4D-A5828B03F368}"/>
              </a:ext>
            </a:extLst>
          </p:cNvPr>
          <p:cNvSpPr txBox="1"/>
          <p:nvPr/>
        </p:nvSpPr>
        <p:spPr>
          <a:xfrm>
            <a:off x="6642100" y="4559300"/>
            <a:ext cx="51181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App store listings (Apple &amp; Google Play)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4C541E-A9CF-42CC-A8F6-A216F8188C34}"/>
              </a:ext>
            </a:extLst>
          </p:cNvPr>
          <p:cNvSpPr txBox="1"/>
          <p:nvPr/>
        </p:nvSpPr>
        <p:spPr>
          <a:xfrm>
            <a:off x="6642100" y="4851400"/>
            <a:ext cx="51181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5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Localised</a:t>
            </a:r>
            <a:r>
              <a:rPr lang="en-US" sz="11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listings in PT, FR and ES with community-specific screenshots. Captures passive discovery from users already searching for solutions.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57ABC6-92E5-45C3-B13C-D16DE104AA4B}"/>
              </a:ext>
            </a:extLst>
          </p:cNvPr>
          <p:cNvSpPr/>
          <p:nvPr/>
        </p:nvSpPr>
        <p:spPr>
          <a:xfrm>
            <a:off x="355600" y="5765800"/>
            <a:ext cx="11480800" cy="12700"/>
          </a:xfrm>
          <a:prstGeom prst="rect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44849A-05BA-416D-91AC-D0A3B01B983E}"/>
              </a:ext>
            </a:extLst>
          </p:cNvPr>
          <p:cNvSpPr txBox="1"/>
          <p:nvPr/>
        </p:nvSpPr>
        <p:spPr>
          <a:xfrm>
            <a:off x="355600" y="5829300"/>
            <a:ext cx="11480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1F2937"/>
                </a:solidFill>
              </a:rPr>
              <a:t>Organic-first: we grow by earning trust before spending on acquisition — paid channels only once organic traction is proven.</a:t>
            </a:r>
          </a:p>
        </p:txBody>
      </p:sp>
      <p:sp>
        <p:nvSpPr>
          <p:cNvPr id="940" name="Dot4_CH1"/>
          <p:cNvSpPr>
            <a:spLocks noGrp="1"/>
          </p:cNvSpPr>
          <p:nvPr/>
        </p:nvSpPr>
        <p:spPr>
          <a:xfrm>
            <a:off x="533400" y="4610100"/>
            <a:ext cx="127000" cy="127000"/>
          </a:xfrm>
          <a:prstGeom prst="rect">
            <a:avLst/>
          </a:prstGeom>
          <a:solidFill>
            <a:srgbClr val="C89A2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41" name="Label4_CH1"/>
          <p:cNvSpPr/>
          <p:nvPr/>
        </p:nvSpPr>
        <p:spPr>
          <a:xfrm>
            <a:off x="736600" y="4559300"/>
            <a:ext cx="51181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100" b="1" dirty="0">
                <a:solidFill>
                  <a:srgbClr val="0F2747"/>
                </a:solidFill>
              </a:rPr>
              <a:t>HR &amp; partner referrals</a:t>
            </a:r>
          </a:p>
        </p:txBody>
      </p:sp>
      <p:sp>
        <p:nvSpPr>
          <p:cNvPr id="942" name="Body4_CH1"/>
          <p:cNvSpPr/>
          <p:nvPr/>
        </p:nvSpPr>
        <p:spPr>
          <a:xfrm>
            <a:off x="736600" y="4851400"/>
            <a:ext cx="5118100" cy="60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50" dirty="0">
                <a:solidFill>
                  <a:srgbClr val="1F2937"/>
                </a:solidFill>
              </a:rPr>
              <a:t>FEDIL HR, ArcelorMittal, BNP, EU Institutions refer app directly to new international hires during onboarding.</a:t>
            </a:r>
          </a:p>
        </p:txBody>
      </p:sp>
    </p:spTree>
    <p:extLst>
      <p:ext uri="{BB962C8B-B14F-4D97-AF65-F5344CB8AC3E}">
        <p14:creationId xmlns:p14="http://schemas.microsoft.com/office/powerpoint/2010/main" val="417445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 Action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Luxembourg-first sequencing: credibility anchors, community reach, and country expansion bridges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09470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7"/>
                </a:solidFill>
              </a:rPr>
              <a:t>How we sequence partnership outreach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64334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A2B"/>
                </a:solidFill>
              </a:rPr>
              <a:t>1. </a:t>
            </a:r>
            <a:r>
              <a:rPr lang="en-US" sz="1250" dirty="0">
                <a:solidFill>
                  <a:srgbClr val="1F2937"/>
                </a:solidFill>
              </a:rPr>
              <a:t>Launch support first — Luxembourg institutions + France/Switzerland-linked partners for trust, visibility, and warm intros.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42058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A2B"/>
                </a:solidFill>
              </a:rPr>
              <a:t>2. </a:t>
            </a:r>
            <a:r>
              <a:rPr lang="en-US" sz="1250" dirty="0">
                <a:solidFill>
                  <a:srgbClr val="1F2937"/>
                </a:solidFill>
              </a:rPr>
              <a:t>Customer reach second — use bilateral chambers, communities, and HR/startup channels to access target users in Luxembourg.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4354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A2B"/>
                </a:solidFill>
              </a:rPr>
              <a:t>3. </a:t>
            </a:r>
            <a:r>
              <a:rPr lang="en-US" sz="1250" dirty="0">
                <a:solidFill>
                  <a:srgbClr val="1F2937"/>
                </a:solidFill>
              </a:rPr>
              <a:t>Expansion bridges last — country associations are activated only when aligned with the product rollout timeline.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051560"/>
            <a:ext cx="2331720" cy="4480560"/>
          </a:xfrm>
          <a:prstGeom prst="roundRect">
            <a:avLst>
              <a:gd name="adj" fmla="val 3922"/>
            </a:avLst>
          </a:prstGeom>
          <a:solidFill>
            <a:srgbClr val="EAF1FB"/>
          </a:solidFill>
          <a:ln w="12700">
            <a:solidFill>
              <a:srgbClr val="D9DE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3440" y="1216152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271016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Logo power / trust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0872" y="160020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7"/>
                </a:solidFill>
              </a:rPr>
              <a:t>Credibility first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90872" y="216712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21031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Luxembourg institutions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90872" y="257860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2514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Major chambers &amp; hubs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90872" y="299008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926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Media and ecosystem anchors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90872" y="3794760"/>
            <a:ext cx="2002536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90872" y="390448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Examples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411480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Chambers, </a:t>
            </a:r>
            <a:r>
              <a:rPr lang="en-US" sz="1080" dirty="0" err="1">
                <a:solidFill>
                  <a:srgbClr val="1F2937"/>
                </a:solidFill>
              </a:rPr>
              <a:t>HoE</a:t>
            </a:r>
            <a:r>
              <a:rPr lang="en-US" sz="1080" dirty="0">
                <a:solidFill>
                  <a:srgbClr val="1F2937"/>
                </a:solidFill>
              </a:rPr>
              <a:t>, UEL, </a:t>
            </a:r>
            <a:r>
              <a:rPr lang="en-US" sz="1080" dirty="0" err="1">
                <a:solidFill>
                  <a:srgbClr val="1F2937"/>
                </a:solidFill>
              </a:rPr>
              <a:t>LHoFT</a:t>
            </a:r>
            <a:r>
              <a:rPr lang="en-US" sz="1080" dirty="0">
                <a:solidFill>
                  <a:srgbClr val="1F2937"/>
                </a:solidFill>
              </a:rPr>
              <a:t>, ABBL etc. 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040880" y="1051560"/>
            <a:ext cx="2331720" cy="4480560"/>
          </a:xfrm>
          <a:prstGeom prst="roundRect">
            <a:avLst>
              <a:gd name="adj" fmla="val 3922"/>
            </a:avLst>
          </a:prstGeom>
          <a:solidFill>
            <a:srgbClr val="FBF6EA"/>
          </a:solidFill>
          <a:ln w="12700">
            <a:solidFill>
              <a:srgbClr val="D9DE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78040" y="1216152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F5E7BF"/>
          </a:solidFill>
          <a:ln w="12700">
            <a:solidFill>
              <a:srgbClr val="F5E7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51192" y="1271016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Audience 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05472" y="160020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7"/>
                </a:solidFill>
              </a:rPr>
              <a:t>Customer reach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05472" y="216712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33488" y="21031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Country communities in LU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05472" y="257860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33488" y="2514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Bilateral chambers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205472" y="299008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33488" y="2926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HR / startup / expat networks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05472" y="3794760"/>
            <a:ext cx="2002536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05472" y="390448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Examples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05472" y="411480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FR, CH Chamber, </a:t>
            </a:r>
            <a:r>
              <a:rPr lang="en-US" sz="1080" dirty="0" err="1">
                <a:solidFill>
                  <a:srgbClr val="1F2937"/>
                </a:solidFill>
              </a:rPr>
              <a:t>HRCommunity</a:t>
            </a:r>
            <a:r>
              <a:rPr lang="en-US" sz="1080" dirty="0">
                <a:solidFill>
                  <a:srgbClr val="1F2937"/>
                </a:solidFill>
              </a:rPr>
              <a:t>, FEDIL, </a:t>
            </a:r>
            <a:r>
              <a:rPr lang="en-US" sz="1080" dirty="0" err="1">
                <a:solidFill>
                  <a:srgbClr val="1F2937"/>
                </a:solidFill>
              </a:rPr>
              <a:t>HoST</a:t>
            </a:r>
            <a:r>
              <a:rPr lang="en-US" sz="1080" dirty="0">
                <a:solidFill>
                  <a:srgbClr val="1F2937"/>
                </a:solidFill>
              </a:rPr>
              <a:t>, ACA, CFA etc.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555480" y="105156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EDF7F0"/>
          </a:solidFill>
          <a:ln w="12700">
            <a:solidFill>
              <a:srgbClr val="D9DE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692640" y="1216152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D9F0DE"/>
          </a:solidFill>
          <a:ln w="12700">
            <a:solidFill>
              <a:srgbClr val="D9F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765792" y="1271016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Country timing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20072" y="160020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7"/>
                </a:solidFill>
              </a:rPr>
              <a:t>Expansion bridges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20072" y="216712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848088" y="2103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Only when corridor is live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720072" y="257860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48088" y="2514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Priority countries before backlog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720072" y="299008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848088" y="2926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Defer lower-value logos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720072" y="3794760"/>
            <a:ext cx="1819656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20072" y="39044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Examples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20072" y="411480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PT,ES, UK, IT chambers of commerce </a:t>
            </a:r>
          </a:p>
        </p:txBody>
      </p:sp>
      <p:sp>
        <p:nvSpPr>
          <p:cNvPr id="48" name="Text 4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7"/>
                </a:solidFill>
              </a:rPr>
              <a:t>Decision rule: we contact partners in the order that maximizes launch credibility first, customer acquisition second, and corridor expansion only when timed to the roadmap.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11480" y="644652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A7A"/>
                </a:solidFill>
              </a:rPr>
              <a:t>RetirAI · Partnership action plan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 Rollout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Use the tracker as the working database; this slide shows only the execution sequence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3474720"/>
            <a:ext cx="1046988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554480"/>
            <a:ext cx="1664208" cy="256032"/>
          </a:xfrm>
          <a:prstGeom prst="roundRect">
            <a:avLst>
              <a:gd name="adj" fmla="val 28571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5568" y="16093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Weeks 1–4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7"/>
                </a:solidFill>
              </a:rPr>
              <a:t>Launch support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157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A2B"/>
                </a:solidFill>
              </a:rPr>
              <a:t>LU + FR + 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60704" y="240487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Luxembourg institutions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France &amp; Switzerland-linked partners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Goal: trust, visibility, warm intros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52044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6324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BF6EA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91256" y="1554480"/>
            <a:ext cx="1664208" cy="256032"/>
          </a:xfrm>
          <a:prstGeom prst="roundRect">
            <a:avLst>
              <a:gd name="adj" fmla="val 28571"/>
            </a:avLst>
          </a:prstGeom>
          <a:solidFill>
            <a:srgbClr val="FBF6EA"/>
          </a:solidFill>
          <a:ln w="12700">
            <a:solidFill>
              <a:srgbClr val="FB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64408" y="16093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F2747"/>
                </a:solidFill>
              </a:rPr>
              <a:t>Months 11–12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</a:rPr>
              <a:t>Portugal wave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2157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C89A2B"/>
                </a:solidFill>
              </a:rPr>
              <a:t>PT · Y1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9544" y="240487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60" dirty="0">
                <a:solidFill>
                  <a:srgbClr val="1F2937"/>
                </a:solidFill>
              </a:rPr>
              <a:t>Portugal-linked partners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Prepare first external corridor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Goal: PT community activation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66928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141732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CE8E6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40096" y="1554480"/>
            <a:ext cx="1755648" cy="256032"/>
          </a:xfrm>
          <a:prstGeom prst="roundRect">
            <a:avLst>
              <a:gd name="adj" fmla="val 28571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13248" y="160934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Months 19–20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</a:rPr>
              <a:t>Spain wave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157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C89A2B"/>
                </a:solidFill>
              </a:rPr>
              <a:t> ES  · Y1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58384" y="24048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Spain-linked partners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Prepare next corridor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Goal: ES community activation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86384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7240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0664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FE8FB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34656" y="1554480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EFE8FB"/>
          </a:solidFill>
          <a:ln w="12700">
            <a:solidFill>
              <a:srgbClr val="EFE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07808" y="160934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Weeks 27–28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4380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7"/>
                </a:solidFill>
              </a:rPr>
              <a:t>UK wave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43800" y="2157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A2B"/>
                </a:solidFill>
              </a:rPr>
              <a:t>UK · Y1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52944" y="24048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British Chamber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Prepare next corridor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Goal: market-entry bridge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987552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41832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DF7F0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46336" y="1554480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EDF7F0"/>
          </a:solidFill>
          <a:ln w="12700">
            <a:solidFill>
              <a:srgbClr val="EDF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19488" y="160934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Weeks 35–36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5548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7"/>
                </a:solidFill>
              </a:rPr>
              <a:t>Italy wave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555480" y="2157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A2B"/>
                </a:solidFill>
              </a:rPr>
              <a:t>IT · Y1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64624" y="24048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Italy-linked partners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Prepare next corridor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Goal: market-entry bridge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868680" y="457200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5156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</a:rPr>
              <a:t>Key sequencing rule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5156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We do not activate all country associations at once. Outreach is aligned to product readiness and the corridor roadmap, so effort stays concentrated and credible.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63640" y="4572000"/>
            <a:ext cx="49834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4652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</a:rPr>
              <a:t>Deferred / backlog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4652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Lower-priority country associations stay warm in the tracker, but they move only after launch-country and Y1 expansion priorities are covered.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11480" y="644652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A7A"/>
                </a:solidFill>
              </a:rPr>
              <a:t>RetirAI · Partnership rollout aligned to launch and expansion timing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923259612]">
  <a:themeElements>
    <a:clrScheme name="Office">
      <a:dk1>
        <a:srgbClr val="0F2747"/>
      </a:dk1>
      <a:lt1>
        <a:srgbClr val="FFFFFF"/>
      </a:lt1>
      <a:dk2>
        <a:srgbClr val="1F2937"/>
      </a:dk2>
      <a:lt2>
        <a:srgbClr val="F8FAFC"/>
      </a:lt2>
      <a:accent1>
        <a:srgbClr val="C89A2B"/>
      </a:accent1>
      <a:accent2>
        <a:srgbClr val="EAF1FB"/>
      </a:accent2>
      <a:accent3>
        <a:srgbClr val="FBF6EA"/>
      </a:accent3>
      <a:accent4>
        <a:srgbClr val="EDF7F0"/>
      </a:accent4>
      <a:accent5>
        <a:srgbClr val="6B7280"/>
      </a:accent5>
      <a:accent6>
        <a:srgbClr val="D9DEE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D7BFEE0-AE84-4D76-B342-E3C66666B24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59c282-fe81-41c4-a079-c2dd96ee262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189FFD4-CD29-4C2B-AF48-F00F1F18290B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1061</Words>
  <Application>Microsoft Office PowerPoint</Application>
  <PresentationFormat>Widescreen</PresentationFormat>
  <Paragraphs>171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Calibri</vt:lpstr>
      <vt:lpstr>Office Theme [1775923259612]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SteerCo — GTM 3-year plan</dc:title>
  <dc:subject>PptxGenJS Presentation</dc:subject>
  <dc:creator>GTM team</dc:creator>
  <cp:lastModifiedBy>Ricardo Dias</cp:lastModifiedBy>
  <cp:revision>7</cp:revision>
  <dcterms:created xsi:type="dcterms:W3CDTF">2026-04-10T16:40:45Z</dcterms:created>
  <dcterms:modified xsi:type="dcterms:W3CDTF">2026-04-11T16:55:31Z</dcterms:modified>
</cp:coreProperties>
</file>